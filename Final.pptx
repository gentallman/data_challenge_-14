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tags/tag5.xml" ContentType="application/vnd.openxmlformats-officedocument.presentationml.tags+xml"/>
  <Override PartName="/ppt/notesSlides/notesSlide6.xml" ContentType="application/vnd.openxmlformats-officedocument.presentationml.notesSlide+xml"/>
  <Override PartName="/ppt/tags/tag6.xml" ContentType="application/vnd.openxmlformats-officedocument.presentationml.tags+xml"/>
  <Override PartName="/ppt/notesSlides/notesSlide7.xml" ContentType="application/vnd.openxmlformats-officedocument.presentationml.notesSlide+xml"/>
  <Override PartName="/ppt/tags/tag7.xml" ContentType="application/vnd.openxmlformats-officedocument.presentationml.tags+xml"/>
  <Override PartName="/ppt/notesSlides/notesSlide8.xml" ContentType="application/vnd.openxmlformats-officedocument.presentationml.notesSlide+xml"/>
  <Override PartName="/ppt/tags/tag8.xml" ContentType="application/vnd.openxmlformats-officedocument.presentationml.tags+xml"/>
  <Override PartName="/ppt/notesSlides/notesSlide9.xml" ContentType="application/vnd.openxmlformats-officedocument.presentationml.notesSlide+xml"/>
  <Override PartName="/ppt/tags/tag9.xml" ContentType="application/vnd.openxmlformats-officedocument.presentationml.tags+xml"/>
  <Override PartName="/ppt/notesSlides/notesSlide10.xml" ContentType="application/vnd.openxmlformats-officedocument.presentationml.notesSlide+xml"/>
  <Override PartName="/ppt/tags/tag10.xml" ContentType="application/vnd.openxmlformats-officedocument.presentationml.tags+xml"/>
  <Override PartName="/ppt/notesSlides/notesSlide11.xml" ContentType="application/vnd.openxmlformats-officedocument.presentationml.notesSlide+xml"/>
  <Override PartName="/ppt/tags/tag11.xml" ContentType="application/vnd.openxmlformats-officedocument.presentationml.tags+xml"/>
  <Override PartName="/ppt/notesSlides/notesSlide12.xml" ContentType="application/vnd.openxmlformats-officedocument.presentationml.notesSlide+xml"/>
  <Override PartName="/ppt/tags/tag12.xml" ContentType="application/vnd.openxmlformats-officedocument.presentationml.tags+xml"/>
  <Override PartName="/ppt/notesSlides/notesSlide13.xml" ContentType="application/vnd.openxmlformats-officedocument.presentationml.notesSlide+xml"/>
  <Override PartName="/ppt/tags/tag13.xml" ContentType="application/vnd.openxmlformats-officedocument.presentationml.tags+xml"/>
  <Override PartName="/ppt/notesSlides/notesSlide14.xml" ContentType="application/vnd.openxmlformats-officedocument.presentationml.notesSlide+xml"/>
  <Override PartName="/ppt/tags/tag14.xml" ContentType="application/vnd.openxmlformats-officedocument.presentationml.tags+xml"/>
  <Override PartName="/ppt/notesSlides/notesSlide15.xml" ContentType="application/vnd.openxmlformats-officedocument.presentationml.notesSlide+xml"/>
  <Override PartName="/ppt/tags/tag15.xml" ContentType="application/vnd.openxmlformats-officedocument.presentationml.tags+xml"/>
  <Override PartName="/ppt/notesSlides/notesSlide16.xml" ContentType="application/vnd.openxmlformats-officedocument.presentationml.notesSlide+xml"/>
  <Override PartName="/ppt/tags/tag16.xml" ContentType="application/vnd.openxmlformats-officedocument.presentationml.tags+xml"/>
  <Override PartName="/ppt/notesSlides/notesSlide17.xml" ContentType="application/vnd.openxmlformats-officedocument.presentationml.notesSlide+xml"/>
  <Override PartName="/ppt/tags/tag17.xml" ContentType="application/vnd.openxmlformats-officedocument.presentationml.tags+xml"/>
  <Override PartName="/ppt/notesSlides/notesSlide18.xml" ContentType="application/vnd.openxmlformats-officedocument.presentationml.notesSlide+xml"/>
  <Override PartName="/ppt/tags/tag18.xml" ContentType="application/vnd.openxmlformats-officedocument.presentationml.tags+xml"/>
  <Override PartName="/ppt/notesSlides/notesSlide19.xml" ContentType="application/vnd.openxmlformats-officedocument.presentationml.notesSlide+xml"/>
  <Override PartName="/ppt/tags/tag19.xml" ContentType="application/vnd.openxmlformats-officedocument.presentationml.tags+xml"/>
  <Override PartName="/ppt/notesSlides/notesSlide20.xml" ContentType="application/vnd.openxmlformats-officedocument.presentationml.notesSlide+xml"/>
  <Override PartName="/ppt/tags/tag20.xml" ContentType="application/vnd.openxmlformats-officedocument.presentationml.tags+xml"/>
  <Override PartName="/ppt/notesSlides/notesSlide21.xml" ContentType="application/vnd.openxmlformats-officedocument.presentationml.notesSlide+xml"/>
  <Override PartName="/ppt/tags/tag21.xml" ContentType="application/vnd.openxmlformats-officedocument.presentationml.tags+xml"/>
  <Override PartName="/ppt/notesSlides/notesSlide22.xml" ContentType="application/vnd.openxmlformats-officedocument.presentationml.notesSlide+xml"/>
  <Override PartName="/ppt/tags/tag22.xml" ContentType="application/vnd.openxmlformats-officedocument.presentationml.tags+xml"/>
  <Override PartName="/ppt/notesSlides/notesSlide23.xml" ContentType="application/vnd.openxmlformats-officedocument.presentationml.notesSlide+xml"/>
  <Override PartName="/ppt/tags/tag23.xml" ContentType="application/vnd.openxmlformats-officedocument.presentationml.tags+xml"/>
  <Override PartName="/ppt/notesSlides/notesSlide24.xml" ContentType="application/vnd.openxmlformats-officedocument.presentationml.notesSlide+xml"/>
  <Override PartName="/ppt/tags/tag24.xml" ContentType="application/vnd.openxmlformats-officedocument.presentationml.tags+xml"/>
  <Override PartName="/ppt/notesSlides/notesSlide25.xml" ContentType="application/vnd.openxmlformats-officedocument.presentationml.notesSlide+xml"/>
  <Override PartName="/ppt/tags/tag25.xml" ContentType="application/vnd.openxmlformats-officedocument.presentationml.tags+xml"/>
  <Override PartName="/ppt/notesSlides/notesSlide26.xml" ContentType="application/vnd.openxmlformats-officedocument.presentationml.notesSlide+xml"/>
  <Override PartName="/ppt/tags/tag26.xml" ContentType="application/vnd.openxmlformats-officedocument.presentationml.tags+xml"/>
  <Override PartName="/ppt/notesSlides/notesSlide27.xml" ContentType="application/vnd.openxmlformats-officedocument.presentationml.notesSlide+xml"/>
  <Override PartName="/ppt/tags/tag27.xml" ContentType="application/vnd.openxmlformats-officedocument.presentationml.tags+xml"/>
  <Override PartName="/ppt/notesSlides/notesSlide28.xml" ContentType="application/vnd.openxmlformats-officedocument.presentationml.notesSlide+xml"/>
  <Override PartName="/ppt/tags/tag28.xml" ContentType="application/vnd.openxmlformats-officedocument.presentationml.tags+xml"/>
  <Override PartName="/ppt/notesSlides/notesSlide29.xml" ContentType="application/vnd.openxmlformats-officedocument.presentationml.notesSlide+xml"/>
  <Override PartName="/ppt/tags/tag29.xml" ContentType="application/vnd.openxmlformats-officedocument.presentationml.tags+xml"/>
  <Override PartName="/ppt/notesSlides/notesSlide30.xml" ContentType="application/vnd.openxmlformats-officedocument.presentationml.notesSlide+xml"/>
  <Override PartName="/ppt/tags/tag30.xml" ContentType="application/vnd.openxmlformats-officedocument.presentationml.tags+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6"/>
  </p:notesMasterIdLst>
  <p:sldIdLst>
    <p:sldId id="296" r:id="rId2"/>
    <p:sldId id="291" r:id="rId3"/>
    <p:sldId id="293" r:id="rId4"/>
    <p:sldId id="256" r:id="rId5"/>
    <p:sldId id="257" r:id="rId6"/>
    <p:sldId id="258" r:id="rId7"/>
    <p:sldId id="306" r:id="rId8"/>
    <p:sldId id="307" r:id="rId9"/>
    <p:sldId id="318" r:id="rId10"/>
    <p:sldId id="261" r:id="rId11"/>
    <p:sldId id="308" r:id="rId12"/>
    <p:sldId id="262" r:id="rId13"/>
    <p:sldId id="266" r:id="rId14"/>
    <p:sldId id="267" r:id="rId15"/>
    <p:sldId id="309" r:id="rId16"/>
    <p:sldId id="265" r:id="rId17"/>
    <p:sldId id="311" r:id="rId18"/>
    <p:sldId id="312" r:id="rId19"/>
    <p:sldId id="283" r:id="rId20"/>
    <p:sldId id="282" r:id="rId21"/>
    <p:sldId id="320" r:id="rId22"/>
    <p:sldId id="321" r:id="rId23"/>
    <p:sldId id="322" r:id="rId24"/>
    <p:sldId id="314" r:id="rId25"/>
    <p:sldId id="323" r:id="rId26"/>
    <p:sldId id="315" r:id="rId27"/>
    <p:sldId id="324" r:id="rId28"/>
    <p:sldId id="316" r:id="rId29"/>
    <p:sldId id="325" r:id="rId30"/>
    <p:sldId id="317" r:id="rId31"/>
    <p:sldId id="326" r:id="rId32"/>
    <p:sldId id="327" r:id="rId33"/>
    <p:sldId id="294" r:id="rId34"/>
    <p:sldId id="295"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5458B"/>
    <a:srgbClr val="181830"/>
    <a:srgbClr val="A9A2CE"/>
    <a:srgbClr val="7165AD"/>
    <a:srgbClr val="3333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86199" autoAdjust="0"/>
  </p:normalViewPr>
  <p:slideViewPr>
    <p:cSldViewPr snapToGrid="0">
      <p:cViewPr>
        <p:scale>
          <a:sx n="75" d="100"/>
          <a:sy n="75" d="100"/>
        </p:scale>
        <p:origin x="1098" y="438"/>
      </p:cViewPr>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D23136-A9A0-4E14-93A3-B8FC82D11BD3}" type="datetimeFigureOut">
              <a:rPr lang="en-CA" smtClean="0"/>
              <a:t>2025-03-25</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015CE2-DAFB-43F1-AC59-AF6548D4B1EA}" type="slidenum">
              <a:rPr lang="en-CA" smtClean="0"/>
              <a:t>‹#›</a:t>
            </a:fld>
            <a:endParaRPr lang="en-CA"/>
          </a:p>
        </p:txBody>
      </p:sp>
    </p:spTree>
    <p:extLst>
      <p:ext uri="{BB962C8B-B14F-4D97-AF65-F5344CB8AC3E}">
        <p14:creationId xmlns:p14="http://schemas.microsoft.com/office/powerpoint/2010/main" val="40229075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46B26-EB31-7FFC-368A-ACD889EBEC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2B8044-9EC0-63B1-B92C-DB95C0BAA2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91F3A4-69BD-BCF5-15E3-BCE3A63EF0DA}"/>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55624EF9-8375-45B2-87AC-7A47518BF938}"/>
              </a:ext>
            </a:extLst>
          </p:cNvPr>
          <p:cNvSpPr>
            <a:spLocks noGrp="1"/>
          </p:cNvSpPr>
          <p:nvPr>
            <p:ph type="sldNum" sz="quarter" idx="5"/>
          </p:nvPr>
        </p:nvSpPr>
        <p:spPr/>
        <p:txBody>
          <a:bodyPr/>
          <a:lstStyle/>
          <a:p>
            <a:fld id="{70015CE2-DAFB-43F1-AC59-AF6548D4B1EA}" type="slidenum">
              <a:rPr lang="en-CA" smtClean="0"/>
              <a:t>1</a:t>
            </a:fld>
            <a:endParaRPr lang="en-CA"/>
          </a:p>
        </p:txBody>
      </p:sp>
    </p:spTree>
    <p:extLst>
      <p:ext uri="{BB962C8B-B14F-4D97-AF65-F5344CB8AC3E}">
        <p14:creationId xmlns:p14="http://schemas.microsoft.com/office/powerpoint/2010/main" val="32906676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CA" dirty="0"/>
          </a:p>
        </p:txBody>
      </p:sp>
      <p:sp>
        <p:nvSpPr>
          <p:cNvPr id="4" name="Slide Number Placeholder 3"/>
          <p:cNvSpPr>
            <a:spLocks noGrp="1"/>
          </p:cNvSpPr>
          <p:nvPr>
            <p:ph type="sldNum" sz="quarter" idx="5"/>
          </p:nvPr>
        </p:nvSpPr>
        <p:spPr/>
        <p:txBody>
          <a:bodyPr/>
          <a:lstStyle/>
          <a:p>
            <a:fld id="{70015CE2-DAFB-43F1-AC59-AF6548D4B1EA}" type="slidenum">
              <a:rPr lang="en-CA" smtClean="0"/>
              <a:t>2</a:t>
            </a:fld>
            <a:endParaRPr lang="en-CA"/>
          </a:p>
        </p:txBody>
      </p:sp>
    </p:spTree>
    <p:extLst>
      <p:ext uri="{BB962C8B-B14F-4D97-AF65-F5344CB8AC3E}">
        <p14:creationId xmlns:p14="http://schemas.microsoft.com/office/powerpoint/2010/main" val="22610630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11763843-C519-4D74-8C55-5FC7DC66C5BB}" type="slidenum">
              <a:rPr lang="en-CA" smtClean="0"/>
              <a:t>3</a:t>
            </a:fld>
            <a:endParaRPr lang="en-CA"/>
          </a:p>
        </p:txBody>
      </p:sp>
    </p:spTree>
    <p:extLst>
      <p:ext uri="{BB962C8B-B14F-4D97-AF65-F5344CB8AC3E}">
        <p14:creationId xmlns:p14="http://schemas.microsoft.com/office/powerpoint/2010/main" val="7702199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70015CE2-DAFB-43F1-AC59-AF6548D4B1EA}" type="slidenum">
              <a:rPr lang="en-CA" smtClean="0"/>
              <a:t>5</a:t>
            </a:fld>
            <a:endParaRPr lang="en-CA"/>
          </a:p>
        </p:txBody>
      </p:sp>
    </p:spTree>
    <p:extLst>
      <p:ext uri="{BB962C8B-B14F-4D97-AF65-F5344CB8AC3E}">
        <p14:creationId xmlns:p14="http://schemas.microsoft.com/office/powerpoint/2010/main" val="9665174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70015CE2-DAFB-43F1-AC59-AF6548D4B1EA}" type="slidenum">
              <a:rPr lang="en-CA" smtClean="0"/>
              <a:t>6</a:t>
            </a:fld>
            <a:endParaRPr lang="en-CA"/>
          </a:p>
        </p:txBody>
      </p:sp>
    </p:spTree>
    <p:extLst>
      <p:ext uri="{BB962C8B-B14F-4D97-AF65-F5344CB8AC3E}">
        <p14:creationId xmlns:p14="http://schemas.microsoft.com/office/powerpoint/2010/main" val="8080541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E6B80-20F7-5EA3-423D-0DCFC293DF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B23A92-E1AD-C7AD-E987-A0CDF546A0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E0DB69-9D01-EF1D-28B6-6D31C81DBAE4}"/>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8FCAFAE4-A152-B6C0-AD61-C6F54156EEC8}"/>
              </a:ext>
            </a:extLst>
          </p:cNvPr>
          <p:cNvSpPr>
            <a:spLocks noGrp="1"/>
          </p:cNvSpPr>
          <p:nvPr>
            <p:ph type="sldNum" sz="quarter" idx="5"/>
          </p:nvPr>
        </p:nvSpPr>
        <p:spPr/>
        <p:txBody>
          <a:bodyPr/>
          <a:lstStyle/>
          <a:p>
            <a:fld id="{70015CE2-DAFB-43F1-AC59-AF6548D4B1EA}" type="slidenum">
              <a:rPr lang="en-CA" smtClean="0"/>
              <a:t>7</a:t>
            </a:fld>
            <a:endParaRPr lang="en-CA"/>
          </a:p>
        </p:txBody>
      </p:sp>
    </p:spTree>
    <p:extLst>
      <p:ext uri="{BB962C8B-B14F-4D97-AF65-F5344CB8AC3E}">
        <p14:creationId xmlns:p14="http://schemas.microsoft.com/office/powerpoint/2010/main" val="639014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A9ECC2-FE79-5CE0-C580-1451E720D2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3125C4-5293-4F99-24B3-3F553A9E6A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8DCB0A-FDAA-6999-D87D-D0BAE9C194CA}"/>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85B17C70-82CF-FF1E-F216-BDB80777E2B8}"/>
              </a:ext>
            </a:extLst>
          </p:cNvPr>
          <p:cNvSpPr>
            <a:spLocks noGrp="1"/>
          </p:cNvSpPr>
          <p:nvPr>
            <p:ph type="sldNum" sz="quarter" idx="5"/>
          </p:nvPr>
        </p:nvSpPr>
        <p:spPr/>
        <p:txBody>
          <a:bodyPr/>
          <a:lstStyle/>
          <a:p>
            <a:fld id="{70015CE2-DAFB-43F1-AC59-AF6548D4B1EA}" type="slidenum">
              <a:rPr lang="en-CA" smtClean="0"/>
              <a:t>8</a:t>
            </a:fld>
            <a:endParaRPr lang="en-CA"/>
          </a:p>
        </p:txBody>
      </p:sp>
    </p:spTree>
    <p:extLst>
      <p:ext uri="{BB962C8B-B14F-4D97-AF65-F5344CB8AC3E}">
        <p14:creationId xmlns:p14="http://schemas.microsoft.com/office/powerpoint/2010/main" val="32514623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A71A5-812A-1782-FE68-BEAB8075F1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C9A20E-7EBF-F7EB-C267-B7F6A809AE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1DCA13-F174-DBF3-886D-4F18BBAB2E7E}"/>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FD65D124-7B80-7468-11CF-3FBDAE3E9664}"/>
              </a:ext>
            </a:extLst>
          </p:cNvPr>
          <p:cNvSpPr>
            <a:spLocks noGrp="1"/>
          </p:cNvSpPr>
          <p:nvPr>
            <p:ph type="sldNum" sz="quarter" idx="5"/>
          </p:nvPr>
        </p:nvSpPr>
        <p:spPr/>
        <p:txBody>
          <a:bodyPr/>
          <a:lstStyle/>
          <a:p>
            <a:fld id="{70015CE2-DAFB-43F1-AC59-AF6548D4B1EA}" type="slidenum">
              <a:rPr lang="en-CA" smtClean="0"/>
              <a:t>9</a:t>
            </a:fld>
            <a:endParaRPr lang="en-CA"/>
          </a:p>
        </p:txBody>
      </p:sp>
    </p:spTree>
    <p:extLst>
      <p:ext uri="{BB962C8B-B14F-4D97-AF65-F5344CB8AC3E}">
        <p14:creationId xmlns:p14="http://schemas.microsoft.com/office/powerpoint/2010/main" val="37736006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u="none" strike="noStrike" kern="100" dirty="0">
                <a:solidFill>
                  <a:schemeClr val="bg1">
                    <a:lumMod val="95000"/>
                  </a:schemeClr>
                </a:solidFill>
                <a:effectLst/>
                <a:uFill>
                  <a:solidFill>
                    <a:srgbClr val="000000"/>
                  </a:solidFill>
                </a:uFill>
                <a:latin typeface="Aptos (Body)"/>
                <a:ea typeface="Calibri" panose="020F0502020204030204" pitchFamily="34" charset="0"/>
                <a:cs typeface="Calibri" panose="020F0502020204030204" pitchFamily="34" charset="0"/>
              </a:rPr>
              <a:t>Peak and Low Demand Months by City</a:t>
            </a:r>
            <a:endParaRPr lang="en-US" dirty="0"/>
          </a:p>
          <a:p>
            <a:endParaRPr lang="en-US" dirty="0"/>
          </a:p>
          <a:p>
            <a:r>
              <a:rPr lang="en-US" dirty="0"/>
              <a:t>February saw the highest trip counts in Jaipur, Lucknow, and Chandigarh, while May and April were peak months for other cities. Conversely, June and January recorded the lowest trip counts, with cities like Jaipur, Kochi, Indore, Vadodara, and Coimbatore experiencing reduced demand. In summary, February, May, and April are peak months, while June and January have the lowest demand across the cities.</a:t>
            </a:r>
            <a:endParaRPr lang="en-CA" dirty="0"/>
          </a:p>
        </p:txBody>
      </p:sp>
      <p:sp>
        <p:nvSpPr>
          <p:cNvPr id="4" name="Slide Number Placeholder 3"/>
          <p:cNvSpPr>
            <a:spLocks noGrp="1"/>
          </p:cNvSpPr>
          <p:nvPr>
            <p:ph type="sldNum" sz="quarter" idx="5"/>
          </p:nvPr>
        </p:nvSpPr>
        <p:spPr/>
        <p:txBody>
          <a:bodyPr/>
          <a:lstStyle/>
          <a:p>
            <a:fld id="{70015CE2-DAFB-43F1-AC59-AF6548D4B1EA}" type="slidenum">
              <a:rPr lang="en-CA" smtClean="0"/>
              <a:t>10</a:t>
            </a:fld>
            <a:endParaRPr lang="en-CA"/>
          </a:p>
        </p:txBody>
      </p:sp>
    </p:spTree>
    <p:extLst>
      <p:ext uri="{BB962C8B-B14F-4D97-AF65-F5344CB8AC3E}">
        <p14:creationId xmlns:p14="http://schemas.microsoft.com/office/powerpoint/2010/main" val="32337583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1A41E-3882-DCAD-A41A-F6A7755AD4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D92D69-AAFD-9AE0-2335-EFDB6E075A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86D78B-F111-2689-C110-D10A5BA29E2E}"/>
              </a:ext>
            </a:extLst>
          </p:cNvPr>
          <p:cNvSpPr>
            <a:spLocks noGrp="1"/>
          </p:cNvSpPr>
          <p:nvPr>
            <p:ph type="body" idx="1"/>
          </p:nvPr>
        </p:nvSpPr>
        <p:spPr/>
        <p:txBody>
          <a:bodyPr/>
          <a:lstStyle/>
          <a:p>
            <a:r>
              <a:rPr lang="en-US" sz="1200" b="1" u="none" strike="noStrike" kern="100" dirty="0">
                <a:solidFill>
                  <a:schemeClr val="bg1">
                    <a:lumMod val="95000"/>
                  </a:schemeClr>
                </a:solidFill>
                <a:effectLst/>
                <a:uFill>
                  <a:solidFill>
                    <a:srgbClr val="000000"/>
                  </a:solidFill>
                </a:uFill>
                <a:latin typeface="Aptos (Body)"/>
                <a:ea typeface="Calibri" panose="020F0502020204030204" pitchFamily="34" charset="0"/>
                <a:cs typeface="Calibri" panose="020F0502020204030204" pitchFamily="34" charset="0"/>
              </a:rPr>
              <a:t>Peak and Low Demand Months by City</a:t>
            </a:r>
            <a:endParaRPr lang="en-US" dirty="0"/>
          </a:p>
          <a:p>
            <a:endParaRPr lang="en-US" dirty="0"/>
          </a:p>
          <a:p>
            <a:r>
              <a:rPr lang="en-US" dirty="0"/>
              <a:t>February saw the highest trip counts in Jaipur, Lucknow, and Chandigarh, while May and April were peak months for other cities. Conversely, June and January recorded the lowest trip counts, with cities like Jaipur, Kochi, Indore, Vadodara, and Coimbatore experiencing reduced demand. In summary, February, May, and April are peak months, while June and January have the lowest demand across the cities.</a:t>
            </a:r>
            <a:endParaRPr lang="en-CA" dirty="0"/>
          </a:p>
        </p:txBody>
      </p:sp>
      <p:sp>
        <p:nvSpPr>
          <p:cNvPr id="4" name="Slide Number Placeholder 3">
            <a:extLst>
              <a:ext uri="{FF2B5EF4-FFF2-40B4-BE49-F238E27FC236}">
                <a16:creationId xmlns:a16="http://schemas.microsoft.com/office/drawing/2014/main" id="{C35A07A4-2DD7-0120-B378-DDCACB039001}"/>
              </a:ext>
            </a:extLst>
          </p:cNvPr>
          <p:cNvSpPr>
            <a:spLocks noGrp="1"/>
          </p:cNvSpPr>
          <p:nvPr>
            <p:ph type="sldNum" sz="quarter" idx="5"/>
          </p:nvPr>
        </p:nvSpPr>
        <p:spPr/>
        <p:txBody>
          <a:bodyPr/>
          <a:lstStyle/>
          <a:p>
            <a:fld id="{70015CE2-DAFB-43F1-AC59-AF6548D4B1EA}" type="slidenum">
              <a:rPr lang="en-CA" smtClean="0"/>
              <a:t>11</a:t>
            </a:fld>
            <a:endParaRPr lang="en-CA"/>
          </a:p>
        </p:txBody>
      </p:sp>
    </p:spTree>
    <p:extLst>
      <p:ext uri="{BB962C8B-B14F-4D97-AF65-F5344CB8AC3E}">
        <p14:creationId xmlns:p14="http://schemas.microsoft.com/office/powerpoint/2010/main" val="5271912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70015CE2-DAFB-43F1-AC59-AF6548D4B1EA}" type="slidenum">
              <a:rPr lang="en-CA" smtClean="0"/>
              <a:t>12</a:t>
            </a:fld>
            <a:endParaRPr lang="en-CA"/>
          </a:p>
        </p:txBody>
      </p:sp>
    </p:spTree>
    <p:extLst>
      <p:ext uri="{BB962C8B-B14F-4D97-AF65-F5344CB8AC3E}">
        <p14:creationId xmlns:p14="http://schemas.microsoft.com/office/powerpoint/2010/main" val="6020867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Inactivity on </a:t>
            </a:r>
            <a:r>
              <a:rPr lang="en-US" b="1" dirty="0"/>
              <a:t>both platforms</a:t>
            </a:r>
            <a:r>
              <a:rPr lang="en-US" dirty="0"/>
              <a:t> strongly correlates with decreasing average watch time. For </a:t>
            </a:r>
            <a:r>
              <a:rPr lang="en-US" b="1" dirty="0" err="1"/>
              <a:t>Jotstar</a:t>
            </a:r>
            <a:r>
              <a:rPr lang="en-US" dirty="0"/>
              <a:t>, inactive user counts steadily rise month-over-month, clearly coinciding with declining average viewing hours. Surprisingly, </a:t>
            </a:r>
            <a:r>
              <a:rPr lang="en-US" b="1" dirty="0"/>
              <a:t>74%</a:t>
            </a:r>
            <a:r>
              <a:rPr lang="en-US" dirty="0"/>
              <a:t> of inactive users previously demonstrated </a:t>
            </a:r>
            <a:r>
              <a:rPr lang="en-US" b="1" dirty="0"/>
              <a:t>high engagement</a:t>
            </a:r>
            <a:r>
              <a:rPr lang="en-US" dirty="0"/>
              <a:t>, indicating a significant drop-off risk even among highly engaged audiences.</a:t>
            </a:r>
          </a:p>
          <a:p>
            <a:r>
              <a:rPr lang="en-US" b="1" dirty="0" err="1"/>
              <a:t>Liocinema</a:t>
            </a:r>
            <a:r>
              <a:rPr lang="en-US" dirty="0"/>
              <a:t> exhibits a similar pattern, with inactive users increasing progressively, but notably surging after September—coinciding with a sharp decline in average watch hours. Unlike </a:t>
            </a:r>
            <a:r>
              <a:rPr lang="en-US" dirty="0" err="1"/>
              <a:t>Jotstar</a:t>
            </a:r>
            <a:r>
              <a:rPr lang="en-US" dirty="0"/>
              <a:t>, however, </a:t>
            </a:r>
            <a:r>
              <a:rPr lang="en-US" dirty="0" err="1"/>
              <a:t>Liocinema’s</a:t>
            </a:r>
            <a:r>
              <a:rPr lang="en-US" dirty="0"/>
              <a:t> inactivity predominantly affects already </a:t>
            </a:r>
            <a:r>
              <a:rPr lang="en-US" b="1" dirty="0"/>
              <a:t>low-engagement users (67%)</a:t>
            </a:r>
            <a:r>
              <a:rPr lang="en-US" dirty="0"/>
              <a:t>, highlighting the importance of proactive retention strategies focused on this segment.</a:t>
            </a:r>
          </a:p>
          <a:p>
            <a:endParaRPr lang="en-US" dirty="0"/>
          </a:p>
        </p:txBody>
      </p:sp>
      <p:sp>
        <p:nvSpPr>
          <p:cNvPr id="4" name="Slide Number Placeholder 3"/>
          <p:cNvSpPr>
            <a:spLocks noGrp="1"/>
          </p:cNvSpPr>
          <p:nvPr>
            <p:ph type="sldNum" sz="quarter" idx="5"/>
          </p:nvPr>
        </p:nvSpPr>
        <p:spPr/>
        <p:txBody>
          <a:bodyPr/>
          <a:lstStyle/>
          <a:p>
            <a:fld id="{70015CE2-DAFB-43F1-AC59-AF6548D4B1EA}" type="slidenum">
              <a:rPr lang="en-CA" smtClean="0"/>
              <a:t>13</a:t>
            </a:fld>
            <a:endParaRPr lang="en-CA"/>
          </a:p>
        </p:txBody>
      </p:sp>
    </p:spTree>
    <p:extLst>
      <p:ext uri="{BB962C8B-B14F-4D97-AF65-F5344CB8AC3E}">
        <p14:creationId xmlns:p14="http://schemas.microsoft.com/office/powerpoint/2010/main" val="7727259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70015CE2-DAFB-43F1-AC59-AF6548D4B1EA}" type="slidenum">
              <a:rPr lang="en-CA" smtClean="0"/>
              <a:t>14</a:t>
            </a:fld>
            <a:endParaRPr lang="en-CA"/>
          </a:p>
        </p:txBody>
      </p:sp>
    </p:spTree>
    <p:extLst>
      <p:ext uri="{BB962C8B-B14F-4D97-AF65-F5344CB8AC3E}">
        <p14:creationId xmlns:p14="http://schemas.microsoft.com/office/powerpoint/2010/main" val="3825266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C81164-5D76-B8A9-42D8-6F5D955723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007045-4770-293D-D1CF-8738814A07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776FC1-010B-86C6-4CFD-E7F10BFCBF66}"/>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65D8E029-7769-D343-F4D4-7F84134DAA15}"/>
              </a:ext>
            </a:extLst>
          </p:cNvPr>
          <p:cNvSpPr>
            <a:spLocks noGrp="1"/>
          </p:cNvSpPr>
          <p:nvPr>
            <p:ph type="sldNum" sz="quarter" idx="5"/>
          </p:nvPr>
        </p:nvSpPr>
        <p:spPr/>
        <p:txBody>
          <a:bodyPr/>
          <a:lstStyle/>
          <a:p>
            <a:fld id="{70015CE2-DAFB-43F1-AC59-AF6548D4B1EA}" type="slidenum">
              <a:rPr lang="en-CA" smtClean="0"/>
              <a:t>15</a:t>
            </a:fld>
            <a:endParaRPr lang="en-CA"/>
          </a:p>
        </p:txBody>
      </p:sp>
    </p:spTree>
    <p:extLst>
      <p:ext uri="{BB962C8B-B14F-4D97-AF65-F5344CB8AC3E}">
        <p14:creationId xmlns:p14="http://schemas.microsoft.com/office/powerpoint/2010/main" val="41904575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70015CE2-DAFB-43F1-AC59-AF6548D4B1EA}" type="slidenum">
              <a:rPr lang="en-CA" smtClean="0"/>
              <a:t>16</a:t>
            </a:fld>
            <a:endParaRPr lang="en-CA"/>
          </a:p>
        </p:txBody>
      </p:sp>
    </p:spTree>
    <p:extLst>
      <p:ext uri="{BB962C8B-B14F-4D97-AF65-F5344CB8AC3E}">
        <p14:creationId xmlns:p14="http://schemas.microsoft.com/office/powerpoint/2010/main" val="21585215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D4798-D66E-8755-CC45-B8F434763D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AC2A2F-CF76-ACAA-B6A9-9A31FF8764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BE62D2-3A03-574E-4B7B-D366F4939AD5}"/>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FA248CAD-4882-CE33-CCB4-4EB60D18D132}"/>
              </a:ext>
            </a:extLst>
          </p:cNvPr>
          <p:cNvSpPr>
            <a:spLocks noGrp="1"/>
          </p:cNvSpPr>
          <p:nvPr>
            <p:ph type="sldNum" sz="quarter" idx="5"/>
          </p:nvPr>
        </p:nvSpPr>
        <p:spPr/>
        <p:txBody>
          <a:bodyPr/>
          <a:lstStyle/>
          <a:p>
            <a:fld id="{70015CE2-DAFB-43F1-AC59-AF6548D4B1EA}" type="slidenum">
              <a:rPr lang="en-CA" smtClean="0"/>
              <a:t>17</a:t>
            </a:fld>
            <a:endParaRPr lang="en-CA"/>
          </a:p>
        </p:txBody>
      </p:sp>
    </p:spTree>
    <p:extLst>
      <p:ext uri="{BB962C8B-B14F-4D97-AF65-F5344CB8AC3E}">
        <p14:creationId xmlns:p14="http://schemas.microsoft.com/office/powerpoint/2010/main" val="38005799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3C8D1A-E899-3D95-9CE5-EDE1B4911C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C1A983-4433-1972-B4CB-189619511D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65AEEA-80DF-3728-8F8A-7CC1329DC894}"/>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42556B41-C7CE-7397-3CB2-00922C22D70A}"/>
              </a:ext>
            </a:extLst>
          </p:cNvPr>
          <p:cNvSpPr>
            <a:spLocks noGrp="1"/>
          </p:cNvSpPr>
          <p:nvPr>
            <p:ph type="sldNum" sz="quarter" idx="5"/>
          </p:nvPr>
        </p:nvSpPr>
        <p:spPr/>
        <p:txBody>
          <a:bodyPr/>
          <a:lstStyle/>
          <a:p>
            <a:fld id="{70015CE2-DAFB-43F1-AC59-AF6548D4B1EA}" type="slidenum">
              <a:rPr lang="en-CA" smtClean="0"/>
              <a:t>18</a:t>
            </a:fld>
            <a:endParaRPr lang="en-CA"/>
          </a:p>
        </p:txBody>
      </p:sp>
    </p:spTree>
    <p:extLst>
      <p:ext uri="{BB962C8B-B14F-4D97-AF65-F5344CB8AC3E}">
        <p14:creationId xmlns:p14="http://schemas.microsoft.com/office/powerpoint/2010/main" val="33904519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062B7-AF42-0FAC-9C3C-04D942F53C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D7475C-AD87-F035-95F9-CFB23C9742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88871F-C8B7-C7D9-AF2F-DC5DDECC0E76}"/>
              </a:ext>
            </a:extLst>
          </p:cNvPr>
          <p:cNvSpPr>
            <a:spLocks noGrp="1"/>
          </p:cNvSpPr>
          <p:nvPr>
            <p:ph type="body" idx="1"/>
          </p:nvPr>
        </p:nvSpPr>
        <p:spPr/>
        <p:txBody>
          <a:bodyPr/>
          <a:lstStyle/>
          <a:p>
            <a:pPr>
              <a:buFont typeface="+mj-lt"/>
              <a:buNone/>
            </a:pPr>
            <a:endParaRPr lang="en-US" dirty="0"/>
          </a:p>
        </p:txBody>
      </p:sp>
      <p:sp>
        <p:nvSpPr>
          <p:cNvPr id="4" name="Slide Number Placeholder 3">
            <a:extLst>
              <a:ext uri="{FF2B5EF4-FFF2-40B4-BE49-F238E27FC236}">
                <a16:creationId xmlns:a16="http://schemas.microsoft.com/office/drawing/2014/main" id="{E6DE6AA8-0321-5EB7-51C3-9A543ED94062}"/>
              </a:ext>
            </a:extLst>
          </p:cNvPr>
          <p:cNvSpPr>
            <a:spLocks noGrp="1"/>
          </p:cNvSpPr>
          <p:nvPr>
            <p:ph type="sldNum" sz="quarter" idx="5"/>
          </p:nvPr>
        </p:nvSpPr>
        <p:spPr/>
        <p:txBody>
          <a:bodyPr/>
          <a:lstStyle/>
          <a:p>
            <a:fld id="{70015CE2-DAFB-43F1-AC59-AF6548D4B1EA}" type="slidenum">
              <a:rPr lang="en-CA" smtClean="0"/>
              <a:t>20</a:t>
            </a:fld>
            <a:endParaRPr lang="en-CA"/>
          </a:p>
        </p:txBody>
      </p:sp>
    </p:spTree>
    <p:extLst>
      <p:ext uri="{BB962C8B-B14F-4D97-AF65-F5344CB8AC3E}">
        <p14:creationId xmlns:p14="http://schemas.microsoft.com/office/powerpoint/2010/main" val="36218729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A51A0E-2C0C-3858-2DF7-460BE30370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B74C7F-2CBE-6181-86D8-27D95CF96A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386064-5FB5-B987-ECF6-107CE6A4D843}"/>
              </a:ext>
            </a:extLst>
          </p:cNvPr>
          <p:cNvSpPr>
            <a:spLocks noGrp="1"/>
          </p:cNvSpPr>
          <p:nvPr>
            <p:ph type="body" idx="1"/>
          </p:nvPr>
        </p:nvSpPr>
        <p:spPr/>
        <p:txBody>
          <a:bodyPr/>
          <a:lstStyle/>
          <a:p>
            <a:pPr>
              <a:buFont typeface="+mj-lt"/>
              <a:buNone/>
            </a:pPr>
            <a:endParaRPr lang="en-US" dirty="0"/>
          </a:p>
        </p:txBody>
      </p:sp>
      <p:sp>
        <p:nvSpPr>
          <p:cNvPr id="4" name="Slide Number Placeholder 3">
            <a:extLst>
              <a:ext uri="{FF2B5EF4-FFF2-40B4-BE49-F238E27FC236}">
                <a16:creationId xmlns:a16="http://schemas.microsoft.com/office/drawing/2014/main" id="{E293E7F2-D290-9782-D3D5-1B880B972ECF}"/>
              </a:ext>
            </a:extLst>
          </p:cNvPr>
          <p:cNvSpPr>
            <a:spLocks noGrp="1"/>
          </p:cNvSpPr>
          <p:nvPr>
            <p:ph type="sldNum" sz="quarter" idx="5"/>
          </p:nvPr>
        </p:nvSpPr>
        <p:spPr/>
        <p:txBody>
          <a:bodyPr/>
          <a:lstStyle/>
          <a:p>
            <a:fld id="{70015CE2-DAFB-43F1-AC59-AF6548D4B1EA}" type="slidenum">
              <a:rPr lang="en-CA" smtClean="0"/>
              <a:t>21</a:t>
            </a:fld>
            <a:endParaRPr lang="en-CA"/>
          </a:p>
        </p:txBody>
      </p:sp>
    </p:spTree>
    <p:extLst>
      <p:ext uri="{BB962C8B-B14F-4D97-AF65-F5344CB8AC3E}">
        <p14:creationId xmlns:p14="http://schemas.microsoft.com/office/powerpoint/2010/main" val="35307541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B09C81-422B-A1ED-7AF5-70CBCF0B3E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5E67AA-9C00-C2E3-2DA9-39A074321A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9D6549-9E19-EE93-CAC6-62AF85227A7C}"/>
              </a:ext>
            </a:extLst>
          </p:cNvPr>
          <p:cNvSpPr>
            <a:spLocks noGrp="1"/>
          </p:cNvSpPr>
          <p:nvPr>
            <p:ph type="body" idx="1"/>
          </p:nvPr>
        </p:nvSpPr>
        <p:spPr/>
        <p:txBody>
          <a:bodyPr/>
          <a:lstStyle/>
          <a:p>
            <a:pPr>
              <a:buFont typeface="+mj-lt"/>
              <a:buNone/>
            </a:pPr>
            <a:endParaRPr lang="en-US" dirty="0"/>
          </a:p>
        </p:txBody>
      </p:sp>
      <p:sp>
        <p:nvSpPr>
          <p:cNvPr id="4" name="Slide Number Placeholder 3">
            <a:extLst>
              <a:ext uri="{FF2B5EF4-FFF2-40B4-BE49-F238E27FC236}">
                <a16:creationId xmlns:a16="http://schemas.microsoft.com/office/drawing/2014/main" id="{4CFC1D74-2E69-65A2-87A5-BBE64B5B79F4}"/>
              </a:ext>
            </a:extLst>
          </p:cNvPr>
          <p:cNvSpPr>
            <a:spLocks noGrp="1"/>
          </p:cNvSpPr>
          <p:nvPr>
            <p:ph type="sldNum" sz="quarter" idx="5"/>
          </p:nvPr>
        </p:nvSpPr>
        <p:spPr/>
        <p:txBody>
          <a:bodyPr/>
          <a:lstStyle/>
          <a:p>
            <a:fld id="{70015CE2-DAFB-43F1-AC59-AF6548D4B1EA}" type="slidenum">
              <a:rPr lang="en-CA" smtClean="0"/>
              <a:t>22</a:t>
            </a:fld>
            <a:endParaRPr lang="en-CA"/>
          </a:p>
        </p:txBody>
      </p:sp>
    </p:spTree>
    <p:extLst>
      <p:ext uri="{BB962C8B-B14F-4D97-AF65-F5344CB8AC3E}">
        <p14:creationId xmlns:p14="http://schemas.microsoft.com/office/powerpoint/2010/main" val="34805141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2291A-030D-52F7-E289-F3A037CCBC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7FB98B-17FE-43E5-87B4-1E75981BDC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308420-2A09-8BBA-060F-3C77F97D2964}"/>
              </a:ext>
            </a:extLst>
          </p:cNvPr>
          <p:cNvSpPr>
            <a:spLocks noGrp="1"/>
          </p:cNvSpPr>
          <p:nvPr>
            <p:ph type="body" idx="1"/>
          </p:nvPr>
        </p:nvSpPr>
        <p:spPr/>
        <p:txBody>
          <a:bodyPr/>
          <a:lstStyle/>
          <a:p>
            <a:pPr>
              <a:buFont typeface="+mj-lt"/>
              <a:buNone/>
            </a:pPr>
            <a:endParaRPr lang="en-US" dirty="0"/>
          </a:p>
        </p:txBody>
      </p:sp>
      <p:sp>
        <p:nvSpPr>
          <p:cNvPr id="4" name="Slide Number Placeholder 3">
            <a:extLst>
              <a:ext uri="{FF2B5EF4-FFF2-40B4-BE49-F238E27FC236}">
                <a16:creationId xmlns:a16="http://schemas.microsoft.com/office/drawing/2014/main" id="{9E15DCED-8C66-62EA-1844-215DD561704F}"/>
              </a:ext>
            </a:extLst>
          </p:cNvPr>
          <p:cNvSpPr>
            <a:spLocks noGrp="1"/>
          </p:cNvSpPr>
          <p:nvPr>
            <p:ph type="sldNum" sz="quarter" idx="5"/>
          </p:nvPr>
        </p:nvSpPr>
        <p:spPr/>
        <p:txBody>
          <a:bodyPr/>
          <a:lstStyle/>
          <a:p>
            <a:fld id="{70015CE2-DAFB-43F1-AC59-AF6548D4B1EA}" type="slidenum">
              <a:rPr lang="en-CA" smtClean="0"/>
              <a:t>23</a:t>
            </a:fld>
            <a:endParaRPr lang="en-CA"/>
          </a:p>
        </p:txBody>
      </p:sp>
    </p:spTree>
    <p:extLst>
      <p:ext uri="{BB962C8B-B14F-4D97-AF65-F5344CB8AC3E}">
        <p14:creationId xmlns:p14="http://schemas.microsoft.com/office/powerpoint/2010/main" val="7427560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1BD2C-87B8-4BE1-3820-CCD561B01F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0B7FF4-460B-1C5A-F973-2CBFB0FC25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F496A7-670C-8176-1161-0DA0DD215D14}"/>
              </a:ext>
            </a:extLst>
          </p:cNvPr>
          <p:cNvSpPr>
            <a:spLocks noGrp="1"/>
          </p:cNvSpPr>
          <p:nvPr>
            <p:ph type="body" idx="1"/>
          </p:nvPr>
        </p:nvSpPr>
        <p:spPr/>
        <p:txBody>
          <a:bodyPr/>
          <a:lstStyle/>
          <a:p>
            <a:pPr>
              <a:buFont typeface="+mj-lt"/>
              <a:buNone/>
            </a:pPr>
            <a:endParaRPr lang="en-US" dirty="0"/>
          </a:p>
        </p:txBody>
      </p:sp>
      <p:sp>
        <p:nvSpPr>
          <p:cNvPr id="4" name="Slide Number Placeholder 3">
            <a:extLst>
              <a:ext uri="{FF2B5EF4-FFF2-40B4-BE49-F238E27FC236}">
                <a16:creationId xmlns:a16="http://schemas.microsoft.com/office/drawing/2014/main" id="{AB60715E-0FF9-DD99-AFFB-34B39157091A}"/>
              </a:ext>
            </a:extLst>
          </p:cNvPr>
          <p:cNvSpPr>
            <a:spLocks noGrp="1"/>
          </p:cNvSpPr>
          <p:nvPr>
            <p:ph type="sldNum" sz="quarter" idx="5"/>
          </p:nvPr>
        </p:nvSpPr>
        <p:spPr/>
        <p:txBody>
          <a:bodyPr/>
          <a:lstStyle/>
          <a:p>
            <a:fld id="{70015CE2-DAFB-43F1-AC59-AF6548D4B1EA}" type="slidenum">
              <a:rPr lang="en-CA" smtClean="0"/>
              <a:t>24</a:t>
            </a:fld>
            <a:endParaRPr lang="en-CA"/>
          </a:p>
        </p:txBody>
      </p:sp>
    </p:spTree>
    <p:extLst>
      <p:ext uri="{BB962C8B-B14F-4D97-AF65-F5344CB8AC3E}">
        <p14:creationId xmlns:p14="http://schemas.microsoft.com/office/powerpoint/2010/main" val="27101590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25C27F-B6D2-782A-3F42-D8C9C1403C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FA8B8B-793B-E2A6-F6F1-31BE8DB870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1F0D78-E1DF-4D56-0460-2A68C46DE8FB}"/>
              </a:ext>
            </a:extLst>
          </p:cNvPr>
          <p:cNvSpPr>
            <a:spLocks noGrp="1"/>
          </p:cNvSpPr>
          <p:nvPr>
            <p:ph type="body" idx="1"/>
          </p:nvPr>
        </p:nvSpPr>
        <p:spPr/>
        <p:txBody>
          <a:bodyPr/>
          <a:lstStyle/>
          <a:p>
            <a:pPr>
              <a:buFont typeface="+mj-lt"/>
              <a:buNone/>
            </a:pPr>
            <a:endParaRPr lang="en-US" dirty="0"/>
          </a:p>
        </p:txBody>
      </p:sp>
      <p:sp>
        <p:nvSpPr>
          <p:cNvPr id="4" name="Slide Number Placeholder 3">
            <a:extLst>
              <a:ext uri="{FF2B5EF4-FFF2-40B4-BE49-F238E27FC236}">
                <a16:creationId xmlns:a16="http://schemas.microsoft.com/office/drawing/2014/main" id="{960AE23F-0D2E-C3BD-671A-0D95CED72888}"/>
              </a:ext>
            </a:extLst>
          </p:cNvPr>
          <p:cNvSpPr>
            <a:spLocks noGrp="1"/>
          </p:cNvSpPr>
          <p:nvPr>
            <p:ph type="sldNum" sz="quarter" idx="5"/>
          </p:nvPr>
        </p:nvSpPr>
        <p:spPr/>
        <p:txBody>
          <a:bodyPr/>
          <a:lstStyle/>
          <a:p>
            <a:fld id="{70015CE2-DAFB-43F1-AC59-AF6548D4B1EA}" type="slidenum">
              <a:rPr lang="en-CA" smtClean="0"/>
              <a:t>25</a:t>
            </a:fld>
            <a:endParaRPr lang="en-CA"/>
          </a:p>
        </p:txBody>
      </p:sp>
    </p:spTree>
    <p:extLst>
      <p:ext uri="{BB962C8B-B14F-4D97-AF65-F5344CB8AC3E}">
        <p14:creationId xmlns:p14="http://schemas.microsoft.com/office/powerpoint/2010/main" val="105563962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61E45C-F743-5548-8D1C-C6601BF934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977FF6-3802-0438-1751-8FB7752768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3F7860-EA16-3323-FF48-8265E3C75F4D}"/>
              </a:ext>
            </a:extLst>
          </p:cNvPr>
          <p:cNvSpPr>
            <a:spLocks noGrp="1"/>
          </p:cNvSpPr>
          <p:nvPr>
            <p:ph type="body" idx="1"/>
          </p:nvPr>
        </p:nvSpPr>
        <p:spPr/>
        <p:txBody>
          <a:bodyPr/>
          <a:lstStyle/>
          <a:p>
            <a:pPr>
              <a:buFont typeface="+mj-lt"/>
              <a:buNone/>
            </a:pPr>
            <a:endParaRPr lang="en-US" dirty="0"/>
          </a:p>
        </p:txBody>
      </p:sp>
      <p:sp>
        <p:nvSpPr>
          <p:cNvPr id="4" name="Slide Number Placeholder 3">
            <a:extLst>
              <a:ext uri="{FF2B5EF4-FFF2-40B4-BE49-F238E27FC236}">
                <a16:creationId xmlns:a16="http://schemas.microsoft.com/office/drawing/2014/main" id="{D16D3919-36D6-5522-C037-205A627E8708}"/>
              </a:ext>
            </a:extLst>
          </p:cNvPr>
          <p:cNvSpPr>
            <a:spLocks noGrp="1"/>
          </p:cNvSpPr>
          <p:nvPr>
            <p:ph type="sldNum" sz="quarter" idx="5"/>
          </p:nvPr>
        </p:nvSpPr>
        <p:spPr/>
        <p:txBody>
          <a:bodyPr/>
          <a:lstStyle/>
          <a:p>
            <a:fld id="{70015CE2-DAFB-43F1-AC59-AF6548D4B1EA}" type="slidenum">
              <a:rPr lang="en-CA" smtClean="0"/>
              <a:t>26</a:t>
            </a:fld>
            <a:endParaRPr lang="en-CA"/>
          </a:p>
        </p:txBody>
      </p:sp>
    </p:spTree>
    <p:extLst>
      <p:ext uri="{BB962C8B-B14F-4D97-AF65-F5344CB8AC3E}">
        <p14:creationId xmlns:p14="http://schemas.microsoft.com/office/powerpoint/2010/main" val="88307604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FF1E68-F65E-8D1D-2BAE-C7A0DFCEBA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709F12-E75F-59B2-5751-F46D8CD071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BDB327-4670-6FCD-38F6-7A1C6749C902}"/>
              </a:ext>
            </a:extLst>
          </p:cNvPr>
          <p:cNvSpPr>
            <a:spLocks noGrp="1"/>
          </p:cNvSpPr>
          <p:nvPr>
            <p:ph type="body" idx="1"/>
          </p:nvPr>
        </p:nvSpPr>
        <p:spPr/>
        <p:txBody>
          <a:bodyPr/>
          <a:lstStyle/>
          <a:p>
            <a:pPr>
              <a:buFont typeface="+mj-lt"/>
              <a:buNone/>
            </a:pPr>
            <a:endParaRPr lang="en-US" dirty="0"/>
          </a:p>
        </p:txBody>
      </p:sp>
      <p:sp>
        <p:nvSpPr>
          <p:cNvPr id="4" name="Slide Number Placeholder 3">
            <a:extLst>
              <a:ext uri="{FF2B5EF4-FFF2-40B4-BE49-F238E27FC236}">
                <a16:creationId xmlns:a16="http://schemas.microsoft.com/office/drawing/2014/main" id="{B59A198F-17F1-B75F-F988-334A1A8BF895}"/>
              </a:ext>
            </a:extLst>
          </p:cNvPr>
          <p:cNvSpPr>
            <a:spLocks noGrp="1"/>
          </p:cNvSpPr>
          <p:nvPr>
            <p:ph type="sldNum" sz="quarter" idx="5"/>
          </p:nvPr>
        </p:nvSpPr>
        <p:spPr/>
        <p:txBody>
          <a:bodyPr/>
          <a:lstStyle/>
          <a:p>
            <a:fld id="{70015CE2-DAFB-43F1-AC59-AF6548D4B1EA}" type="slidenum">
              <a:rPr lang="en-CA" smtClean="0"/>
              <a:t>27</a:t>
            </a:fld>
            <a:endParaRPr lang="en-CA"/>
          </a:p>
        </p:txBody>
      </p:sp>
    </p:spTree>
    <p:extLst>
      <p:ext uri="{BB962C8B-B14F-4D97-AF65-F5344CB8AC3E}">
        <p14:creationId xmlns:p14="http://schemas.microsoft.com/office/powerpoint/2010/main" val="121774259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1EAA81-23AF-6ECE-5840-69A85BDB6D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289A14-42D0-FC0F-91B6-35E0027049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59A5AD-9217-CF0B-514A-599A8A69B8CF}"/>
              </a:ext>
            </a:extLst>
          </p:cNvPr>
          <p:cNvSpPr>
            <a:spLocks noGrp="1"/>
          </p:cNvSpPr>
          <p:nvPr>
            <p:ph type="body" idx="1"/>
          </p:nvPr>
        </p:nvSpPr>
        <p:spPr/>
        <p:txBody>
          <a:bodyPr/>
          <a:lstStyle/>
          <a:p>
            <a:pPr>
              <a:buFont typeface="+mj-lt"/>
              <a:buNone/>
            </a:pPr>
            <a:endParaRPr lang="en-US" dirty="0"/>
          </a:p>
        </p:txBody>
      </p:sp>
      <p:sp>
        <p:nvSpPr>
          <p:cNvPr id="4" name="Slide Number Placeholder 3">
            <a:extLst>
              <a:ext uri="{FF2B5EF4-FFF2-40B4-BE49-F238E27FC236}">
                <a16:creationId xmlns:a16="http://schemas.microsoft.com/office/drawing/2014/main" id="{7AE4545D-2E97-DDF1-AAA6-97E216391934}"/>
              </a:ext>
            </a:extLst>
          </p:cNvPr>
          <p:cNvSpPr>
            <a:spLocks noGrp="1"/>
          </p:cNvSpPr>
          <p:nvPr>
            <p:ph type="sldNum" sz="quarter" idx="5"/>
          </p:nvPr>
        </p:nvSpPr>
        <p:spPr/>
        <p:txBody>
          <a:bodyPr/>
          <a:lstStyle/>
          <a:p>
            <a:fld id="{70015CE2-DAFB-43F1-AC59-AF6548D4B1EA}" type="slidenum">
              <a:rPr lang="en-CA" smtClean="0"/>
              <a:t>28</a:t>
            </a:fld>
            <a:endParaRPr lang="en-CA"/>
          </a:p>
        </p:txBody>
      </p:sp>
    </p:spTree>
    <p:extLst>
      <p:ext uri="{BB962C8B-B14F-4D97-AF65-F5344CB8AC3E}">
        <p14:creationId xmlns:p14="http://schemas.microsoft.com/office/powerpoint/2010/main" val="2414641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29BA71-B774-9A34-F809-6E7452B95C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8FA1B6-0072-CD63-9341-048C79F569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0DA1E0-BED5-A443-2F66-E0ACF255896C}"/>
              </a:ext>
            </a:extLst>
          </p:cNvPr>
          <p:cNvSpPr>
            <a:spLocks noGrp="1"/>
          </p:cNvSpPr>
          <p:nvPr>
            <p:ph type="body" idx="1"/>
          </p:nvPr>
        </p:nvSpPr>
        <p:spPr/>
        <p:txBody>
          <a:bodyPr/>
          <a:lstStyle/>
          <a:p>
            <a:pPr>
              <a:buFont typeface="+mj-lt"/>
              <a:buNone/>
            </a:pPr>
            <a:endParaRPr lang="en-US" dirty="0"/>
          </a:p>
        </p:txBody>
      </p:sp>
      <p:sp>
        <p:nvSpPr>
          <p:cNvPr id="4" name="Slide Number Placeholder 3">
            <a:extLst>
              <a:ext uri="{FF2B5EF4-FFF2-40B4-BE49-F238E27FC236}">
                <a16:creationId xmlns:a16="http://schemas.microsoft.com/office/drawing/2014/main" id="{74293274-3988-F666-A908-4267F258CB87}"/>
              </a:ext>
            </a:extLst>
          </p:cNvPr>
          <p:cNvSpPr>
            <a:spLocks noGrp="1"/>
          </p:cNvSpPr>
          <p:nvPr>
            <p:ph type="sldNum" sz="quarter" idx="5"/>
          </p:nvPr>
        </p:nvSpPr>
        <p:spPr/>
        <p:txBody>
          <a:bodyPr/>
          <a:lstStyle/>
          <a:p>
            <a:fld id="{70015CE2-DAFB-43F1-AC59-AF6548D4B1EA}" type="slidenum">
              <a:rPr lang="en-CA" smtClean="0"/>
              <a:t>29</a:t>
            </a:fld>
            <a:endParaRPr lang="en-CA"/>
          </a:p>
        </p:txBody>
      </p:sp>
    </p:spTree>
    <p:extLst>
      <p:ext uri="{BB962C8B-B14F-4D97-AF65-F5344CB8AC3E}">
        <p14:creationId xmlns:p14="http://schemas.microsoft.com/office/powerpoint/2010/main" val="39580639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9542A4-E511-8A69-8186-DD9CF3C6B9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402096-A678-B1E8-0E15-962126F85B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35C123-B2E7-D328-CA2C-6FF9F9EC6177}"/>
              </a:ext>
            </a:extLst>
          </p:cNvPr>
          <p:cNvSpPr>
            <a:spLocks noGrp="1"/>
          </p:cNvSpPr>
          <p:nvPr>
            <p:ph type="body" idx="1"/>
          </p:nvPr>
        </p:nvSpPr>
        <p:spPr/>
        <p:txBody>
          <a:bodyPr/>
          <a:lstStyle/>
          <a:p>
            <a:pPr>
              <a:buFont typeface="+mj-lt"/>
              <a:buNone/>
            </a:pPr>
            <a:endParaRPr lang="en-US" dirty="0"/>
          </a:p>
        </p:txBody>
      </p:sp>
      <p:sp>
        <p:nvSpPr>
          <p:cNvPr id="4" name="Slide Number Placeholder 3">
            <a:extLst>
              <a:ext uri="{FF2B5EF4-FFF2-40B4-BE49-F238E27FC236}">
                <a16:creationId xmlns:a16="http://schemas.microsoft.com/office/drawing/2014/main" id="{B9EFCF39-A673-4026-C920-2EBAA9B167E9}"/>
              </a:ext>
            </a:extLst>
          </p:cNvPr>
          <p:cNvSpPr>
            <a:spLocks noGrp="1"/>
          </p:cNvSpPr>
          <p:nvPr>
            <p:ph type="sldNum" sz="quarter" idx="5"/>
          </p:nvPr>
        </p:nvSpPr>
        <p:spPr/>
        <p:txBody>
          <a:bodyPr/>
          <a:lstStyle/>
          <a:p>
            <a:fld id="{70015CE2-DAFB-43F1-AC59-AF6548D4B1EA}" type="slidenum">
              <a:rPr lang="en-CA" smtClean="0"/>
              <a:t>30</a:t>
            </a:fld>
            <a:endParaRPr lang="en-CA"/>
          </a:p>
        </p:txBody>
      </p:sp>
    </p:spTree>
    <p:extLst>
      <p:ext uri="{BB962C8B-B14F-4D97-AF65-F5344CB8AC3E}">
        <p14:creationId xmlns:p14="http://schemas.microsoft.com/office/powerpoint/2010/main" val="118201534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1FEBE-A7A2-614A-CB79-7DA778566E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FCF9D2-B290-A28A-3104-370615C3AA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70C3D3-CE61-9879-D6D1-B5A0439B292C}"/>
              </a:ext>
            </a:extLst>
          </p:cNvPr>
          <p:cNvSpPr>
            <a:spLocks noGrp="1"/>
          </p:cNvSpPr>
          <p:nvPr>
            <p:ph type="body" idx="1"/>
          </p:nvPr>
        </p:nvSpPr>
        <p:spPr/>
        <p:txBody>
          <a:bodyPr/>
          <a:lstStyle/>
          <a:p>
            <a:pPr>
              <a:buNone/>
            </a:pPr>
            <a:r>
              <a:rPr lang="en-CA" b="1" dirty="0"/>
              <a:t>Diversify Content Portfolio:</a:t>
            </a:r>
            <a:r>
              <a:rPr lang="en-CA" dirty="0"/>
              <a:t> Integrate </a:t>
            </a:r>
            <a:r>
              <a:rPr lang="en-CA" dirty="0" err="1"/>
              <a:t>Jotstar’s</a:t>
            </a:r>
            <a:r>
              <a:rPr lang="en-CA" dirty="0"/>
              <a:t> regional content (Bengali, Gujarati, Punjabi) into </a:t>
            </a:r>
            <a:r>
              <a:rPr lang="en-CA" dirty="0" err="1"/>
              <a:t>LioCinema’s</a:t>
            </a:r>
            <a:r>
              <a:rPr lang="en-CA" dirty="0"/>
              <a:t> library.</a:t>
            </a:r>
          </a:p>
          <a:p>
            <a:pPr>
              <a:buNone/>
            </a:pPr>
            <a:endParaRPr lang="en-CA" dirty="0"/>
          </a:p>
          <a:p>
            <a:pPr>
              <a:buNone/>
            </a:pPr>
            <a:r>
              <a:rPr lang="en-CA" b="1" dirty="0"/>
              <a:t>Maximize User Retention:</a:t>
            </a:r>
            <a:r>
              <a:rPr lang="en-CA" dirty="0"/>
              <a:t> Leverage cross-platform marketing to retain high-engagement segments (</a:t>
            </a:r>
            <a:r>
              <a:rPr lang="en-CA" dirty="0" err="1"/>
              <a:t>Jotstar</a:t>
            </a:r>
            <a:r>
              <a:rPr lang="en-CA" dirty="0"/>
              <a:t>: 25-34, </a:t>
            </a:r>
            <a:r>
              <a:rPr lang="en-CA" dirty="0" err="1"/>
              <a:t>LioCinema</a:t>
            </a:r>
            <a:r>
              <a:rPr lang="en-CA" dirty="0"/>
              <a:t>: 18-24).</a:t>
            </a:r>
          </a:p>
          <a:p>
            <a:pPr>
              <a:buNone/>
            </a:pPr>
            <a:endParaRPr lang="en-CA" dirty="0"/>
          </a:p>
          <a:p>
            <a:pPr>
              <a:buNone/>
            </a:pPr>
            <a:r>
              <a:rPr lang="en-CA" b="1" dirty="0"/>
              <a:t>Reduce Inactivity:</a:t>
            </a:r>
            <a:r>
              <a:rPr lang="en-CA" dirty="0"/>
              <a:t> Implement personalized reactivation offers targeting inactive users, especially in Tier 1 cities.</a:t>
            </a:r>
          </a:p>
          <a:p>
            <a:pPr>
              <a:buNone/>
            </a:pPr>
            <a:endParaRPr lang="en-CA" dirty="0"/>
          </a:p>
          <a:p>
            <a:pPr>
              <a:buNone/>
            </a:pPr>
            <a:r>
              <a:rPr lang="en-CA" b="1" dirty="0"/>
              <a:t>Boost Upgrades &amp; Minimize Downgrades:</a:t>
            </a:r>
            <a:r>
              <a:rPr lang="en-CA" dirty="0"/>
              <a:t> Incentivize VIP-to-Premium upgrades on </a:t>
            </a:r>
            <a:r>
              <a:rPr lang="en-CA" dirty="0" err="1"/>
              <a:t>Jotstar</a:t>
            </a:r>
            <a:r>
              <a:rPr lang="en-CA" dirty="0"/>
              <a:t> and Basic-to-Premium on </a:t>
            </a:r>
            <a:r>
              <a:rPr lang="en-CA" dirty="0" err="1"/>
              <a:t>LioCinema</a:t>
            </a:r>
            <a:r>
              <a:rPr lang="en-CA" dirty="0"/>
              <a:t>.</a:t>
            </a:r>
          </a:p>
          <a:p>
            <a:pPr>
              <a:buFont typeface="+mj-lt"/>
              <a:buNone/>
            </a:pPr>
            <a:endParaRPr lang="en-US" dirty="0"/>
          </a:p>
        </p:txBody>
      </p:sp>
      <p:sp>
        <p:nvSpPr>
          <p:cNvPr id="4" name="Slide Number Placeholder 3">
            <a:extLst>
              <a:ext uri="{FF2B5EF4-FFF2-40B4-BE49-F238E27FC236}">
                <a16:creationId xmlns:a16="http://schemas.microsoft.com/office/drawing/2014/main" id="{A3F9C68F-1F3E-26B6-35B5-F884760F26E5}"/>
              </a:ext>
            </a:extLst>
          </p:cNvPr>
          <p:cNvSpPr>
            <a:spLocks noGrp="1"/>
          </p:cNvSpPr>
          <p:nvPr>
            <p:ph type="sldNum" sz="quarter" idx="5"/>
          </p:nvPr>
        </p:nvSpPr>
        <p:spPr/>
        <p:txBody>
          <a:bodyPr/>
          <a:lstStyle/>
          <a:p>
            <a:fld id="{70015CE2-DAFB-43F1-AC59-AF6548D4B1EA}" type="slidenum">
              <a:rPr lang="en-CA" smtClean="0"/>
              <a:t>31</a:t>
            </a:fld>
            <a:endParaRPr lang="en-CA"/>
          </a:p>
        </p:txBody>
      </p:sp>
    </p:spTree>
    <p:extLst>
      <p:ext uri="{BB962C8B-B14F-4D97-AF65-F5344CB8AC3E}">
        <p14:creationId xmlns:p14="http://schemas.microsoft.com/office/powerpoint/2010/main" val="279851438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D86A89-A7FD-366F-6824-CF9381E100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992D0A-7C31-FA61-1D40-1CC3D87579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74AA81-831E-3CF6-174F-A156C94CE253}"/>
              </a:ext>
            </a:extLst>
          </p:cNvPr>
          <p:cNvSpPr>
            <a:spLocks noGrp="1"/>
          </p:cNvSpPr>
          <p:nvPr>
            <p:ph type="body" idx="1"/>
          </p:nvPr>
        </p:nvSpPr>
        <p:spPr/>
        <p:txBody>
          <a:bodyPr/>
          <a:lstStyle/>
          <a:p>
            <a:pPr>
              <a:buNone/>
            </a:pPr>
            <a:r>
              <a:rPr lang="en-CA" b="1" dirty="0"/>
              <a:t>Enhance Revenue Streams:</a:t>
            </a:r>
            <a:r>
              <a:rPr lang="en-CA" dirty="0"/>
              <a:t> Mitigate </a:t>
            </a:r>
            <a:r>
              <a:rPr lang="en-CA" dirty="0" err="1"/>
              <a:t>LioCinema’s</a:t>
            </a:r>
            <a:r>
              <a:rPr lang="en-CA" dirty="0"/>
              <a:t> revenue loss from downgrades; convert </a:t>
            </a:r>
            <a:r>
              <a:rPr lang="en-CA" dirty="0" err="1"/>
              <a:t>Jotstar’s</a:t>
            </a:r>
            <a:r>
              <a:rPr lang="en-CA" dirty="0"/>
              <a:t> VIP users to Premium.</a:t>
            </a:r>
          </a:p>
          <a:p>
            <a:pPr>
              <a:buNone/>
            </a:pPr>
            <a:endParaRPr lang="en-CA" dirty="0"/>
          </a:p>
          <a:p>
            <a:pPr>
              <a:buNone/>
            </a:pPr>
            <a:r>
              <a:rPr lang="en-CA" b="1" dirty="0"/>
              <a:t>Synergize Platforms:</a:t>
            </a:r>
            <a:r>
              <a:rPr lang="en-CA" dirty="0"/>
              <a:t> Utilize </a:t>
            </a:r>
            <a:r>
              <a:rPr lang="en-CA" dirty="0" err="1"/>
              <a:t>LioCinema’s</a:t>
            </a:r>
            <a:r>
              <a:rPr lang="en-CA" dirty="0"/>
              <a:t> Tier 3 reach and </a:t>
            </a:r>
            <a:r>
              <a:rPr lang="en-CA" dirty="0" err="1"/>
              <a:t>Jotstar’s</a:t>
            </a:r>
            <a:r>
              <a:rPr lang="en-CA" dirty="0"/>
              <a:t> Tier 1 paid user base for holistic growth.</a:t>
            </a:r>
          </a:p>
          <a:p>
            <a:pPr>
              <a:buNone/>
            </a:pPr>
            <a:endParaRPr lang="en-CA" dirty="0"/>
          </a:p>
          <a:p>
            <a:r>
              <a:rPr lang="en-CA" b="1" dirty="0"/>
              <a:t>Continuous Performance Monitoring:</a:t>
            </a:r>
            <a:r>
              <a:rPr lang="en-CA" dirty="0"/>
              <a:t> Track engagement metrics and preferences to refine retention and content strategies.</a:t>
            </a:r>
          </a:p>
          <a:p>
            <a:pPr>
              <a:buFont typeface="+mj-lt"/>
              <a:buNone/>
            </a:pPr>
            <a:endParaRPr lang="en-US" dirty="0"/>
          </a:p>
        </p:txBody>
      </p:sp>
      <p:sp>
        <p:nvSpPr>
          <p:cNvPr id="4" name="Slide Number Placeholder 3">
            <a:extLst>
              <a:ext uri="{FF2B5EF4-FFF2-40B4-BE49-F238E27FC236}">
                <a16:creationId xmlns:a16="http://schemas.microsoft.com/office/drawing/2014/main" id="{7F786117-3B83-1E26-B800-E8CA848E400D}"/>
              </a:ext>
            </a:extLst>
          </p:cNvPr>
          <p:cNvSpPr>
            <a:spLocks noGrp="1"/>
          </p:cNvSpPr>
          <p:nvPr>
            <p:ph type="sldNum" sz="quarter" idx="5"/>
          </p:nvPr>
        </p:nvSpPr>
        <p:spPr/>
        <p:txBody>
          <a:bodyPr/>
          <a:lstStyle/>
          <a:p>
            <a:fld id="{70015CE2-DAFB-43F1-AC59-AF6548D4B1EA}" type="slidenum">
              <a:rPr lang="en-CA" smtClean="0"/>
              <a:t>32</a:t>
            </a:fld>
            <a:endParaRPr lang="en-CA"/>
          </a:p>
        </p:txBody>
      </p:sp>
    </p:spTree>
    <p:extLst>
      <p:ext uri="{BB962C8B-B14F-4D97-AF65-F5344CB8AC3E}">
        <p14:creationId xmlns:p14="http://schemas.microsoft.com/office/powerpoint/2010/main" val="28095835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11763843-C519-4D74-8C55-5FC7DC66C5BB}" type="slidenum">
              <a:rPr lang="en-CA" smtClean="0"/>
              <a:t>33</a:t>
            </a:fld>
            <a:endParaRPr lang="en-CA"/>
          </a:p>
        </p:txBody>
      </p:sp>
    </p:spTree>
    <p:extLst>
      <p:ext uri="{BB962C8B-B14F-4D97-AF65-F5344CB8AC3E}">
        <p14:creationId xmlns:p14="http://schemas.microsoft.com/office/powerpoint/2010/main" val="305397599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70015CE2-DAFB-43F1-AC59-AF6548D4B1EA}" type="slidenum">
              <a:rPr lang="en-CA" smtClean="0"/>
              <a:t>34</a:t>
            </a:fld>
            <a:endParaRPr lang="en-CA"/>
          </a:p>
        </p:txBody>
      </p:sp>
    </p:spTree>
    <p:extLst>
      <p:ext uri="{BB962C8B-B14F-4D97-AF65-F5344CB8AC3E}">
        <p14:creationId xmlns:p14="http://schemas.microsoft.com/office/powerpoint/2010/main" val="17435717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D6FBB-E458-C17F-66FF-60C7C4F0DC2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5BA276DF-6093-6974-C0D8-B9EF523C54E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98204ABE-6CB6-D6FD-819B-14D76B93B237}"/>
              </a:ext>
            </a:extLst>
          </p:cNvPr>
          <p:cNvSpPr>
            <a:spLocks noGrp="1"/>
          </p:cNvSpPr>
          <p:nvPr>
            <p:ph type="dt" sz="half" idx="10"/>
          </p:nvPr>
        </p:nvSpPr>
        <p:spPr/>
        <p:txBody>
          <a:bodyPr/>
          <a:lstStyle/>
          <a:p>
            <a:fld id="{EFAE1159-0F47-442B-BA22-142255E1B5C4}" type="datetimeFigureOut">
              <a:rPr lang="en-CA" smtClean="0"/>
              <a:t>2025-03-25</a:t>
            </a:fld>
            <a:endParaRPr lang="en-CA"/>
          </a:p>
        </p:txBody>
      </p:sp>
      <p:sp>
        <p:nvSpPr>
          <p:cNvPr id="5" name="Footer Placeholder 4">
            <a:extLst>
              <a:ext uri="{FF2B5EF4-FFF2-40B4-BE49-F238E27FC236}">
                <a16:creationId xmlns:a16="http://schemas.microsoft.com/office/drawing/2014/main" id="{74787653-8A4B-B5CB-555D-8FAD9DCC20FD}"/>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482BAE19-9115-0C68-ADD9-533AD2BE1202}"/>
              </a:ext>
            </a:extLst>
          </p:cNvPr>
          <p:cNvSpPr>
            <a:spLocks noGrp="1"/>
          </p:cNvSpPr>
          <p:nvPr>
            <p:ph type="sldNum" sz="quarter" idx="12"/>
          </p:nvPr>
        </p:nvSpPr>
        <p:spPr/>
        <p:txBody>
          <a:bodyPr/>
          <a:lstStyle/>
          <a:p>
            <a:fld id="{007BE226-0EDC-4853-A807-691C4D30FE09}" type="slidenum">
              <a:rPr lang="en-CA" smtClean="0"/>
              <a:t>‹#›</a:t>
            </a:fld>
            <a:endParaRPr lang="en-CA"/>
          </a:p>
        </p:txBody>
      </p:sp>
    </p:spTree>
    <p:extLst>
      <p:ext uri="{BB962C8B-B14F-4D97-AF65-F5344CB8AC3E}">
        <p14:creationId xmlns:p14="http://schemas.microsoft.com/office/powerpoint/2010/main" val="2971034121"/>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8703B-CA9B-EE07-52DB-0A81929C74A6}"/>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25C67DA7-37AA-60B2-9608-93DD06BDBCA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CBE2E7A4-7868-E0A8-3881-9006F5CD2A8F}"/>
              </a:ext>
            </a:extLst>
          </p:cNvPr>
          <p:cNvSpPr>
            <a:spLocks noGrp="1"/>
          </p:cNvSpPr>
          <p:nvPr>
            <p:ph type="dt" sz="half" idx="10"/>
          </p:nvPr>
        </p:nvSpPr>
        <p:spPr/>
        <p:txBody>
          <a:bodyPr/>
          <a:lstStyle/>
          <a:p>
            <a:fld id="{EFAE1159-0F47-442B-BA22-142255E1B5C4}" type="datetimeFigureOut">
              <a:rPr lang="en-CA" smtClean="0"/>
              <a:t>2025-03-25</a:t>
            </a:fld>
            <a:endParaRPr lang="en-CA"/>
          </a:p>
        </p:txBody>
      </p:sp>
      <p:sp>
        <p:nvSpPr>
          <p:cNvPr id="5" name="Footer Placeholder 4">
            <a:extLst>
              <a:ext uri="{FF2B5EF4-FFF2-40B4-BE49-F238E27FC236}">
                <a16:creationId xmlns:a16="http://schemas.microsoft.com/office/drawing/2014/main" id="{D7F80345-002C-6602-19BA-F5DFF194B6D3}"/>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1725487A-02F3-AB8E-921E-9A78395720DF}"/>
              </a:ext>
            </a:extLst>
          </p:cNvPr>
          <p:cNvSpPr>
            <a:spLocks noGrp="1"/>
          </p:cNvSpPr>
          <p:nvPr>
            <p:ph type="sldNum" sz="quarter" idx="12"/>
          </p:nvPr>
        </p:nvSpPr>
        <p:spPr/>
        <p:txBody>
          <a:bodyPr/>
          <a:lstStyle/>
          <a:p>
            <a:fld id="{007BE226-0EDC-4853-A807-691C4D30FE09}" type="slidenum">
              <a:rPr lang="en-CA" smtClean="0"/>
              <a:t>‹#›</a:t>
            </a:fld>
            <a:endParaRPr lang="en-CA"/>
          </a:p>
        </p:txBody>
      </p:sp>
    </p:spTree>
    <p:extLst>
      <p:ext uri="{BB962C8B-B14F-4D97-AF65-F5344CB8AC3E}">
        <p14:creationId xmlns:p14="http://schemas.microsoft.com/office/powerpoint/2010/main" val="3208486491"/>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15E56-B88E-B304-CAC8-FA021B0C71F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43873E73-FC33-DB11-9846-AEBB809DBF8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221DBC4-547A-0C2B-3EE3-DA88953FA913}"/>
              </a:ext>
            </a:extLst>
          </p:cNvPr>
          <p:cNvSpPr>
            <a:spLocks noGrp="1"/>
          </p:cNvSpPr>
          <p:nvPr>
            <p:ph type="dt" sz="half" idx="10"/>
          </p:nvPr>
        </p:nvSpPr>
        <p:spPr/>
        <p:txBody>
          <a:bodyPr/>
          <a:lstStyle/>
          <a:p>
            <a:fld id="{EFAE1159-0F47-442B-BA22-142255E1B5C4}" type="datetimeFigureOut">
              <a:rPr lang="en-CA" smtClean="0"/>
              <a:t>2025-03-25</a:t>
            </a:fld>
            <a:endParaRPr lang="en-CA"/>
          </a:p>
        </p:txBody>
      </p:sp>
      <p:sp>
        <p:nvSpPr>
          <p:cNvPr id="5" name="Footer Placeholder 4">
            <a:extLst>
              <a:ext uri="{FF2B5EF4-FFF2-40B4-BE49-F238E27FC236}">
                <a16:creationId xmlns:a16="http://schemas.microsoft.com/office/drawing/2014/main" id="{E2C292B5-4F5A-043A-BD81-440681D53BD6}"/>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9F594858-FB12-AC99-F55C-C814E69D98D3}"/>
              </a:ext>
            </a:extLst>
          </p:cNvPr>
          <p:cNvSpPr>
            <a:spLocks noGrp="1"/>
          </p:cNvSpPr>
          <p:nvPr>
            <p:ph type="sldNum" sz="quarter" idx="12"/>
          </p:nvPr>
        </p:nvSpPr>
        <p:spPr/>
        <p:txBody>
          <a:bodyPr/>
          <a:lstStyle/>
          <a:p>
            <a:fld id="{007BE226-0EDC-4853-A807-691C4D30FE09}" type="slidenum">
              <a:rPr lang="en-CA" smtClean="0"/>
              <a:t>‹#›</a:t>
            </a:fld>
            <a:endParaRPr lang="en-CA"/>
          </a:p>
        </p:txBody>
      </p:sp>
    </p:spTree>
    <p:extLst>
      <p:ext uri="{BB962C8B-B14F-4D97-AF65-F5344CB8AC3E}">
        <p14:creationId xmlns:p14="http://schemas.microsoft.com/office/powerpoint/2010/main" val="3681315249"/>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0DA69-E922-813B-0685-4597DF34D993}"/>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C03EF3BE-101C-F6C2-2F07-1C739199A35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01A4A203-3AAF-2F9F-91B1-EB5334FC8F8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38ADA03E-593D-DF79-7404-9F2FE7FAE8C9}"/>
              </a:ext>
            </a:extLst>
          </p:cNvPr>
          <p:cNvSpPr>
            <a:spLocks noGrp="1"/>
          </p:cNvSpPr>
          <p:nvPr>
            <p:ph type="dt" sz="half" idx="10"/>
          </p:nvPr>
        </p:nvSpPr>
        <p:spPr/>
        <p:txBody>
          <a:bodyPr/>
          <a:lstStyle/>
          <a:p>
            <a:fld id="{EFAE1159-0F47-442B-BA22-142255E1B5C4}" type="datetimeFigureOut">
              <a:rPr lang="en-CA" smtClean="0"/>
              <a:t>2025-03-25</a:t>
            </a:fld>
            <a:endParaRPr lang="en-CA"/>
          </a:p>
        </p:txBody>
      </p:sp>
      <p:sp>
        <p:nvSpPr>
          <p:cNvPr id="6" name="Footer Placeholder 5">
            <a:extLst>
              <a:ext uri="{FF2B5EF4-FFF2-40B4-BE49-F238E27FC236}">
                <a16:creationId xmlns:a16="http://schemas.microsoft.com/office/drawing/2014/main" id="{5DECB728-F781-879E-5C42-5DB9D13EADED}"/>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127FBC6C-DBA1-D02F-7695-90639AE02139}"/>
              </a:ext>
            </a:extLst>
          </p:cNvPr>
          <p:cNvSpPr>
            <a:spLocks noGrp="1"/>
          </p:cNvSpPr>
          <p:nvPr>
            <p:ph type="sldNum" sz="quarter" idx="12"/>
          </p:nvPr>
        </p:nvSpPr>
        <p:spPr/>
        <p:txBody>
          <a:bodyPr/>
          <a:lstStyle/>
          <a:p>
            <a:fld id="{007BE226-0EDC-4853-A807-691C4D30FE09}" type="slidenum">
              <a:rPr lang="en-CA" smtClean="0"/>
              <a:t>‹#›</a:t>
            </a:fld>
            <a:endParaRPr lang="en-CA"/>
          </a:p>
        </p:txBody>
      </p:sp>
    </p:spTree>
    <p:extLst>
      <p:ext uri="{BB962C8B-B14F-4D97-AF65-F5344CB8AC3E}">
        <p14:creationId xmlns:p14="http://schemas.microsoft.com/office/powerpoint/2010/main" val="128406733"/>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8686CE-041F-12B8-9E89-296202A7A6C8}"/>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E3C79663-50D3-F833-43D2-57EE5390829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B616869-2BC7-529F-3DDD-F74CA48D02E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E9C9BAF4-1B27-0360-ADFF-1D2CEB5B51A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31DAAED-6734-6D34-52D8-31BA5450791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C0FA667A-DA94-5218-5195-E2DE69FA30EC}"/>
              </a:ext>
            </a:extLst>
          </p:cNvPr>
          <p:cNvSpPr>
            <a:spLocks noGrp="1"/>
          </p:cNvSpPr>
          <p:nvPr>
            <p:ph type="dt" sz="half" idx="10"/>
          </p:nvPr>
        </p:nvSpPr>
        <p:spPr/>
        <p:txBody>
          <a:bodyPr/>
          <a:lstStyle/>
          <a:p>
            <a:fld id="{EFAE1159-0F47-442B-BA22-142255E1B5C4}" type="datetimeFigureOut">
              <a:rPr lang="en-CA" smtClean="0"/>
              <a:t>2025-03-25</a:t>
            </a:fld>
            <a:endParaRPr lang="en-CA"/>
          </a:p>
        </p:txBody>
      </p:sp>
      <p:sp>
        <p:nvSpPr>
          <p:cNvPr id="8" name="Footer Placeholder 7">
            <a:extLst>
              <a:ext uri="{FF2B5EF4-FFF2-40B4-BE49-F238E27FC236}">
                <a16:creationId xmlns:a16="http://schemas.microsoft.com/office/drawing/2014/main" id="{74175D29-8FE4-07CD-34BA-5428B526F30B}"/>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A1A1F23C-84CA-BF5F-C8B9-0DCD181F7CCB}"/>
              </a:ext>
            </a:extLst>
          </p:cNvPr>
          <p:cNvSpPr>
            <a:spLocks noGrp="1"/>
          </p:cNvSpPr>
          <p:nvPr>
            <p:ph type="sldNum" sz="quarter" idx="12"/>
          </p:nvPr>
        </p:nvSpPr>
        <p:spPr/>
        <p:txBody>
          <a:bodyPr/>
          <a:lstStyle/>
          <a:p>
            <a:fld id="{007BE226-0EDC-4853-A807-691C4D30FE09}" type="slidenum">
              <a:rPr lang="en-CA" smtClean="0"/>
              <a:t>‹#›</a:t>
            </a:fld>
            <a:endParaRPr lang="en-CA"/>
          </a:p>
        </p:txBody>
      </p:sp>
    </p:spTree>
    <p:extLst>
      <p:ext uri="{BB962C8B-B14F-4D97-AF65-F5344CB8AC3E}">
        <p14:creationId xmlns:p14="http://schemas.microsoft.com/office/powerpoint/2010/main" val="2710427869"/>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1F488-B01E-FFCA-CAC3-57431FA7595E}"/>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6CCCA090-AB49-C2FF-2F88-C69C244E95C6}"/>
              </a:ext>
            </a:extLst>
          </p:cNvPr>
          <p:cNvSpPr>
            <a:spLocks noGrp="1"/>
          </p:cNvSpPr>
          <p:nvPr>
            <p:ph type="dt" sz="half" idx="10"/>
          </p:nvPr>
        </p:nvSpPr>
        <p:spPr/>
        <p:txBody>
          <a:bodyPr/>
          <a:lstStyle/>
          <a:p>
            <a:fld id="{EFAE1159-0F47-442B-BA22-142255E1B5C4}" type="datetimeFigureOut">
              <a:rPr lang="en-CA" smtClean="0"/>
              <a:t>2025-03-25</a:t>
            </a:fld>
            <a:endParaRPr lang="en-CA"/>
          </a:p>
        </p:txBody>
      </p:sp>
      <p:sp>
        <p:nvSpPr>
          <p:cNvPr id="4" name="Footer Placeholder 3">
            <a:extLst>
              <a:ext uri="{FF2B5EF4-FFF2-40B4-BE49-F238E27FC236}">
                <a16:creationId xmlns:a16="http://schemas.microsoft.com/office/drawing/2014/main" id="{50FED704-83D7-0A85-EB87-48C1EB7ACEB4}"/>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C9979211-BAE1-9951-6702-F47D17067405}"/>
              </a:ext>
            </a:extLst>
          </p:cNvPr>
          <p:cNvSpPr>
            <a:spLocks noGrp="1"/>
          </p:cNvSpPr>
          <p:nvPr>
            <p:ph type="sldNum" sz="quarter" idx="12"/>
          </p:nvPr>
        </p:nvSpPr>
        <p:spPr/>
        <p:txBody>
          <a:bodyPr/>
          <a:lstStyle/>
          <a:p>
            <a:fld id="{007BE226-0EDC-4853-A807-691C4D30FE09}" type="slidenum">
              <a:rPr lang="en-CA" smtClean="0"/>
              <a:t>‹#›</a:t>
            </a:fld>
            <a:endParaRPr lang="en-CA"/>
          </a:p>
        </p:txBody>
      </p:sp>
    </p:spTree>
    <p:extLst>
      <p:ext uri="{BB962C8B-B14F-4D97-AF65-F5344CB8AC3E}">
        <p14:creationId xmlns:p14="http://schemas.microsoft.com/office/powerpoint/2010/main" val="3219398858"/>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0A3AA4B-45C0-1030-C009-9E5AEE2DFD55}"/>
              </a:ext>
            </a:extLst>
          </p:cNvPr>
          <p:cNvSpPr>
            <a:spLocks noGrp="1"/>
          </p:cNvSpPr>
          <p:nvPr>
            <p:ph type="dt" sz="half" idx="10"/>
          </p:nvPr>
        </p:nvSpPr>
        <p:spPr/>
        <p:txBody>
          <a:bodyPr/>
          <a:lstStyle/>
          <a:p>
            <a:fld id="{EFAE1159-0F47-442B-BA22-142255E1B5C4}" type="datetimeFigureOut">
              <a:rPr lang="en-CA" smtClean="0"/>
              <a:t>2025-03-25</a:t>
            </a:fld>
            <a:endParaRPr lang="en-CA"/>
          </a:p>
        </p:txBody>
      </p:sp>
      <p:sp>
        <p:nvSpPr>
          <p:cNvPr id="3" name="Footer Placeholder 2">
            <a:extLst>
              <a:ext uri="{FF2B5EF4-FFF2-40B4-BE49-F238E27FC236}">
                <a16:creationId xmlns:a16="http://schemas.microsoft.com/office/drawing/2014/main" id="{13C80E20-3233-78A0-3AF8-8851AA3FFB1D}"/>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248FBED9-C087-CF5F-C76B-306520B5280D}"/>
              </a:ext>
            </a:extLst>
          </p:cNvPr>
          <p:cNvSpPr>
            <a:spLocks noGrp="1"/>
          </p:cNvSpPr>
          <p:nvPr>
            <p:ph type="sldNum" sz="quarter" idx="12"/>
          </p:nvPr>
        </p:nvSpPr>
        <p:spPr/>
        <p:txBody>
          <a:bodyPr/>
          <a:lstStyle/>
          <a:p>
            <a:fld id="{007BE226-0EDC-4853-A807-691C4D30FE09}" type="slidenum">
              <a:rPr lang="en-CA" smtClean="0"/>
              <a:t>‹#›</a:t>
            </a:fld>
            <a:endParaRPr lang="en-CA"/>
          </a:p>
        </p:txBody>
      </p:sp>
    </p:spTree>
    <p:extLst>
      <p:ext uri="{BB962C8B-B14F-4D97-AF65-F5344CB8AC3E}">
        <p14:creationId xmlns:p14="http://schemas.microsoft.com/office/powerpoint/2010/main" val="2002317363"/>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E36F4-C9D9-CDA0-7A27-3084039A94D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8F495559-4924-AA4E-0622-6D348B74DC0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19A7D38E-935C-26C1-1CC0-BEBD34A1F7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198C89-C148-83CD-9E9A-13FA749A2CB1}"/>
              </a:ext>
            </a:extLst>
          </p:cNvPr>
          <p:cNvSpPr>
            <a:spLocks noGrp="1"/>
          </p:cNvSpPr>
          <p:nvPr>
            <p:ph type="dt" sz="half" idx="10"/>
          </p:nvPr>
        </p:nvSpPr>
        <p:spPr/>
        <p:txBody>
          <a:bodyPr/>
          <a:lstStyle/>
          <a:p>
            <a:fld id="{EFAE1159-0F47-442B-BA22-142255E1B5C4}" type="datetimeFigureOut">
              <a:rPr lang="en-CA" smtClean="0"/>
              <a:t>2025-03-25</a:t>
            </a:fld>
            <a:endParaRPr lang="en-CA"/>
          </a:p>
        </p:txBody>
      </p:sp>
      <p:sp>
        <p:nvSpPr>
          <p:cNvPr id="6" name="Footer Placeholder 5">
            <a:extLst>
              <a:ext uri="{FF2B5EF4-FFF2-40B4-BE49-F238E27FC236}">
                <a16:creationId xmlns:a16="http://schemas.microsoft.com/office/drawing/2014/main" id="{1CE67FEF-0697-FD4A-42F1-713ABDC58031}"/>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E6E39F9C-21BF-A625-63A3-8198AC4FDF82}"/>
              </a:ext>
            </a:extLst>
          </p:cNvPr>
          <p:cNvSpPr>
            <a:spLocks noGrp="1"/>
          </p:cNvSpPr>
          <p:nvPr>
            <p:ph type="sldNum" sz="quarter" idx="12"/>
          </p:nvPr>
        </p:nvSpPr>
        <p:spPr/>
        <p:txBody>
          <a:bodyPr/>
          <a:lstStyle/>
          <a:p>
            <a:fld id="{007BE226-0EDC-4853-A807-691C4D30FE09}" type="slidenum">
              <a:rPr lang="en-CA" smtClean="0"/>
              <a:t>‹#›</a:t>
            </a:fld>
            <a:endParaRPr lang="en-CA"/>
          </a:p>
        </p:txBody>
      </p:sp>
    </p:spTree>
    <p:extLst>
      <p:ext uri="{BB962C8B-B14F-4D97-AF65-F5344CB8AC3E}">
        <p14:creationId xmlns:p14="http://schemas.microsoft.com/office/powerpoint/2010/main" val="3701873023"/>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E3F54-4B3F-E8D1-BF24-AE6DF0890AC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DEF003E2-0B86-D6B6-530A-86223DB957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CA" dirty="0"/>
          </a:p>
        </p:txBody>
      </p:sp>
      <p:sp>
        <p:nvSpPr>
          <p:cNvPr id="4" name="Text Placeholder 3">
            <a:extLst>
              <a:ext uri="{FF2B5EF4-FFF2-40B4-BE49-F238E27FC236}">
                <a16:creationId xmlns:a16="http://schemas.microsoft.com/office/drawing/2014/main" id="{F36143FB-927A-F150-3062-ED933B505A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DDF677-844C-A9F0-9415-E2F1165B477E}"/>
              </a:ext>
            </a:extLst>
          </p:cNvPr>
          <p:cNvSpPr>
            <a:spLocks noGrp="1"/>
          </p:cNvSpPr>
          <p:nvPr>
            <p:ph type="dt" sz="half" idx="10"/>
          </p:nvPr>
        </p:nvSpPr>
        <p:spPr/>
        <p:txBody>
          <a:bodyPr/>
          <a:lstStyle/>
          <a:p>
            <a:fld id="{EFAE1159-0F47-442B-BA22-142255E1B5C4}" type="datetimeFigureOut">
              <a:rPr lang="en-CA" smtClean="0"/>
              <a:t>2025-03-25</a:t>
            </a:fld>
            <a:endParaRPr lang="en-CA"/>
          </a:p>
        </p:txBody>
      </p:sp>
      <p:sp>
        <p:nvSpPr>
          <p:cNvPr id="6" name="Footer Placeholder 5">
            <a:extLst>
              <a:ext uri="{FF2B5EF4-FFF2-40B4-BE49-F238E27FC236}">
                <a16:creationId xmlns:a16="http://schemas.microsoft.com/office/drawing/2014/main" id="{D0539ED4-A69C-75F0-9830-217B223D5553}"/>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B65C94D0-751C-441F-5A10-4EDA2DA857C8}"/>
              </a:ext>
            </a:extLst>
          </p:cNvPr>
          <p:cNvSpPr>
            <a:spLocks noGrp="1"/>
          </p:cNvSpPr>
          <p:nvPr>
            <p:ph type="sldNum" sz="quarter" idx="12"/>
          </p:nvPr>
        </p:nvSpPr>
        <p:spPr/>
        <p:txBody>
          <a:bodyPr/>
          <a:lstStyle/>
          <a:p>
            <a:fld id="{007BE226-0EDC-4853-A807-691C4D30FE09}" type="slidenum">
              <a:rPr lang="en-CA" smtClean="0"/>
              <a:t>‹#›</a:t>
            </a:fld>
            <a:endParaRPr lang="en-CA"/>
          </a:p>
        </p:txBody>
      </p:sp>
    </p:spTree>
    <p:extLst>
      <p:ext uri="{BB962C8B-B14F-4D97-AF65-F5344CB8AC3E}">
        <p14:creationId xmlns:p14="http://schemas.microsoft.com/office/powerpoint/2010/main" val="3902067729"/>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E1AC5-7847-E532-A891-549CE816D956}"/>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37B36C83-EADD-7925-578D-D01AB9260F5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53FB0D3C-B152-8E88-66B9-2BDE6107771F}"/>
              </a:ext>
            </a:extLst>
          </p:cNvPr>
          <p:cNvSpPr>
            <a:spLocks noGrp="1"/>
          </p:cNvSpPr>
          <p:nvPr>
            <p:ph type="dt" sz="half" idx="10"/>
          </p:nvPr>
        </p:nvSpPr>
        <p:spPr/>
        <p:txBody>
          <a:bodyPr/>
          <a:lstStyle/>
          <a:p>
            <a:fld id="{EFAE1159-0F47-442B-BA22-142255E1B5C4}" type="datetimeFigureOut">
              <a:rPr lang="en-CA" smtClean="0"/>
              <a:t>2025-03-25</a:t>
            </a:fld>
            <a:endParaRPr lang="en-CA"/>
          </a:p>
        </p:txBody>
      </p:sp>
      <p:sp>
        <p:nvSpPr>
          <p:cNvPr id="5" name="Footer Placeholder 4">
            <a:extLst>
              <a:ext uri="{FF2B5EF4-FFF2-40B4-BE49-F238E27FC236}">
                <a16:creationId xmlns:a16="http://schemas.microsoft.com/office/drawing/2014/main" id="{AAF63677-BD80-5787-C061-3F07F997F5B0}"/>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CECC2814-74F8-0322-E311-9584E530F32C}"/>
              </a:ext>
            </a:extLst>
          </p:cNvPr>
          <p:cNvSpPr>
            <a:spLocks noGrp="1"/>
          </p:cNvSpPr>
          <p:nvPr>
            <p:ph type="sldNum" sz="quarter" idx="12"/>
          </p:nvPr>
        </p:nvSpPr>
        <p:spPr/>
        <p:txBody>
          <a:bodyPr/>
          <a:lstStyle/>
          <a:p>
            <a:fld id="{007BE226-0EDC-4853-A807-691C4D30FE09}" type="slidenum">
              <a:rPr lang="en-CA" smtClean="0"/>
              <a:t>‹#›</a:t>
            </a:fld>
            <a:endParaRPr lang="en-CA"/>
          </a:p>
        </p:txBody>
      </p:sp>
    </p:spTree>
    <p:extLst>
      <p:ext uri="{BB962C8B-B14F-4D97-AF65-F5344CB8AC3E}">
        <p14:creationId xmlns:p14="http://schemas.microsoft.com/office/powerpoint/2010/main" val="4196913655"/>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F2B5E5F-F9E5-72D3-CBF9-3AADD1D6A15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71A9460F-41D6-C047-59E9-E723D2458BD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DB07F9D3-B8EC-1A2D-86CB-AF4DB4604882}"/>
              </a:ext>
            </a:extLst>
          </p:cNvPr>
          <p:cNvSpPr>
            <a:spLocks noGrp="1"/>
          </p:cNvSpPr>
          <p:nvPr>
            <p:ph type="dt" sz="half" idx="10"/>
          </p:nvPr>
        </p:nvSpPr>
        <p:spPr/>
        <p:txBody>
          <a:bodyPr/>
          <a:lstStyle/>
          <a:p>
            <a:fld id="{EFAE1159-0F47-442B-BA22-142255E1B5C4}" type="datetimeFigureOut">
              <a:rPr lang="en-CA" smtClean="0"/>
              <a:t>2025-03-25</a:t>
            </a:fld>
            <a:endParaRPr lang="en-CA"/>
          </a:p>
        </p:txBody>
      </p:sp>
      <p:sp>
        <p:nvSpPr>
          <p:cNvPr id="5" name="Footer Placeholder 4">
            <a:extLst>
              <a:ext uri="{FF2B5EF4-FFF2-40B4-BE49-F238E27FC236}">
                <a16:creationId xmlns:a16="http://schemas.microsoft.com/office/drawing/2014/main" id="{4D1FC812-3DCA-FDBB-0A3F-5A96EBC11AC2}"/>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E32B90EC-ACB4-FC09-B061-C39625279C0B}"/>
              </a:ext>
            </a:extLst>
          </p:cNvPr>
          <p:cNvSpPr>
            <a:spLocks noGrp="1"/>
          </p:cNvSpPr>
          <p:nvPr>
            <p:ph type="sldNum" sz="quarter" idx="12"/>
          </p:nvPr>
        </p:nvSpPr>
        <p:spPr/>
        <p:txBody>
          <a:bodyPr/>
          <a:lstStyle/>
          <a:p>
            <a:fld id="{007BE226-0EDC-4853-A807-691C4D30FE09}" type="slidenum">
              <a:rPr lang="en-CA" smtClean="0"/>
              <a:t>‹#›</a:t>
            </a:fld>
            <a:endParaRPr lang="en-CA"/>
          </a:p>
        </p:txBody>
      </p:sp>
    </p:spTree>
    <p:extLst>
      <p:ext uri="{BB962C8B-B14F-4D97-AF65-F5344CB8AC3E}">
        <p14:creationId xmlns:p14="http://schemas.microsoft.com/office/powerpoint/2010/main" val="1560267325"/>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C27E4FE-F484-47A9-824C-6C83E574264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10A5ACC1-E5B7-0914-375F-92CE51836D9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9537B5D8-AF34-B413-7089-D2DE65BC6D5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AE1159-0F47-442B-BA22-142255E1B5C4}" type="datetimeFigureOut">
              <a:rPr lang="en-CA" smtClean="0"/>
              <a:t>2025-03-25</a:t>
            </a:fld>
            <a:endParaRPr lang="en-CA"/>
          </a:p>
        </p:txBody>
      </p:sp>
      <p:sp>
        <p:nvSpPr>
          <p:cNvPr id="5" name="Footer Placeholder 4">
            <a:extLst>
              <a:ext uri="{FF2B5EF4-FFF2-40B4-BE49-F238E27FC236}">
                <a16:creationId xmlns:a16="http://schemas.microsoft.com/office/drawing/2014/main" id="{E6A2FEAB-C469-5FD7-56BC-8ABB07A7CF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Slide Number Placeholder 5">
            <a:extLst>
              <a:ext uri="{FF2B5EF4-FFF2-40B4-BE49-F238E27FC236}">
                <a16:creationId xmlns:a16="http://schemas.microsoft.com/office/drawing/2014/main" id="{ABC0CC61-700F-D22F-04E0-A21ECE2E537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7BE226-0EDC-4853-A807-691C4D30FE09}" type="slidenum">
              <a:rPr lang="en-CA" smtClean="0"/>
              <a:t>‹#›</a:t>
            </a:fld>
            <a:endParaRPr lang="en-CA"/>
          </a:p>
        </p:txBody>
      </p:sp>
    </p:spTree>
    <p:extLst>
      <p:ext uri="{BB962C8B-B14F-4D97-AF65-F5344CB8AC3E}">
        <p14:creationId xmlns:p14="http://schemas.microsoft.com/office/powerpoint/2010/main" val="56750633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notesSlide" Target="../notesSlides/notesSlide3.xml"/><Relationship Id="rId7" Type="http://schemas.microsoft.com/office/2007/relationships/hdphoto" Target="../media/hdphoto2.wdp"/><Relationship Id="rId2" Type="http://schemas.openxmlformats.org/officeDocument/2006/relationships/slideLayout" Target="../slideLayouts/slideLayout7.xml"/><Relationship Id="rId1" Type="http://schemas.openxmlformats.org/officeDocument/2006/relationships/tags" Target="../tags/tag3.xml"/><Relationship Id="rId6" Type="http://schemas.openxmlformats.org/officeDocument/2006/relationships/image" Target="../media/image6.png"/><Relationship Id="rId5" Type="http://schemas.microsoft.com/office/2007/relationships/hdphoto" Target="../media/hdphoto1.wdp"/><Relationship Id="rId4" Type="http://schemas.openxmlformats.org/officeDocument/2006/relationships/image" Target="../media/image5.png"/><Relationship Id="rId9" Type="http://schemas.microsoft.com/office/2007/relationships/hdphoto" Target="../media/hdphoto3.wdp"/></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4.xml"/><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notesSlide" Target="../notesSlides/notesSlide6.xml"/><Relationship Id="rId7" Type="http://schemas.openxmlformats.org/officeDocument/2006/relationships/image" Target="../media/image13.png"/><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notesSlide" Target="../notesSlides/notesSlide7.xml"/><Relationship Id="rId7" Type="http://schemas.openxmlformats.org/officeDocument/2006/relationships/image" Target="../media/image13.png"/><Relationship Id="rId2" Type="http://schemas.openxmlformats.org/officeDocument/2006/relationships/slideLayout" Target="../slideLayouts/slideLayout2.xml"/><Relationship Id="rId1" Type="http://schemas.openxmlformats.org/officeDocument/2006/relationships/tags" Target="../tags/tag6.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7"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7.xml"/><Relationship Id="rId6" Type="http://schemas.openxmlformats.org/officeDocument/2006/relationships/image" Target="../media/image4.png"/><Relationship Id="rId5" Type="http://schemas.openxmlformats.org/officeDocument/2006/relationships/image" Target="../media/image14.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7"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8.xml"/><Relationship Id="rId6" Type="http://schemas.openxmlformats.org/officeDocument/2006/relationships/image" Target="../media/image4.png"/><Relationship Id="rId5" Type="http://schemas.openxmlformats.org/officeDocument/2006/relationships/image" Target="../media/image15.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7"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9.xml"/><Relationship Id="rId6" Type="http://schemas.openxmlformats.org/officeDocument/2006/relationships/image" Target="../media/image4.png"/><Relationship Id="rId5" Type="http://schemas.openxmlformats.org/officeDocument/2006/relationships/image" Target="../media/image16.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7"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10.xml"/><Relationship Id="rId6" Type="http://schemas.openxmlformats.org/officeDocument/2006/relationships/image" Target="../media/image4.png"/><Relationship Id="rId5" Type="http://schemas.openxmlformats.org/officeDocument/2006/relationships/image" Target="../media/image17.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7"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tags" Target="../tags/tag11.xml"/><Relationship Id="rId6" Type="http://schemas.openxmlformats.org/officeDocument/2006/relationships/image" Target="../media/image18.png"/><Relationship Id="rId5" Type="http://schemas.openxmlformats.org/officeDocument/2006/relationships/image" Target="../media/image3.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7"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12.xml"/><Relationship Id="rId6" Type="http://schemas.openxmlformats.org/officeDocument/2006/relationships/image" Target="../media/image4.png"/><Relationship Id="rId5" Type="http://schemas.openxmlformats.org/officeDocument/2006/relationships/image" Target="../media/image19.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7"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tags" Target="../tags/tag13.xml"/><Relationship Id="rId6" Type="http://schemas.openxmlformats.org/officeDocument/2006/relationships/image" Target="../media/image20.png"/><Relationship Id="rId5" Type="http://schemas.openxmlformats.org/officeDocument/2006/relationships/image" Target="../media/image3.pn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notesSlide" Target="../notesSlides/notesSlide15.xml"/><Relationship Id="rId7"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tags" Target="../tags/tag14.xml"/><Relationship Id="rId6" Type="http://schemas.openxmlformats.org/officeDocument/2006/relationships/image" Target="../media/image3.png"/><Relationship Id="rId5" Type="http://schemas.openxmlformats.org/officeDocument/2006/relationships/image" Target="../media/image21.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5.xml"/><Relationship Id="rId6" Type="http://schemas.openxmlformats.org/officeDocument/2006/relationships/image" Target="../media/image3.png"/><Relationship Id="rId5" Type="http://schemas.openxmlformats.org/officeDocument/2006/relationships/image" Target="../media/image23.png"/><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16.xml"/><Relationship Id="rId6" Type="http://schemas.openxmlformats.org/officeDocument/2006/relationships/image" Target="../media/image4.png"/><Relationship Id="rId5" Type="http://schemas.openxmlformats.org/officeDocument/2006/relationships/image" Target="../media/image23.png"/><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20.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22.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tags" Target="../tags/tag23.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tags" Target="../tags/tag24.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tags" Target="../tags/tag25.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tags" Target="../tags/tag26.xml"/></Relationships>
</file>

<file path=ppt/slides/_rels/slide30.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notesSlide" Target="../notesSlides/notesSlide28.xml"/><Relationship Id="rId7" Type="http://schemas.openxmlformats.org/officeDocument/2006/relationships/image" Target="../media/image27.png"/><Relationship Id="rId2" Type="http://schemas.openxmlformats.org/officeDocument/2006/relationships/slideLayout" Target="../slideLayouts/slideLayout2.xml"/><Relationship Id="rId1" Type="http://schemas.openxmlformats.org/officeDocument/2006/relationships/tags" Target="../tags/tag27.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tags" Target="../tags/tag28.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tags" Target="../tags/tag29.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7.xml"/><Relationship Id="rId1" Type="http://schemas.openxmlformats.org/officeDocument/2006/relationships/tags" Target="../tags/tag30.xml"/><Relationship Id="rId6" Type="http://schemas.openxmlformats.org/officeDocument/2006/relationships/image" Target="../media/image2.png"/><Relationship Id="rId5" Type="http://schemas.openxmlformats.org/officeDocument/2006/relationships/image" Target="../media/image30.png"/><Relationship Id="rId4" Type="http://schemas.openxmlformats.org/officeDocument/2006/relationships/image" Target="../media/image29.png"/></Relationships>
</file>

<file path=ppt/slides/_rels/slide3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2.xml"/><Relationship Id="rId1" Type="http://schemas.openxmlformats.org/officeDocument/2006/relationships/slideLayout" Target="../slideLayouts/slideLayout7.xml"/><Relationship Id="rId4"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E25A60-4525-A9F2-B0DA-0D65BA9CC436}"/>
            </a:ext>
          </a:extLst>
        </p:cNvPr>
        <p:cNvGrpSpPr/>
        <p:nvPr/>
      </p:nvGrpSpPr>
      <p:grpSpPr>
        <a:xfrm>
          <a:off x="0" y="0"/>
          <a:ext cx="0" cy="0"/>
          <a:chOff x="0" y="0"/>
          <a:chExt cx="0" cy="0"/>
        </a:xfrm>
      </p:grpSpPr>
      <p:pic>
        <p:nvPicPr>
          <p:cNvPr id="5" name="Picture 4" descr="A white text on a black background&#10;&#10;Description automatically generated">
            <a:extLst>
              <a:ext uri="{FF2B5EF4-FFF2-40B4-BE49-F238E27FC236}">
                <a16:creationId xmlns:a16="http://schemas.microsoft.com/office/drawing/2014/main" id="{8A89961E-41F8-3F72-3B72-7F07C3F5303E}"/>
              </a:ext>
            </a:extLst>
          </p:cNvPr>
          <p:cNvPicPr>
            <a:picLocks noChangeAspect="1"/>
          </p:cNvPicPr>
          <p:nvPr/>
        </p:nvPicPr>
        <p:blipFill rotWithShape="1">
          <a:blip r:embed="rId4">
            <a:extLst>
              <a:ext uri="{28A0092B-C50C-407E-A947-70E740481C1C}">
                <a14:useLocalDpi xmlns:a14="http://schemas.microsoft.com/office/drawing/2010/main" val="0"/>
              </a:ext>
            </a:extLst>
          </a:blip>
          <a:srcRect l="12849" t="32365" r="10272" b="30986"/>
          <a:stretch/>
        </p:blipFill>
        <p:spPr>
          <a:xfrm>
            <a:off x="5462361" y="683324"/>
            <a:ext cx="1093459" cy="521251"/>
          </a:xfrm>
          <a:prstGeom prst="rect">
            <a:avLst/>
          </a:prstGeom>
        </p:spPr>
      </p:pic>
      <p:sp>
        <p:nvSpPr>
          <p:cNvPr id="9" name="TextBox 8">
            <a:extLst>
              <a:ext uri="{FF2B5EF4-FFF2-40B4-BE49-F238E27FC236}">
                <a16:creationId xmlns:a16="http://schemas.microsoft.com/office/drawing/2014/main" id="{8E1C9A21-965C-B768-F005-2685BB562912}"/>
              </a:ext>
            </a:extLst>
          </p:cNvPr>
          <p:cNvSpPr txBox="1"/>
          <p:nvPr/>
        </p:nvSpPr>
        <p:spPr>
          <a:xfrm>
            <a:off x="2544017" y="4423067"/>
            <a:ext cx="7103961" cy="977447"/>
          </a:xfrm>
          <a:prstGeom prst="rect">
            <a:avLst/>
          </a:prstGeom>
          <a:noFill/>
        </p:spPr>
        <p:txBody>
          <a:bodyPr wrap="square">
            <a:spAutoFit/>
          </a:bodyPr>
          <a:lstStyle/>
          <a:p>
            <a:pPr algn="ctr">
              <a:lnSpc>
                <a:spcPct val="150000"/>
              </a:lnSpc>
            </a:pPr>
            <a:r>
              <a:rPr lang="en-CA" sz="2400" b="1" dirty="0" err="1">
                <a:solidFill>
                  <a:schemeClr val="bg1"/>
                </a:solidFill>
                <a:latin typeface="Aptos (Body)"/>
              </a:rPr>
              <a:t>Codebasics</a:t>
            </a:r>
            <a:r>
              <a:rPr lang="en-CA" sz="2400" b="1" dirty="0">
                <a:solidFill>
                  <a:schemeClr val="bg1"/>
                </a:solidFill>
                <a:latin typeface="Aptos (Body)"/>
              </a:rPr>
              <a:t> Resume Project Challenge #14</a:t>
            </a:r>
          </a:p>
          <a:p>
            <a:pPr algn="ctr">
              <a:lnSpc>
                <a:spcPct val="150000"/>
              </a:lnSpc>
            </a:pPr>
            <a:r>
              <a:rPr lang="en-US" sz="1600" b="0" i="0" dirty="0">
                <a:solidFill>
                  <a:schemeClr val="bg1"/>
                </a:solidFill>
                <a:effectLst/>
                <a:latin typeface="Manrope"/>
              </a:rPr>
              <a:t>[ Insights for a Strategic Merger in the OTT Domain ]</a:t>
            </a:r>
            <a:endParaRPr lang="en-CA" sz="1600" dirty="0">
              <a:solidFill>
                <a:schemeClr val="bg1"/>
              </a:solidFill>
            </a:endParaRPr>
          </a:p>
        </p:txBody>
      </p:sp>
      <p:sp>
        <p:nvSpPr>
          <p:cNvPr id="10" name="Subtitle 2">
            <a:extLst>
              <a:ext uri="{FF2B5EF4-FFF2-40B4-BE49-F238E27FC236}">
                <a16:creationId xmlns:a16="http://schemas.microsoft.com/office/drawing/2014/main" id="{EB26CE40-BDD2-6566-B648-5F248F8A0539}"/>
              </a:ext>
            </a:extLst>
          </p:cNvPr>
          <p:cNvSpPr txBox="1">
            <a:spLocks/>
          </p:cNvSpPr>
          <p:nvPr/>
        </p:nvSpPr>
        <p:spPr>
          <a:xfrm>
            <a:off x="1524000" y="5853225"/>
            <a:ext cx="9144000" cy="46166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CA" sz="1800" b="1" dirty="0">
                <a:solidFill>
                  <a:schemeClr val="bg1"/>
                </a:solidFill>
              </a:rPr>
              <a:t>SMIT RANA</a:t>
            </a:r>
          </a:p>
        </p:txBody>
      </p:sp>
      <p:grpSp>
        <p:nvGrpSpPr>
          <p:cNvPr id="12" name="Group 11">
            <a:extLst>
              <a:ext uri="{FF2B5EF4-FFF2-40B4-BE49-F238E27FC236}">
                <a16:creationId xmlns:a16="http://schemas.microsoft.com/office/drawing/2014/main" id="{10B2DB47-9DB7-24CF-CABB-AAD65568080D}"/>
              </a:ext>
            </a:extLst>
          </p:cNvPr>
          <p:cNvGrpSpPr/>
          <p:nvPr/>
        </p:nvGrpSpPr>
        <p:grpSpPr>
          <a:xfrm>
            <a:off x="4221011" y="1943447"/>
            <a:ext cx="3576158" cy="2026910"/>
            <a:chOff x="4221011" y="2126327"/>
            <a:chExt cx="3576158" cy="2026910"/>
          </a:xfrm>
        </p:grpSpPr>
        <p:pic>
          <p:nvPicPr>
            <p:cNvPr id="6" name="Picture 5" descr="A white text on a black background&#10;&#10;AI-generated content may be incorrect.">
              <a:extLst>
                <a:ext uri="{FF2B5EF4-FFF2-40B4-BE49-F238E27FC236}">
                  <a16:creationId xmlns:a16="http://schemas.microsoft.com/office/drawing/2014/main" id="{DF27A940-12F8-E307-B506-CB6CCBE7A09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96596" y="2126327"/>
              <a:ext cx="2598805" cy="793286"/>
            </a:xfrm>
            <a:prstGeom prst="rect">
              <a:avLst/>
            </a:prstGeom>
          </p:spPr>
        </p:pic>
        <p:pic>
          <p:nvPicPr>
            <p:cNvPr id="8" name="Picture 7" descr="A black and white logo&#10;&#10;AI-generated content may be incorrect.">
              <a:extLst>
                <a:ext uri="{FF2B5EF4-FFF2-40B4-BE49-F238E27FC236}">
                  <a16:creationId xmlns:a16="http://schemas.microsoft.com/office/drawing/2014/main" id="{4E1F5F62-76BF-5B4A-B3EE-7ED9BDE9000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221011" y="3280884"/>
              <a:ext cx="3576158" cy="872353"/>
            </a:xfrm>
            <a:prstGeom prst="rect">
              <a:avLst/>
            </a:prstGeom>
          </p:spPr>
        </p:pic>
        <p:sp>
          <p:nvSpPr>
            <p:cNvPr id="11" name="Subtitle 2">
              <a:extLst>
                <a:ext uri="{FF2B5EF4-FFF2-40B4-BE49-F238E27FC236}">
                  <a16:creationId xmlns:a16="http://schemas.microsoft.com/office/drawing/2014/main" id="{718675FF-142E-2642-9D2E-F767613CF1BE}"/>
                </a:ext>
              </a:extLst>
            </p:cNvPr>
            <p:cNvSpPr txBox="1">
              <a:spLocks/>
            </p:cNvSpPr>
            <p:nvPr/>
          </p:nvSpPr>
          <p:spPr>
            <a:xfrm>
              <a:off x="5795730" y="2858895"/>
              <a:ext cx="513629" cy="46166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CA" sz="4000" b="1" dirty="0">
                  <a:solidFill>
                    <a:schemeClr val="bg1"/>
                  </a:solidFill>
                </a:rPr>
                <a:t>+</a:t>
              </a:r>
            </a:p>
          </p:txBody>
        </p:sp>
      </p:grpSp>
    </p:spTree>
    <p:custDataLst>
      <p:tags r:id="rId1"/>
    </p:custDataLst>
    <p:extLst>
      <p:ext uri="{BB962C8B-B14F-4D97-AF65-F5344CB8AC3E}">
        <p14:creationId xmlns:p14="http://schemas.microsoft.com/office/powerpoint/2010/main" val="428292536"/>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020156-8AA4-186D-5379-B0E515A2B63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4F907F9-C102-8923-235A-184F798C9D87}"/>
              </a:ext>
            </a:extLst>
          </p:cNvPr>
          <p:cNvSpPr txBox="1"/>
          <p:nvPr/>
        </p:nvSpPr>
        <p:spPr>
          <a:xfrm>
            <a:off x="-1601165" y="1228397"/>
            <a:ext cx="15394329" cy="4401205"/>
          </a:xfrm>
          <a:prstGeom prst="rect">
            <a:avLst/>
          </a:prstGeom>
          <a:noFill/>
        </p:spPr>
        <p:txBody>
          <a:bodyPr wrap="square" rtlCol="0">
            <a:spAutoFit/>
          </a:bodyPr>
          <a:lstStyle/>
          <a:p>
            <a:pPr algn="ctr"/>
            <a:r>
              <a:rPr lang="en-CA" sz="28000" b="1" dirty="0">
                <a:solidFill>
                  <a:srgbClr val="1E1E36"/>
                </a:solidFill>
              </a:rPr>
              <a:t>AGENDA</a:t>
            </a:r>
          </a:p>
        </p:txBody>
      </p:sp>
      <p:sp>
        <p:nvSpPr>
          <p:cNvPr id="3" name="TextBox 2">
            <a:extLst>
              <a:ext uri="{FF2B5EF4-FFF2-40B4-BE49-F238E27FC236}">
                <a16:creationId xmlns:a16="http://schemas.microsoft.com/office/drawing/2014/main" id="{AE4CCCF2-63B8-8062-2DA7-C8316B9DAC3C}"/>
              </a:ext>
            </a:extLst>
          </p:cNvPr>
          <p:cNvSpPr txBox="1"/>
          <p:nvPr/>
        </p:nvSpPr>
        <p:spPr>
          <a:xfrm>
            <a:off x="2111976" y="1587886"/>
            <a:ext cx="7968046" cy="3682226"/>
          </a:xfrm>
          <a:prstGeom prst="rect">
            <a:avLst/>
          </a:prstGeom>
          <a:noFill/>
        </p:spPr>
        <p:txBody>
          <a:bodyPr wrap="square" rtlCol="0">
            <a:spAutoFit/>
          </a:bodyPr>
          <a:lstStyle/>
          <a:p>
            <a:pPr algn="ctr">
              <a:lnSpc>
                <a:spcPct val="200000"/>
              </a:lnSpc>
            </a:pPr>
            <a:r>
              <a:rPr lang="en-CA" sz="2400" b="1" dirty="0">
                <a:solidFill>
                  <a:schemeClr val="bg1"/>
                </a:solidFill>
              </a:rPr>
              <a:t>Understanding Problem</a:t>
            </a:r>
          </a:p>
          <a:p>
            <a:pPr algn="ctr">
              <a:lnSpc>
                <a:spcPct val="200000"/>
              </a:lnSpc>
            </a:pPr>
            <a:r>
              <a:rPr lang="en-CA" sz="2400" b="1" dirty="0">
                <a:solidFill>
                  <a:schemeClr val="bg1"/>
                </a:solidFill>
              </a:rPr>
              <a:t>Data Model </a:t>
            </a:r>
          </a:p>
          <a:p>
            <a:pPr algn="ctr">
              <a:lnSpc>
                <a:spcPct val="200000"/>
              </a:lnSpc>
            </a:pPr>
            <a:r>
              <a:rPr lang="en-CA" sz="2400" b="1" dirty="0">
                <a:solidFill>
                  <a:schemeClr val="bg1"/>
                </a:solidFill>
              </a:rPr>
              <a:t>Primary Questions</a:t>
            </a:r>
          </a:p>
          <a:p>
            <a:pPr algn="ctr">
              <a:lnSpc>
                <a:spcPct val="200000"/>
              </a:lnSpc>
            </a:pPr>
            <a:r>
              <a:rPr lang="en-CA" sz="2400" b="1" dirty="0">
                <a:solidFill>
                  <a:schemeClr val="bg1"/>
                </a:solidFill>
              </a:rPr>
              <a:t>Further Analysis &amp; Recommendations</a:t>
            </a:r>
          </a:p>
          <a:p>
            <a:pPr algn="ctr">
              <a:lnSpc>
                <a:spcPct val="200000"/>
              </a:lnSpc>
            </a:pPr>
            <a:r>
              <a:rPr lang="en-CA" sz="2400" b="1" dirty="0">
                <a:solidFill>
                  <a:schemeClr val="bg1"/>
                </a:solidFill>
              </a:rPr>
              <a:t> Strategic Recommendations for Lio-</a:t>
            </a:r>
            <a:r>
              <a:rPr lang="en-CA" sz="2400" b="1" dirty="0" err="1">
                <a:solidFill>
                  <a:schemeClr val="bg1"/>
                </a:solidFill>
              </a:rPr>
              <a:t>Jotstar</a:t>
            </a:r>
            <a:r>
              <a:rPr lang="en-CA" sz="2400" b="1" dirty="0">
                <a:solidFill>
                  <a:schemeClr val="bg1"/>
                </a:solidFill>
              </a:rPr>
              <a:t> Merger</a:t>
            </a:r>
          </a:p>
        </p:txBody>
      </p:sp>
    </p:spTree>
    <p:custDataLst>
      <p:tags r:id="rId1"/>
    </p:custDataLst>
    <p:extLst>
      <p:ext uri="{BB962C8B-B14F-4D97-AF65-F5344CB8AC3E}">
        <p14:creationId xmlns:p14="http://schemas.microsoft.com/office/powerpoint/2010/main" val="4180661323"/>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B1C8DF99-D590-F6F6-5525-D86B1E44FCCB}"/>
              </a:ext>
            </a:extLst>
          </p:cNvPr>
          <p:cNvSpPr txBox="1"/>
          <p:nvPr/>
        </p:nvSpPr>
        <p:spPr>
          <a:xfrm>
            <a:off x="597879" y="2303589"/>
            <a:ext cx="1517401" cy="1862048"/>
          </a:xfrm>
          <a:prstGeom prst="rect">
            <a:avLst/>
          </a:prstGeom>
          <a:noFill/>
        </p:spPr>
        <p:txBody>
          <a:bodyPr wrap="square" rtlCol="0">
            <a:spAutoFit/>
          </a:bodyPr>
          <a:lstStyle/>
          <a:p>
            <a:r>
              <a:rPr lang="en-US" sz="11500" b="1" dirty="0">
                <a:solidFill>
                  <a:schemeClr val="bg1"/>
                </a:solidFill>
              </a:rPr>
              <a:t>W</a:t>
            </a:r>
            <a:endParaRPr lang="en-CA" sz="11500" b="1" dirty="0">
              <a:solidFill>
                <a:schemeClr val="bg1"/>
              </a:solidFill>
            </a:endParaRPr>
          </a:p>
        </p:txBody>
      </p:sp>
      <p:sp>
        <p:nvSpPr>
          <p:cNvPr id="14" name="TextBox 13">
            <a:extLst>
              <a:ext uri="{FF2B5EF4-FFF2-40B4-BE49-F238E27FC236}">
                <a16:creationId xmlns:a16="http://schemas.microsoft.com/office/drawing/2014/main" id="{1388DA10-20D3-924C-FD31-86F9F2DBC7CE}"/>
              </a:ext>
            </a:extLst>
          </p:cNvPr>
          <p:cNvSpPr txBox="1"/>
          <p:nvPr/>
        </p:nvSpPr>
        <p:spPr>
          <a:xfrm>
            <a:off x="2115282" y="2633475"/>
            <a:ext cx="909589" cy="461665"/>
          </a:xfrm>
          <a:prstGeom prst="rect">
            <a:avLst/>
          </a:prstGeom>
          <a:noFill/>
        </p:spPr>
        <p:txBody>
          <a:bodyPr wrap="square">
            <a:spAutoFit/>
          </a:bodyPr>
          <a:lstStyle/>
          <a:p>
            <a:r>
              <a:rPr lang="en-US" sz="2400" b="1" dirty="0">
                <a:solidFill>
                  <a:schemeClr val="bg1"/>
                </a:solidFill>
              </a:rPr>
              <a:t>HY</a:t>
            </a:r>
          </a:p>
        </p:txBody>
      </p:sp>
      <p:sp>
        <p:nvSpPr>
          <p:cNvPr id="23" name="TextBox 22">
            <a:extLst>
              <a:ext uri="{FF2B5EF4-FFF2-40B4-BE49-F238E27FC236}">
                <a16:creationId xmlns:a16="http://schemas.microsoft.com/office/drawing/2014/main" id="{E693EFAD-4F3D-1B53-4B3B-007DCD650600}"/>
              </a:ext>
            </a:extLst>
          </p:cNvPr>
          <p:cNvSpPr txBox="1"/>
          <p:nvPr/>
        </p:nvSpPr>
        <p:spPr>
          <a:xfrm>
            <a:off x="2115282" y="3003780"/>
            <a:ext cx="909589" cy="461665"/>
          </a:xfrm>
          <a:prstGeom prst="rect">
            <a:avLst/>
          </a:prstGeom>
          <a:noFill/>
        </p:spPr>
        <p:txBody>
          <a:bodyPr wrap="square">
            <a:spAutoFit/>
          </a:bodyPr>
          <a:lstStyle/>
          <a:p>
            <a:r>
              <a:rPr lang="en-US" sz="2400" b="1" dirty="0">
                <a:solidFill>
                  <a:schemeClr val="bg1"/>
                </a:solidFill>
              </a:rPr>
              <a:t>HAT </a:t>
            </a:r>
          </a:p>
        </p:txBody>
      </p:sp>
      <p:sp>
        <p:nvSpPr>
          <p:cNvPr id="24" name="TextBox 23">
            <a:extLst>
              <a:ext uri="{FF2B5EF4-FFF2-40B4-BE49-F238E27FC236}">
                <a16:creationId xmlns:a16="http://schemas.microsoft.com/office/drawing/2014/main" id="{06CAF2DB-A259-AB71-77B0-CCEABEA4E82A}"/>
              </a:ext>
            </a:extLst>
          </p:cNvPr>
          <p:cNvSpPr txBox="1"/>
          <p:nvPr/>
        </p:nvSpPr>
        <p:spPr>
          <a:xfrm>
            <a:off x="2115281" y="3353875"/>
            <a:ext cx="909589" cy="461665"/>
          </a:xfrm>
          <a:prstGeom prst="rect">
            <a:avLst/>
          </a:prstGeom>
          <a:noFill/>
        </p:spPr>
        <p:txBody>
          <a:bodyPr wrap="square">
            <a:spAutoFit/>
          </a:bodyPr>
          <a:lstStyle/>
          <a:p>
            <a:r>
              <a:rPr lang="en-US" sz="2400" b="1" dirty="0">
                <a:solidFill>
                  <a:schemeClr val="bg1"/>
                </a:solidFill>
              </a:rPr>
              <a:t>AYS </a:t>
            </a:r>
          </a:p>
        </p:txBody>
      </p:sp>
      <p:pic>
        <p:nvPicPr>
          <p:cNvPr id="25" name="Picture 24">
            <a:extLst>
              <a:ext uri="{FF2B5EF4-FFF2-40B4-BE49-F238E27FC236}">
                <a16:creationId xmlns:a16="http://schemas.microsoft.com/office/drawing/2014/main" id="{A428E6C2-ED5D-90F1-2A76-A2E3DF904272}"/>
              </a:ext>
            </a:extLst>
          </p:cNvPr>
          <p:cNvPicPr>
            <a:picLocks noChangeAspect="1" noChangeArrowheads="1"/>
          </p:cNvPicPr>
          <p:nvPr/>
        </p:nvPicPr>
        <p:blipFill>
          <a:blip r:embed="rId4">
            <a:duotone>
              <a:schemeClr val="bg2">
                <a:shade val="45000"/>
                <a:satMod val="135000"/>
              </a:schemeClr>
              <a:prstClr val="white"/>
            </a:duotone>
            <a:extLst>
              <a:ext uri="{BEBA8EAE-BF5A-486C-A8C5-ECC9F3942E4B}">
                <a14:imgProps xmlns:a14="http://schemas.microsoft.com/office/drawing/2010/main">
                  <a14:imgLayer r:embed="rId5">
                    <a14:imgEffect>
                      <a14:artisticChalkSketch/>
                    </a14:imgEffect>
                  </a14:imgLayer>
                </a14:imgProps>
              </a:ext>
              <a:ext uri="{28A0092B-C50C-407E-A947-70E740481C1C}">
                <a14:useLocalDpi xmlns:a14="http://schemas.microsoft.com/office/drawing/2010/main" val="0"/>
              </a:ext>
            </a:extLst>
          </a:blip>
          <a:srcRect/>
          <a:stretch>
            <a:fillRect/>
          </a:stretch>
        </p:blipFill>
        <p:spPr bwMode="auto">
          <a:xfrm rot="550709">
            <a:off x="2793395" y="1413450"/>
            <a:ext cx="1179972" cy="1316837"/>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6">
            <a:extLst>
              <a:ext uri="{FF2B5EF4-FFF2-40B4-BE49-F238E27FC236}">
                <a16:creationId xmlns:a16="http://schemas.microsoft.com/office/drawing/2014/main" id="{18F6B42E-D255-03CF-98FA-39E953D12054}"/>
              </a:ext>
            </a:extLst>
          </p:cNvPr>
          <p:cNvPicPr>
            <a:picLocks noChangeAspect="1" noChangeArrowheads="1"/>
          </p:cNvPicPr>
          <p:nvPr/>
        </p:nvPicPr>
        <p:blipFill>
          <a:blip r:embed="rId6">
            <a:duotone>
              <a:schemeClr val="bg2">
                <a:shade val="45000"/>
                <a:satMod val="135000"/>
              </a:schemeClr>
              <a:prstClr val="white"/>
            </a:duotone>
            <a:extLst>
              <a:ext uri="{BEBA8EAE-BF5A-486C-A8C5-ECC9F3942E4B}">
                <a14:imgProps xmlns:a14="http://schemas.microsoft.com/office/drawing/2010/main">
                  <a14:imgLayer r:embed="rId7">
                    <a14:imgEffect>
                      <a14:artisticChalkSketch/>
                    </a14:imgEffect>
                  </a14:imgLayer>
                </a14:imgProps>
              </a:ext>
              <a:ext uri="{28A0092B-C50C-407E-A947-70E740481C1C}">
                <a14:useLocalDpi xmlns:a14="http://schemas.microsoft.com/office/drawing/2010/main" val="0"/>
              </a:ext>
            </a:extLst>
          </a:blip>
          <a:srcRect/>
          <a:stretch>
            <a:fillRect/>
          </a:stretch>
        </p:blipFill>
        <p:spPr bwMode="auto">
          <a:xfrm rot="4704564" flipV="1">
            <a:off x="2319711" y="3944179"/>
            <a:ext cx="1683072" cy="1268486"/>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7">
            <a:extLst>
              <a:ext uri="{FF2B5EF4-FFF2-40B4-BE49-F238E27FC236}">
                <a16:creationId xmlns:a16="http://schemas.microsoft.com/office/drawing/2014/main" id="{15816851-77AA-6A46-D287-61559CEE8D4D}"/>
              </a:ext>
            </a:extLst>
          </p:cNvPr>
          <p:cNvPicPr>
            <a:picLocks noChangeAspect="1" noChangeArrowheads="1"/>
          </p:cNvPicPr>
          <p:nvPr/>
        </p:nvPicPr>
        <p:blipFill>
          <a:blip r:embed="rId8">
            <a:duotone>
              <a:schemeClr val="bg2">
                <a:shade val="45000"/>
                <a:satMod val="135000"/>
              </a:schemeClr>
              <a:prstClr val="white"/>
            </a:duotone>
            <a:extLst>
              <a:ext uri="{BEBA8EAE-BF5A-486C-A8C5-ECC9F3942E4B}">
                <a14:imgProps xmlns:a14="http://schemas.microsoft.com/office/drawing/2010/main">
                  <a14:imgLayer r:embed="rId9">
                    <a14:imgEffect>
                      <a14:artisticChalkSketch/>
                    </a14:imgEffect>
                  </a14:imgLayer>
                </a14:imgProps>
              </a:ext>
              <a:ext uri="{28A0092B-C50C-407E-A947-70E740481C1C}">
                <a14:useLocalDpi xmlns:a14="http://schemas.microsoft.com/office/drawing/2010/main" val="0"/>
              </a:ext>
            </a:extLst>
          </a:blip>
          <a:srcRect/>
          <a:stretch>
            <a:fillRect/>
          </a:stretch>
        </p:blipFill>
        <p:spPr bwMode="auto">
          <a:xfrm rot="1975454" flipH="1">
            <a:off x="2944474" y="3035205"/>
            <a:ext cx="1091438" cy="566860"/>
          </a:xfrm>
          <a:prstGeom prst="rect">
            <a:avLst/>
          </a:prstGeom>
          <a:noFill/>
          <a:extLst>
            <a:ext uri="{909E8E84-426E-40DD-AFC4-6F175D3DCCD1}">
              <a14:hiddenFill xmlns:a14="http://schemas.microsoft.com/office/drawing/2010/main">
                <a:solidFill>
                  <a:srgbClr val="FFFFFF"/>
                </a:solidFill>
              </a14:hiddenFill>
            </a:ext>
          </a:extLst>
        </p:spPr>
      </p:pic>
      <p:sp>
        <p:nvSpPr>
          <p:cNvPr id="30" name="TextBox 29">
            <a:extLst>
              <a:ext uri="{FF2B5EF4-FFF2-40B4-BE49-F238E27FC236}">
                <a16:creationId xmlns:a16="http://schemas.microsoft.com/office/drawing/2014/main" id="{1ED5FE3D-0F0D-C991-00DC-54F2124D1AD6}"/>
              </a:ext>
            </a:extLst>
          </p:cNvPr>
          <p:cNvSpPr txBox="1"/>
          <p:nvPr/>
        </p:nvSpPr>
        <p:spPr>
          <a:xfrm>
            <a:off x="369277" y="305587"/>
            <a:ext cx="11467123" cy="523220"/>
          </a:xfrm>
          <a:prstGeom prst="rect">
            <a:avLst/>
          </a:prstGeom>
          <a:noFill/>
        </p:spPr>
        <p:txBody>
          <a:bodyPr wrap="square">
            <a:spAutoFit/>
          </a:bodyPr>
          <a:lstStyle/>
          <a:p>
            <a:pPr algn="ctr"/>
            <a:r>
              <a:rPr lang="en-US" sz="2800" b="1" dirty="0">
                <a:solidFill>
                  <a:schemeClr val="bg1"/>
                </a:solidFill>
                <a:latin typeface="Aptos (Body)"/>
              </a:rPr>
              <a:t>Why, What and Ways</a:t>
            </a:r>
            <a:endParaRPr lang="en-CA" sz="2800" b="1" dirty="0">
              <a:solidFill>
                <a:schemeClr val="bg1"/>
              </a:solidFill>
              <a:latin typeface="Aptos (Body)"/>
            </a:endParaRPr>
          </a:p>
        </p:txBody>
      </p:sp>
      <p:grpSp>
        <p:nvGrpSpPr>
          <p:cNvPr id="2" name="Group 1">
            <a:extLst>
              <a:ext uri="{FF2B5EF4-FFF2-40B4-BE49-F238E27FC236}">
                <a16:creationId xmlns:a16="http://schemas.microsoft.com/office/drawing/2014/main" id="{10EFEAC3-ABA2-E4E0-57BD-768955EBF339}"/>
              </a:ext>
            </a:extLst>
          </p:cNvPr>
          <p:cNvGrpSpPr/>
          <p:nvPr/>
        </p:nvGrpSpPr>
        <p:grpSpPr>
          <a:xfrm>
            <a:off x="4070838" y="1048474"/>
            <a:ext cx="7095393" cy="1329484"/>
            <a:chOff x="4070838" y="1048474"/>
            <a:chExt cx="7095393" cy="1329484"/>
          </a:xfrm>
        </p:grpSpPr>
        <p:sp>
          <p:nvSpPr>
            <p:cNvPr id="16" name="TextBox 15">
              <a:extLst>
                <a:ext uri="{FF2B5EF4-FFF2-40B4-BE49-F238E27FC236}">
                  <a16:creationId xmlns:a16="http://schemas.microsoft.com/office/drawing/2014/main" id="{2BE7DD12-5CF9-51D3-5961-33F55010821B}"/>
                </a:ext>
              </a:extLst>
            </p:cNvPr>
            <p:cNvSpPr txBox="1"/>
            <p:nvPr/>
          </p:nvSpPr>
          <p:spPr>
            <a:xfrm>
              <a:off x="4070838" y="1454628"/>
              <a:ext cx="7095393" cy="923330"/>
            </a:xfrm>
            <a:prstGeom prst="rect">
              <a:avLst/>
            </a:prstGeom>
            <a:noFill/>
          </p:spPr>
          <p:txBody>
            <a:bodyPr wrap="square">
              <a:spAutoFit/>
            </a:bodyPr>
            <a:lstStyle/>
            <a:p>
              <a:pPr algn="ctr"/>
              <a:r>
                <a:rPr lang="en-US" dirty="0">
                  <a:solidFill>
                    <a:schemeClr val="bg1"/>
                  </a:solidFill>
                </a:rPr>
                <a:t>Lio plans to merge with </a:t>
              </a:r>
              <a:r>
                <a:rPr lang="en-US" dirty="0" err="1">
                  <a:solidFill>
                    <a:schemeClr val="bg1"/>
                  </a:solidFill>
                </a:rPr>
                <a:t>Jotstar</a:t>
              </a:r>
              <a:r>
                <a:rPr lang="en-US" dirty="0">
                  <a:solidFill>
                    <a:schemeClr val="bg1"/>
                  </a:solidFill>
                </a:rPr>
                <a:t> to combine its subscriber base with </a:t>
              </a:r>
              <a:r>
                <a:rPr lang="en-US" dirty="0" err="1">
                  <a:solidFill>
                    <a:schemeClr val="bg1"/>
                  </a:solidFill>
                </a:rPr>
                <a:t>Jotstar’s</a:t>
              </a:r>
              <a:r>
                <a:rPr lang="en-US" dirty="0">
                  <a:solidFill>
                    <a:schemeClr val="bg1"/>
                  </a:solidFill>
                </a:rPr>
                <a:t> content library, aiming to dominate the Indian OTT market. Data-driven insights are needed to optimize post-merger strategies.</a:t>
              </a:r>
              <a:endParaRPr lang="en-CA" dirty="0">
                <a:solidFill>
                  <a:schemeClr val="bg1"/>
                </a:solidFill>
              </a:endParaRPr>
            </a:p>
          </p:txBody>
        </p:sp>
        <p:sp>
          <p:nvSpPr>
            <p:cNvPr id="3" name="TextBox 2">
              <a:extLst>
                <a:ext uri="{FF2B5EF4-FFF2-40B4-BE49-F238E27FC236}">
                  <a16:creationId xmlns:a16="http://schemas.microsoft.com/office/drawing/2014/main" id="{FC12CE5A-89E5-6F21-E793-8A991BD8B4DD}"/>
                </a:ext>
              </a:extLst>
            </p:cNvPr>
            <p:cNvSpPr txBox="1"/>
            <p:nvPr/>
          </p:nvSpPr>
          <p:spPr>
            <a:xfrm>
              <a:off x="8432800" y="1048474"/>
              <a:ext cx="2573020" cy="369332"/>
            </a:xfrm>
            <a:prstGeom prst="rect">
              <a:avLst/>
            </a:prstGeom>
            <a:noFill/>
          </p:spPr>
          <p:txBody>
            <a:bodyPr wrap="square">
              <a:spAutoFit/>
            </a:bodyPr>
            <a:lstStyle/>
            <a:p>
              <a:pPr algn="ctr"/>
              <a:r>
                <a:rPr lang="en-CA" dirty="0">
                  <a:solidFill>
                    <a:schemeClr val="bg1"/>
                  </a:solidFill>
                </a:rPr>
                <a:t>(The Need for Analysis)</a:t>
              </a:r>
            </a:p>
          </p:txBody>
        </p:sp>
      </p:grpSp>
      <p:grpSp>
        <p:nvGrpSpPr>
          <p:cNvPr id="4" name="Group 3">
            <a:extLst>
              <a:ext uri="{FF2B5EF4-FFF2-40B4-BE49-F238E27FC236}">
                <a16:creationId xmlns:a16="http://schemas.microsoft.com/office/drawing/2014/main" id="{B2236E7A-3859-DD8C-A927-A872D98E669B}"/>
              </a:ext>
            </a:extLst>
          </p:cNvPr>
          <p:cNvGrpSpPr/>
          <p:nvPr/>
        </p:nvGrpSpPr>
        <p:grpSpPr>
          <a:xfrm>
            <a:off x="4070838" y="2734410"/>
            <a:ext cx="7095393" cy="1263621"/>
            <a:chOff x="4070838" y="2734410"/>
            <a:chExt cx="7095393" cy="1263621"/>
          </a:xfrm>
        </p:grpSpPr>
        <p:sp>
          <p:nvSpPr>
            <p:cNvPr id="18" name="TextBox 17">
              <a:extLst>
                <a:ext uri="{FF2B5EF4-FFF2-40B4-BE49-F238E27FC236}">
                  <a16:creationId xmlns:a16="http://schemas.microsoft.com/office/drawing/2014/main" id="{F4C2C819-35D5-D500-4D4F-BA7192E41F9C}"/>
                </a:ext>
              </a:extLst>
            </p:cNvPr>
            <p:cNvSpPr txBox="1"/>
            <p:nvPr/>
          </p:nvSpPr>
          <p:spPr>
            <a:xfrm>
              <a:off x="4070838" y="3074701"/>
              <a:ext cx="7095393" cy="923330"/>
            </a:xfrm>
            <a:prstGeom prst="rect">
              <a:avLst/>
            </a:prstGeom>
            <a:noFill/>
          </p:spPr>
          <p:txBody>
            <a:bodyPr wrap="square">
              <a:spAutoFit/>
            </a:bodyPr>
            <a:lstStyle/>
            <a:p>
              <a:pPr algn="ctr"/>
              <a:r>
                <a:rPr lang="en-US" dirty="0">
                  <a:solidFill>
                    <a:schemeClr val="bg1"/>
                  </a:solidFill>
                </a:rPr>
                <a:t>The analysis covers subscriber trends, content engagement, inactivity patterns, and subscription upgrades/downgrades to understand platform performance.</a:t>
              </a:r>
              <a:endParaRPr lang="en-CA" dirty="0">
                <a:solidFill>
                  <a:schemeClr val="bg1"/>
                </a:solidFill>
              </a:endParaRPr>
            </a:p>
          </p:txBody>
        </p:sp>
        <p:sp>
          <p:nvSpPr>
            <p:cNvPr id="5" name="TextBox 4">
              <a:extLst>
                <a:ext uri="{FF2B5EF4-FFF2-40B4-BE49-F238E27FC236}">
                  <a16:creationId xmlns:a16="http://schemas.microsoft.com/office/drawing/2014/main" id="{D0FC7820-A8BF-A424-5131-0394D5C3D00B}"/>
                </a:ext>
              </a:extLst>
            </p:cNvPr>
            <p:cNvSpPr txBox="1"/>
            <p:nvPr/>
          </p:nvSpPr>
          <p:spPr>
            <a:xfrm>
              <a:off x="8290560" y="2734410"/>
              <a:ext cx="2509520" cy="369332"/>
            </a:xfrm>
            <a:prstGeom prst="rect">
              <a:avLst/>
            </a:prstGeom>
            <a:noFill/>
          </p:spPr>
          <p:txBody>
            <a:bodyPr wrap="square">
              <a:spAutoFit/>
            </a:bodyPr>
            <a:lstStyle/>
            <a:p>
              <a:pPr algn="ctr"/>
              <a:r>
                <a:rPr lang="en-CA" dirty="0">
                  <a:solidFill>
                    <a:schemeClr val="bg1"/>
                  </a:solidFill>
                </a:rPr>
                <a:t>(Key Areas of Analysis)</a:t>
              </a:r>
            </a:p>
          </p:txBody>
        </p:sp>
      </p:grpSp>
      <p:grpSp>
        <p:nvGrpSpPr>
          <p:cNvPr id="6" name="Group 5">
            <a:extLst>
              <a:ext uri="{FF2B5EF4-FFF2-40B4-BE49-F238E27FC236}">
                <a16:creationId xmlns:a16="http://schemas.microsoft.com/office/drawing/2014/main" id="{C217B705-0611-5B66-8D92-4C6F2397905E}"/>
              </a:ext>
            </a:extLst>
          </p:cNvPr>
          <p:cNvGrpSpPr/>
          <p:nvPr/>
        </p:nvGrpSpPr>
        <p:grpSpPr>
          <a:xfrm>
            <a:off x="4070838" y="4554251"/>
            <a:ext cx="7095393" cy="1292662"/>
            <a:chOff x="4070838" y="4554251"/>
            <a:chExt cx="7095393" cy="1292662"/>
          </a:xfrm>
        </p:grpSpPr>
        <p:sp>
          <p:nvSpPr>
            <p:cNvPr id="20" name="TextBox 19">
              <a:extLst>
                <a:ext uri="{FF2B5EF4-FFF2-40B4-BE49-F238E27FC236}">
                  <a16:creationId xmlns:a16="http://schemas.microsoft.com/office/drawing/2014/main" id="{E8B8B400-A9EF-DCF4-95DA-A0B6F018E52A}"/>
                </a:ext>
              </a:extLst>
            </p:cNvPr>
            <p:cNvSpPr txBox="1"/>
            <p:nvPr/>
          </p:nvSpPr>
          <p:spPr>
            <a:xfrm>
              <a:off x="4070838" y="4923583"/>
              <a:ext cx="7095393" cy="923330"/>
            </a:xfrm>
            <a:prstGeom prst="rect">
              <a:avLst/>
            </a:prstGeom>
            <a:noFill/>
          </p:spPr>
          <p:txBody>
            <a:bodyPr wrap="square">
              <a:spAutoFit/>
            </a:bodyPr>
            <a:lstStyle/>
            <a:p>
              <a:pPr algn="ctr"/>
              <a:r>
                <a:rPr lang="en-US" dirty="0">
                  <a:solidFill>
                    <a:schemeClr val="bg1"/>
                  </a:solidFill>
                </a:rPr>
                <a:t>By integrating data, tracking key metrics, and using Power BI visualizations, actionable insights will be derived to enhance user retention and content strategy.</a:t>
              </a:r>
              <a:endParaRPr lang="en-CA" dirty="0">
                <a:solidFill>
                  <a:schemeClr val="bg1"/>
                </a:solidFill>
              </a:endParaRPr>
            </a:p>
          </p:txBody>
        </p:sp>
        <p:sp>
          <p:nvSpPr>
            <p:cNvPr id="7" name="TextBox 6">
              <a:extLst>
                <a:ext uri="{FF2B5EF4-FFF2-40B4-BE49-F238E27FC236}">
                  <a16:creationId xmlns:a16="http://schemas.microsoft.com/office/drawing/2014/main" id="{798E3C43-EDF7-BE80-B64F-DD0C70BDBBBA}"/>
                </a:ext>
              </a:extLst>
            </p:cNvPr>
            <p:cNvSpPr txBox="1"/>
            <p:nvPr/>
          </p:nvSpPr>
          <p:spPr>
            <a:xfrm>
              <a:off x="7909560" y="4554251"/>
              <a:ext cx="3096260" cy="369332"/>
            </a:xfrm>
            <a:prstGeom prst="rect">
              <a:avLst/>
            </a:prstGeom>
            <a:noFill/>
          </p:spPr>
          <p:txBody>
            <a:bodyPr wrap="square">
              <a:spAutoFit/>
            </a:bodyPr>
            <a:lstStyle/>
            <a:p>
              <a:pPr algn="ctr"/>
              <a:r>
                <a:rPr lang="en-CA" dirty="0">
                  <a:solidFill>
                    <a:schemeClr val="bg1"/>
                  </a:solidFill>
                </a:rPr>
                <a:t>(</a:t>
              </a:r>
              <a:r>
                <a:rPr lang="en-US" dirty="0">
                  <a:solidFill>
                    <a:schemeClr val="bg1"/>
                  </a:solidFill>
                </a:rPr>
                <a:t>How to Conduct the Analysis</a:t>
              </a:r>
              <a:r>
                <a:rPr lang="en-CA" dirty="0">
                  <a:solidFill>
                    <a:schemeClr val="bg1"/>
                  </a:solidFill>
                </a:rPr>
                <a:t>)</a:t>
              </a:r>
            </a:p>
          </p:txBody>
        </p:sp>
      </p:grpSp>
    </p:spTree>
    <p:custDataLst>
      <p:tags r:id="rId1"/>
    </p:custDataLst>
    <p:extLst>
      <p:ext uri="{BB962C8B-B14F-4D97-AF65-F5344CB8AC3E}">
        <p14:creationId xmlns:p14="http://schemas.microsoft.com/office/powerpoint/2010/main" val="3179575326"/>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1000"/>
                                        <p:tgtEl>
                                          <p:spTgt spid="30"/>
                                        </p:tgtEl>
                                      </p:cBhvr>
                                    </p:animEffect>
                                    <p:anim calcmode="lin" valueType="num">
                                      <p:cBhvr>
                                        <p:cTn id="8" dur="1000" fill="hold"/>
                                        <p:tgtEl>
                                          <p:spTgt spid="30"/>
                                        </p:tgtEl>
                                        <p:attrNameLst>
                                          <p:attrName>ppt_x</p:attrName>
                                        </p:attrNameLst>
                                      </p:cBhvr>
                                      <p:tavLst>
                                        <p:tav tm="0">
                                          <p:val>
                                            <p:strVal val="#ppt_x"/>
                                          </p:val>
                                        </p:tav>
                                        <p:tav tm="100000">
                                          <p:val>
                                            <p:strVal val="#ppt_x"/>
                                          </p:val>
                                        </p:tav>
                                      </p:tavLst>
                                    </p:anim>
                                    <p:anim calcmode="lin" valueType="num">
                                      <p:cBhvr>
                                        <p:cTn id="9"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12"/>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wipe(left)">
                                      <p:cBhvr>
                                        <p:cTn id="23" dur="500"/>
                                        <p:tgtEl>
                                          <p:spTgt spid="2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wipe(left)">
                                      <p:cBhvr>
                                        <p:cTn id="28" dur="500"/>
                                        <p:tgtEl>
                                          <p:spTgt spid="2"/>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fade">
                                      <p:cBhvr>
                                        <p:cTn id="33" dur="500"/>
                                        <p:tgtEl>
                                          <p:spTgt spid="23"/>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28"/>
                                        </p:tgtEl>
                                        <p:attrNameLst>
                                          <p:attrName>style.visibility</p:attrName>
                                        </p:attrNameLst>
                                      </p:cBhvr>
                                      <p:to>
                                        <p:strVal val="visible"/>
                                      </p:to>
                                    </p:set>
                                    <p:animEffect transition="in" filter="wipe(left)">
                                      <p:cBhvr>
                                        <p:cTn id="38" dur="500"/>
                                        <p:tgtEl>
                                          <p:spTgt spid="28"/>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4"/>
                                        </p:tgtEl>
                                        <p:attrNameLst>
                                          <p:attrName>style.visibility</p:attrName>
                                        </p:attrNameLst>
                                      </p:cBhvr>
                                      <p:to>
                                        <p:strVal val="visible"/>
                                      </p:to>
                                    </p:set>
                                    <p:animEffect transition="in" filter="wipe(left)">
                                      <p:cBhvr>
                                        <p:cTn id="43" dur="500"/>
                                        <p:tgtEl>
                                          <p:spTgt spid="4"/>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24"/>
                                        </p:tgtEl>
                                        <p:attrNameLst>
                                          <p:attrName>style.visibility</p:attrName>
                                        </p:attrNameLst>
                                      </p:cBhvr>
                                      <p:to>
                                        <p:strVal val="visible"/>
                                      </p:to>
                                    </p:set>
                                    <p:animEffect transition="in" filter="fade">
                                      <p:cBhvr>
                                        <p:cTn id="48" dur="500"/>
                                        <p:tgtEl>
                                          <p:spTgt spid="24"/>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1" fill="hold" nodeType="clickEffect">
                                  <p:stCondLst>
                                    <p:cond delay="0"/>
                                  </p:stCondLst>
                                  <p:childTnLst>
                                    <p:set>
                                      <p:cBhvr>
                                        <p:cTn id="52" dur="1" fill="hold">
                                          <p:stCondLst>
                                            <p:cond delay="0"/>
                                          </p:stCondLst>
                                        </p:cTn>
                                        <p:tgtEl>
                                          <p:spTgt spid="27"/>
                                        </p:tgtEl>
                                        <p:attrNameLst>
                                          <p:attrName>style.visibility</p:attrName>
                                        </p:attrNameLst>
                                      </p:cBhvr>
                                      <p:to>
                                        <p:strVal val="visible"/>
                                      </p:to>
                                    </p:set>
                                    <p:animEffect transition="in" filter="wipe(up)">
                                      <p:cBhvr>
                                        <p:cTn id="53" dur="500"/>
                                        <p:tgtEl>
                                          <p:spTgt spid="27"/>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6"/>
                                        </p:tgtEl>
                                        <p:attrNameLst>
                                          <p:attrName>style.visibility</p:attrName>
                                        </p:attrNameLst>
                                      </p:cBhvr>
                                      <p:to>
                                        <p:strVal val="visible"/>
                                      </p:to>
                                    </p:set>
                                    <p:animEffect transition="in" filter="wipe(left)">
                                      <p:cBhvr>
                                        <p:cTn id="5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p:bldP spid="23" grpId="0"/>
      <p:bldP spid="24" grpId="0"/>
      <p:bldP spid="30"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333333"/>
        </a:solidFill>
        <a:effectLst/>
      </p:bgPr>
    </p:bg>
    <p:spTree>
      <p:nvGrpSpPr>
        <p:cNvPr id="1" name=""/>
        <p:cNvGrpSpPr/>
        <p:nvPr/>
      </p:nvGrpSpPr>
      <p:grpSpPr>
        <a:xfrm>
          <a:off x="0" y="0"/>
          <a:ext cx="0" cy="0"/>
          <a:chOff x="0" y="0"/>
          <a:chExt cx="0" cy="0"/>
        </a:xfrm>
      </p:grpSpPr>
      <p:pic>
        <p:nvPicPr>
          <p:cNvPr id="5122" name="Picture 2">
            <a:extLst>
              <a:ext uri="{FF2B5EF4-FFF2-40B4-BE49-F238E27FC236}">
                <a16:creationId xmlns:a16="http://schemas.microsoft.com/office/drawing/2014/main" id="{8A8F8F36-8F1E-9C2C-332D-9E798E6A1F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88906"/>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
            <a:extLst>
              <a:ext uri="{FF2B5EF4-FFF2-40B4-BE49-F238E27FC236}">
                <a16:creationId xmlns:a16="http://schemas.microsoft.com/office/drawing/2014/main" id="{2ACD1558-0EFC-2450-D524-56A70690B780}"/>
              </a:ext>
            </a:extLst>
          </p:cNvPr>
          <p:cNvSpPr txBox="1">
            <a:spLocks/>
          </p:cNvSpPr>
          <p:nvPr/>
        </p:nvSpPr>
        <p:spPr>
          <a:xfrm>
            <a:off x="453125" y="182563"/>
            <a:ext cx="11285750" cy="539336"/>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CA" sz="2400" b="1" kern="100" dirty="0">
                <a:solidFill>
                  <a:schemeClr val="bg1">
                    <a:lumMod val="95000"/>
                  </a:schemeClr>
                </a:solidFill>
                <a:uFill>
                  <a:solidFill>
                    <a:srgbClr val="000000"/>
                  </a:solidFill>
                </a:uFill>
                <a:latin typeface="Aptos (Body)"/>
                <a:ea typeface="Calibri" panose="020F0502020204030204" pitchFamily="34" charset="0"/>
                <a:cs typeface="Calibri" panose="020F0502020204030204" pitchFamily="34" charset="0"/>
              </a:rPr>
              <a:t>Data Model View</a:t>
            </a:r>
            <a:endParaRPr lang="en-CA" sz="5400" b="1" dirty="0">
              <a:solidFill>
                <a:schemeClr val="bg1">
                  <a:lumMod val="95000"/>
                </a:schemeClr>
              </a:solidFill>
              <a:latin typeface="Aptos (Body)"/>
            </a:endParaRPr>
          </a:p>
        </p:txBody>
      </p:sp>
      <p:pic>
        <p:nvPicPr>
          <p:cNvPr id="5" name="Picture 4">
            <a:extLst>
              <a:ext uri="{FF2B5EF4-FFF2-40B4-BE49-F238E27FC236}">
                <a16:creationId xmlns:a16="http://schemas.microsoft.com/office/drawing/2014/main" id="{46AE7072-5B3B-9040-6869-D8E7BCC7EE72}"/>
              </a:ext>
            </a:extLst>
          </p:cNvPr>
          <p:cNvPicPr>
            <a:picLocks noChangeAspect="1"/>
          </p:cNvPicPr>
          <p:nvPr/>
        </p:nvPicPr>
        <p:blipFill>
          <a:blip r:embed="rId3"/>
          <a:stretch>
            <a:fillRect/>
          </a:stretch>
        </p:blipFill>
        <p:spPr>
          <a:xfrm>
            <a:off x="639625" y="904462"/>
            <a:ext cx="10486029" cy="5654530"/>
          </a:xfrm>
          <a:prstGeom prst="rect">
            <a:avLst/>
          </a:prstGeom>
        </p:spPr>
      </p:pic>
    </p:spTree>
    <p:extLst>
      <p:ext uri="{BB962C8B-B14F-4D97-AF65-F5344CB8AC3E}">
        <p14:creationId xmlns:p14="http://schemas.microsoft.com/office/powerpoint/2010/main" val="706680656"/>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D2E7875-CD61-F10F-17A3-4E206AF21CA4}"/>
              </a:ext>
            </a:extLst>
          </p:cNvPr>
          <p:cNvSpPr txBox="1"/>
          <p:nvPr/>
        </p:nvSpPr>
        <p:spPr>
          <a:xfrm>
            <a:off x="0" y="3167390"/>
            <a:ext cx="12192000" cy="523220"/>
          </a:xfrm>
          <a:prstGeom prst="rect">
            <a:avLst/>
          </a:prstGeom>
          <a:noFill/>
        </p:spPr>
        <p:txBody>
          <a:bodyPr wrap="square">
            <a:spAutoFit/>
          </a:bodyPr>
          <a:lstStyle/>
          <a:p>
            <a:pPr algn="ctr"/>
            <a:r>
              <a:rPr lang="en-CA" sz="2800" b="1" dirty="0">
                <a:solidFill>
                  <a:schemeClr val="bg1"/>
                </a:solidFill>
              </a:rPr>
              <a:t>Primary Analysis</a:t>
            </a:r>
          </a:p>
        </p:txBody>
      </p:sp>
    </p:spTree>
    <p:extLst>
      <p:ext uri="{BB962C8B-B14F-4D97-AF65-F5344CB8AC3E}">
        <p14:creationId xmlns:p14="http://schemas.microsoft.com/office/powerpoint/2010/main" val="181714235"/>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8183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BE31C-9542-7A1D-3973-E9696FAF7DF6}"/>
              </a:ext>
            </a:extLst>
          </p:cNvPr>
          <p:cNvSpPr>
            <a:spLocks noGrp="1"/>
          </p:cNvSpPr>
          <p:nvPr>
            <p:ph type="title"/>
          </p:nvPr>
        </p:nvSpPr>
        <p:spPr>
          <a:xfrm>
            <a:off x="407504" y="365126"/>
            <a:ext cx="11285750" cy="539336"/>
          </a:xfrm>
        </p:spPr>
        <p:txBody>
          <a:bodyPr>
            <a:normAutofit/>
          </a:bodyPr>
          <a:lstStyle/>
          <a:p>
            <a:pPr algn="ctr"/>
            <a:r>
              <a:rPr lang="en-CA" sz="2400" b="1" u="none" strike="noStrike" kern="100" dirty="0">
                <a:solidFill>
                  <a:schemeClr val="bg1">
                    <a:lumMod val="95000"/>
                  </a:schemeClr>
                </a:solidFill>
                <a:effectLst/>
                <a:uFill>
                  <a:solidFill>
                    <a:srgbClr val="000000"/>
                  </a:solidFill>
                </a:uFill>
                <a:latin typeface="Aptos (Body)"/>
                <a:ea typeface="Calibri" panose="020F0502020204030204" pitchFamily="34" charset="0"/>
                <a:cs typeface="Calibri" panose="020F0502020204030204" pitchFamily="34" charset="0"/>
              </a:rPr>
              <a:t>Total </a:t>
            </a:r>
            <a:r>
              <a:rPr lang="en-CA" sz="2400" b="1" u="none" strike="noStrike" kern="100" dirty="0">
                <a:effectLst/>
                <a:highlight>
                  <a:srgbClr val="C0C0C0"/>
                </a:highlight>
                <a:uFill>
                  <a:solidFill>
                    <a:srgbClr val="000000"/>
                  </a:solidFill>
                </a:uFill>
                <a:latin typeface="Aptos (Body)"/>
                <a:ea typeface="Calibri" panose="020F0502020204030204" pitchFamily="34" charset="0"/>
                <a:cs typeface="Calibri" panose="020F0502020204030204" pitchFamily="34" charset="0"/>
              </a:rPr>
              <a:t>Users &amp; Growth </a:t>
            </a:r>
            <a:r>
              <a:rPr lang="en-CA" sz="2400" b="1" u="none" strike="noStrike" kern="100" dirty="0">
                <a:solidFill>
                  <a:schemeClr val="bg1">
                    <a:lumMod val="95000"/>
                  </a:schemeClr>
                </a:solidFill>
                <a:effectLst/>
                <a:uFill>
                  <a:solidFill>
                    <a:srgbClr val="000000"/>
                  </a:solidFill>
                </a:uFill>
                <a:latin typeface="Aptos (Body)"/>
                <a:ea typeface="Calibri" panose="020F0502020204030204" pitchFamily="34" charset="0"/>
                <a:cs typeface="Calibri" panose="020F0502020204030204" pitchFamily="34" charset="0"/>
              </a:rPr>
              <a:t>Trends</a:t>
            </a:r>
            <a:endParaRPr lang="en-CA" sz="5400" b="1" dirty="0">
              <a:solidFill>
                <a:schemeClr val="bg1">
                  <a:lumMod val="95000"/>
                </a:schemeClr>
              </a:solidFill>
              <a:latin typeface="Aptos (Body)"/>
            </a:endParaRPr>
          </a:p>
        </p:txBody>
      </p:sp>
      <p:sp>
        <p:nvSpPr>
          <p:cNvPr id="3" name="TextBox 2">
            <a:extLst>
              <a:ext uri="{FF2B5EF4-FFF2-40B4-BE49-F238E27FC236}">
                <a16:creationId xmlns:a16="http://schemas.microsoft.com/office/drawing/2014/main" id="{700E510E-4D41-2C3B-3EA1-6FC28ACE35B0}"/>
              </a:ext>
            </a:extLst>
          </p:cNvPr>
          <p:cNvSpPr txBox="1"/>
          <p:nvPr/>
        </p:nvSpPr>
        <p:spPr>
          <a:xfrm>
            <a:off x="407504" y="4782794"/>
            <a:ext cx="11285750" cy="830997"/>
          </a:xfrm>
          <a:prstGeom prst="rect">
            <a:avLst/>
          </a:prstGeom>
          <a:noFill/>
        </p:spPr>
        <p:txBody>
          <a:bodyPr wrap="square" rtlCol="0">
            <a:spAutoFit/>
          </a:bodyPr>
          <a:lstStyle/>
          <a:p>
            <a:pPr algn="ctr"/>
            <a:r>
              <a:rPr lang="en-US" sz="1600" dirty="0" err="1">
                <a:solidFill>
                  <a:schemeClr val="bg1">
                    <a:lumMod val="85000"/>
                  </a:schemeClr>
                </a:solidFill>
              </a:rPr>
              <a:t>LioCinema</a:t>
            </a:r>
            <a:r>
              <a:rPr lang="en-US" sz="1600" dirty="0">
                <a:solidFill>
                  <a:schemeClr val="bg1">
                    <a:lumMod val="85000"/>
                  </a:schemeClr>
                </a:solidFill>
              </a:rPr>
              <a:t> has a significantly larger user base, with </a:t>
            </a:r>
            <a:r>
              <a:rPr lang="en-US" sz="1600" b="1" dirty="0">
                <a:solidFill>
                  <a:schemeClr val="bg1">
                    <a:lumMod val="85000"/>
                  </a:schemeClr>
                </a:solidFill>
              </a:rPr>
              <a:t>183,446 subscribers</a:t>
            </a:r>
            <a:r>
              <a:rPr lang="en-US" sz="1600" dirty="0">
                <a:solidFill>
                  <a:schemeClr val="bg1">
                    <a:lumMod val="85000"/>
                  </a:schemeClr>
                </a:solidFill>
              </a:rPr>
              <a:t>, compared to </a:t>
            </a:r>
            <a:r>
              <a:rPr lang="en-US" sz="1600" b="1" dirty="0">
                <a:solidFill>
                  <a:schemeClr val="bg1">
                    <a:lumMod val="85000"/>
                  </a:schemeClr>
                </a:solidFill>
              </a:rPr>
              <a:t>44,620 users</a:t>
            </a:r>
            <a:r>
              <a:rPr lang="en-US" sz="1600" dirty="0">
                <a:solidFill>
                  <a:schemeClr val="bg1">
                    <a:lumMod val="85000"/>
                  </a:schemeClr>
                </a:solidFill>
              </a:rPr>
              <a:t> on </a:t>
            </a:r>
            <a:r>
              <a:rPr lang="en-US" sz="1600" dirty="0" err="1">
                <a:solidFill>
                  <a:schemeClr val="bg1">
                    <a:lumMod val="85000"/>
                  </a:schemeClr>
                </a:solidFill>
              </a:rPr>
              <a:t>Jotstar</a:t>
            </a:r>
            <a:r>
              <a:rPr lang="en-US" sz="1600" dirty="0">
                <a:solidFill>
                  <a:schemeClr val="bg1">
                    <a:lumMod val="85000"/>
                  </a:schemeClr>
                </a:solidFill>
              </a:rPr>
              <a:t>. In terms of growth, </a:t>
            </a:r>
            <a:r>
              <a:rPr lang="en-US" sz="1600" dirty="0" err="1">
                <a:solidFill>
                  <a:schemeClr val="bg1">
                    <a:lumMod val="85000"/>
                  </a:schemeClr>
                </a:solidFill>
              </a:rPr>
              <a:t>LioCinema</a:t>
            </a:r>
            <a:r>
              <a:rPr lang="en-US" sz="1600" dirty="0">
                <a:solidFill>
                  <a:schemeClr val="bg1">
                    <a:lumMod val="85000"/>
                  </a:schemeClr>
                </a:solidFill>
              </a:rPr>
              <a:t> is expanding </a:t>
            </a:r>
            <a:r>
              <a:rPr lang="en-US" sz="1600" b="1" dirty="0">
                <a:solidFill>
                  <a:schemeClr val="bg1">
                    <a:lumMod val="85000"/>
                  </a:schemeClr>
                </a:solidFill>
              </a:rPr>
              <a:t>2.4x faster</a:t>
            </a:r>
            <a:r>
              <a:rPr lang="en-US" sz="1600" dirty="0">
                <a:solidFill>
                  <a:schemeClr val="bg1">
                    <a:lumMod val="85000"/>
                  </a:schemeClr>
                </a:solidFill>
              </a:rPr>
              <a:t>, with a </a:t>
            </a:r>
            <a:r>
              <a:rPr lang="en-US" sz="1600" b="1" dirty="0">
                <a:solidFill>
                  <a:schemeClr val="bg1">
                    <a:lumMod val="85000"/>
                  </a:schemeClr>
                </a:solidFill>
              </a:rPr>
              <a:t>25.3%</a:t>
            </a:r>
            <a:r>
              <a:rPr lang="en-US" sz="1600" dirty="0">
                <a:solidFill>
                  <a:schemeClr val="bg1">
                    <a:lumMod val="85000"/>
                  </a:schemeClr>
                </a:solidFill>
              </a:rPr>
              <a:t> monthly growth rate, while </a:t>
            </a:r>
            <a:r>
              <a:rPr lang="en-US" sz="1600" dirty="0" err="1">
                <a:solidFill>
                  <a:schemeClr val="bg1">
                    <a:lumMod val="85000"/>
                  </a:schemeClr>
                </a:solidFill>
              </a:rPr>
              <a:t>Jotstar</a:t>
            </a:r>
            <a:r>
              <a:rPr lang="en-US" sz="1600" dirty="0">
                <a:solidFill>
                  <a:schemeClr val="bg1">
                    <a:lumMod val="85000"/>
                  </a:schemeClr>
                </a:solidFill>
              </a:rPr>
              <a:t> grows at </a:t>
            </a:r>
            <a:r>
              <a:rPr lang="en-US" sz="1600" b="1" dirty="0">
                <a:solidFill>
                  <a:schemeClr val="bg1">
                    <a:lumMod val="85000"/>
                  </a:schemeClr>
                </a:solidFill>
              </a:rPr>
              <a:t>10.6%</a:t>
            </a:r>
            <a:r>
              <a:rPr lang="en-US" sz="1600" dirty="0">
                <a:solidFill>
                  <a:schemeClr val="bg1">
                    <a:lumMod val="85000"/>
                  </a:schemeClr>
                </a:solidFill>
              </a:rPr>
              <a:t> between January and November 2024.</a:t>
            </a:r>
            <a:endParaRPr lang="en-CA" sz="1600" dirty="0">
              <a:solidFill>
                <a:schemeClr val="bg1">
                  <a:lumMod val="85000"/>
                </a:schemeClr>
              </a:solidFill>
            </a:endParaRPr>
          </a:p>
        </p:txBody>
      </p:sp>
      <p:pic>
        <p:nvPicPr>
          <p:cNvPr id="9" name="Picture 8">
            <a:extLst>
              <a:ext uri="{FF2B5EF4-FFF2-40B4-BE49-F238E27FC236}">
                <a16:creationId xmlns:a16="http://schemas.microsoft.com/office/drawing/2014/main" id="{E045995A-EF68-A2EE-E57E-DB831B876591}"/>
              </a:ext>
            </a:extLst>
          </p:cNvPr>
          <p:cNvPicPr>
            <a:picLocks noChangeAspect="1"/>
          </p:cNvPicPr>
          <p:nvPr/>
        </p:nvPicPr>
        <p:blipFill>
          <a:blip r:embed="rId4"/>
          <a:srcRect b="50000"/>
          <a:stretch/>
        </p:blipFill>
        <p:spPr>
          <a:xfrm>
            <a:off x="803762" y="1704042"/>
            <a:ext cx="5058117" cy="2563158"/>
          </a:xfrm>
          <a:prstGeom prst="rect">
            <a:avLst/>
          </a:prstGeom>
        </p:spPr>
      </p:pic>
      <p:pic>
        <p:nvPicPr>
          <p:cNvPr id="10" name="Picture 9">
            <a:extLst>
              <a:ext uri="{FF2B5EF4-FFF2-40B4-BE49-F238E27FC236}">
                <a16:creationId xmlns:a16="http://schemas.microsoft.com/office/drawing/2014/main" id="{F00584DA-36E1-AD70-74FF-BD76B5F271D3}"/>
              </a:ext>
            </a:extLst>
          </p:cNvPr>
          <p:cNvPicPr>
            <a:picLocks noChangeAspect="1"/>
          </p:cNvPicPr>
          <p:nvPr/>
        </p:nvPicPr>
        <p:blipFill>
          <a:blip r:embed="rId4"/>
          <a:srcRect t="49809" b="190"/>
          <a:stretch/>
        </p:blipFill>
        <p:spPr>
          <a:xfrm>
            <a:off x="6543040" y="1704042"/>
            <a:ext cx="4751279" cy="2407670"/>
          </a:xfrm>
          <a:prstGeom prst="rect">
            <a:avLst/>
          </a:prstGeom>
        </p:spPr>
      </p:pic>
      <p:pic>
        <p:nvPicPr>
          <p:cNvPr id="13" name="Picture 12" descr="A black and white logo&#10;&#10;AI-generated content may be incorrect.">
            <a:extLst>
              <a:ext uri="{FF2B5EF4-FFF2-40B4-BE49-F238E27FC236}">
                <a16:creationId xmlns:a16="http://schemas.microsoft.com/office/drawing/2014/main" id="{AB43647B-D750-605B-25D2-FB533005C91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43040" y="2026700"/>
            <a:ext cx="1550879" cy="378315"/>
          </a:xfrm>
          <a:prstGeom prst="rect">
            <a:avLst/>
          </a:prstGeom>
        </p:spPr>
      </p:pic>
      <p:pic>
        <p:nvPicPr>
          <p:cNvPr id="15" name="Picture 14" descr="A white text on a black background&#10;&#10;AI-generated content may be incorrect.">
            <a:extLst>
              <a:ext uri="{FF2B5EF4-FFF2-40B4-BE49-F238E27FC236}">
                <a16:creationId xmlns:a16="http://schemas.microsoft.com/office/drawing/2014/main" id="{676E3CD1-AED9-55F2-B4A1-6F625CAA6AA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97681" y="2000611"/>
            <a:ext cx="1324829" cy="404404"/>
          </a:xfrm>
          <a:prstGeom prst="rect">
            <a:avLst/>
          </a:prstGeom>
        </p:spPr>
      </p:pic>
      <p:cxnSp>
        <p:nvCxnSpPr>
          <p:cNvPr id="4" name="Straight Connector 3">
            <a:extLst>
              <a:ext uri="{FF2B5EF4-FFF2-40B4-BE49-F238E27FC236}">
                <a16:creationId xmlns:a16="http://schemas.microsoft.com/office/drawing/2014/main" id="{FC59508C-C799-BB34-360C-A77504181DD0}"/>
              </a:ext>
            </a:extLst>
          </p:cNvPr>
          <p:cNvCxnSpPr>
            <a:cxnSpLocks/>
          </p:cNvCxnSpPr>
          <p:nvPr/>
        </p:nvCxnSpPr>
        <p:spPr>
          <a:xfrm>
            <a:off x="6096000" y="1630114"/>
            <a:ext cx="0" cy="2637086"/>
          </a:xfrm>
          <a:prstGeom prst="line">
            <a:avLst/>
          </a:prstGeom>
          <a:ln>
            <a:solidFill>
              <a:srgbClr val="45458B">
                <a:alpha val="44000"/>
              </a:srgbClr>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3689452322"/>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578470D0-FC8B-44A8-F15B-AEE81FDF13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84489B-DF23-56B8-0158-EB41B43C3458}"/>
              </a:ext>
            </a:extLst>
          </p:cNvPr>
          <p:cNvSpPr>
            <a:spLocks noGrp="1"/>
          </p:cNvSpPr>
          <p:nvPr>
            <p:ph type="title"/>
          </p:nvPr>
        </p:nvSpPr>
        <p:spPr>
          <a:xfrm>
            <a:off x="407504" y="365126"/>
            <a:ext cx="11270974" cy="539336"/>
          </a:xfrm>
        </p:spPr>
        <p:txBody>
          <a:bodyPr>
            <a:normAutofit/>
          </a:bodyPr>
          <a:lstStyle/>
          <a:p>
            <a:pPr algn="ctr"/>
            <a:r>
              <a:rPr lang="en-US" sz="2400" b="1" u="none" strike="noStrike" kern="100" dirty="0">
                <a:effectLst/>
                <a:highlight>
                  <a:srgbClr val="C0C0C0"/>
                </a:highlight>
                <a:uFill>
                  <a:solidFill>
                    <a:srgbClr val="000000"/>
                  </a:solidFill>
                </a:uFill>
                <a:latin typeface="Aptos (Body)"/>
                <a:ea typeface="Calibri" panose="020F0502020204030204" pitchFamily="34" charset="0"/>
                <a:cs typeface="Calibri" panose="020F0502020204030204" pitchFamily="34" charset="0"/>
              </a:rPr>
              <a:t>Content</a:t>
            </a:r>
            <a:r>
              <a:rPr lang="en-US" sz="2400" b="1" u="none" strike="noStrike" kern="100" dirty="0">
                <a:solidFill>
                  <a:schemeClr val="bg1">
                    <a:lumMod val="95000"/>
                  </a:schemeClr>
                </a:solidFill>
                <a:effectLst/>
                <a:uFill>
                  <a:solidFill>
                    <a:srgbClr val="000000"/>
                  </a:solidFill>
                </a:uFill>
                <a:latin typeface="Aptos (Body)"/>
                <a:ea typeface="Calibri" panose="020F0502020204030204" pitchFamily="34" charset="0"/>
                <a:cs typeface="Calibri" panose="020F0502020204030204" pitchFamily="34" charset="0"/>
              </a:rPr>
              <a:t> Library Comparison</a:t>
            </a:r>
            <a:endParaRPr lang="en-CA" sz="5400" b="1" dirty="0">
              <a:solidFill>
                <a:schemeClr val="bg1">
                  <a:lumMod val="95000"/>
                </a:schemeClr>
              </a:solidFill>
              <a:latin typeface="Aptos (Body)"/>
            </a:endParaRPr>
          </a:p>
        </p:txBody>
      </p:sp>
      <p:pic>
        <p:nvPicPr>
          <p:cNvPr id="7" name="Picture 6">
            <a:extLst>
              <a:ext uri="{FF2B5EF4-FFF2-40B4-BE49-F238E27FC236}">
                <a16:creationId xmlns:a16="http://schemas.microsoft.com/office/drawing/2014/main" id="{AA56C285-4F13-87FB-17A5-E0BD5736B4C1}"/>
              </a:ext>
            </a:extLst>
          </p:cNvPr>
          <p:cNvPicPr>
            <a:picLocks noChangeAspect="1"/>
          </p:cNvPicPr>
          <p:nvPr/>
        </p:nvPicPr>
        <p:blipFill>
          <a:blip r:embed="rId5"/>
          <a:srcRect b="13090"/>
          <a:stretch/>
        </p:blipFill>
        <p:spPr>
          <a:xfrm>
            <a:off x="6228080" y="1765201"/>
            <a:ext cx="5616427" cy="1973679"/>
          </a:xfrm>
          <a:prstGeom prst="rect">
            <a:avLst/>
          </a:prstGeom>
        </p:spPr>
      </p:pic>
      <p:pic>
        <p:nvPicPr>
          <p:cNvPr id="9" name="Picture 8">
            <a:extLst>
              <a:ext uri="{FF2B5EF4-FFF2-40B4-BE49-F238E27FC236}">
                <a16:creationId xmlns:a16="http://schemas.microsoft.com/office/drawing/2014/main" id="{FB2015EC-C594-3661-EC97-9FB2429DE676}"/>
              </a:ext>
            </a:extLst>
          </p:cNvPr>
          <p:cNvPicPr>
            <a:picLocks noChangeAspect="1"/>
          </p:cNvPicPr>
          <p:nvPr/>
        </p:nvPicPr>
        <p:blipFill>
          <a:blip r:embed="rId5"/>
          <a:srcRect l="39074" t="85567" r="35057" b="4590"/>
          <a:stretch/>
        </p:blipFill>
        <p:spPr>
          <a:xfrm>
            <a:off x="5217160" y="3789290"/>
            <a:ext cx="2021839" cy="311052"/>
          </a:xfrm>
          <a:prstGeom prst="rect">
            <a:avLst/>
          </a:prstGeom>
        </p:spPr>
      </p:pic>
      <p:pic>
        <p:nvPicPr>
          <p:cNvPr id="13" name="Picture 12" descr="A black and white logo&#10;&#10;AI-generated content may be incorrect.">
            <a:extLst>
              <a:ext uri="{FF2B5EF4-FFF2-40B4-BE49-F238E27FC236}">
                <a16:creationId xmlns:a16="http://schemas.microsoft.com/office/drawing/2014/main" id="{E5F40AA3-0E81-D8C4-42D7-50BB14B6E8B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61760" y="1190873"/>
            <a:ext cx="1656080" cy="403977"/>
          </a:xfrm>
          <a:prstGeom prst="rect">
            <a:avLst/>
          </a:prstGeom>
        </p:spPr>
      </p:pic>
      <p:grpSp>
        <p:nvGrpSpPr>
          <p:cNvPr id="4" name="Group 3">
            <a:extLst>
              <a:ext uri="{FF2B5EF4-FFF2-40B4-BE49-F238E27FC236}">
                <a16:creationId xmlns:a16="http://schemas.microsoft.com/office/drawing/2014/main" id="{20A0F4C8-2305-BF1F-66E3-1F71AB21A085}"/>
              </a:ext>
            </a:extLst>
          </p:cNvPr>
          <p:cNvGrpSpPr/>
          <p:nvPr/>
        </p:nvGrpSpPr>
        <p:grpSpPr>
          <a:xfrm>
            <a:off x="265596" y="1159665"/>
            <a:ext cx="5698325" cy="2536644"/>
            <a:chOff x="529755" y="1151826"/>
            <a:chExt cx="5698325" cy="2536644"/>
          </a:xfrm>
        </p:grpSpPr>
        <p:pic>
          <p:nvPicPr>
            <p:cNvPr id="12" name="Picture 11">
              <a:extLst>
                <a:ext uri="{FF2B5EF4-FFF2-40B4-BE49-F238E27FC236}">
                  <a16:creationId xmlns:a16="http://schemas.microsoft.com/office/drawing/2014/main" id="{F35D9767-62CA-9E76-FC48-714DB5AA3AEB}"/>
                </a:ext>
              </a:extLst>
            </p:cNvPr>
            <p:cNvPicPr>
              <a:picLocks noChangeAspect="1"/>
            </p:cNvPicPr>
            <p:nvPr/>
          </p:nvPicPr>
          <p:blipFill>
            <a:blip r:embed="rId7"/>
            <a:stretch>
              <a:fillRect/>
            </a:stretch>
          </p:blipFill>
          <p:spPr>
            <a:xfrm>
              <a:off x="529755" y="1714791"/>
              <a:ext cx="5698325" cy="1973679"/>
            </a:xfrm>
            <a:prstGeom prst="rect">
              <a:avLst/>
            </a:prstGeom>
          </p:spPr>
        </p:pic>
        <p:pic>
          <p:nvPicPr>
            <p:cNvPr id="14" name="Picture 13" descr="A white text on a black background&#10;&#10;AI-generated content may be incorrect.">
              <a:extLst>
                <a:ext uri="{FF2B5EF4-FFF2-40B4-BE49-F238E27FC236}">
                  <a16:creationId xmlns:a16="http://schemas.microsoft.com/office/drawing/2014/main" id="{1901F585-E60D-F25D-CA83-93AC8AD2030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64001" y="1203491"/>
              <a:ext cx="1324829" cy="404404"/>
            </a:xfrm>
            <a:prstGeom prst="rect">
              <a:avLst/>
            </a:prstGeom>
          </p:spPr>
        </p:pic>
        <p:sp>
          <p:nvSpPr>
            <p:cNvPr id="15" name="Title 1">
              <a:extLst>
                <a:ext uri="{FF2B5EF4-FFF2-40B4-BE49-F238E27FC236}">
                  <a16:creationId xmlns:a16="http://schemas.microsoft.com/office/drawing/2014/main" id="{C60DF618-CE05-6F92-0DA8-9DA27EA1CEE8}"/>
                </a:ext>
              </a:extLst>
            </p:cNvPr>
            <p:cNvSpPr txBox="1">
              <a:spLocks/>
            </p:cNvSpPr>
            <p:nvPr/>
          </p:nvSpPr>
          <p:spPr>
            <a:xfrm>
              <a:off x="1988830" y="1151826"/>
              <a:ext cx="1760210" cy="53933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600" b="1" kern="100" dirty="0">
                  <a:solidFill>
                    <a:schemeClr val="bg1">
                      <a:lumMod val="95000"/>
                    </a:schemeClr>
                  </a:solidFill>
                  <a:uFill>
                    <a:solidFill>
                      <a:srgbClr val="000000"/>
                    </a:solidFill>
                  </a:uFill>
                  <a:latin typeface="Aptos (Body)"/>
                  <a:ea typeface="Calibri" panose="020F0502020204030204" pitchFamily="34" charset="0"/>
                  <a:cs typeface="Calibri" panose="020F0502020204030204" pitchFamily="34" charset="0"/>
                </a:rPr>
                <a:t>Content : 2360</a:t>
              </a:r>
              <a:endParaRPr lang="en-CA" sz="1600" b="1" dirty="0">
                <a:solidFill>
                  <a:schemeClr val="bg1">
                    <a:lumMod val="95000"/>
                  </a:schemeClr>
                </a:solidFill>
                <a:latin typeface="Aptos (Body)"/>
              </a:endParaRPr>
            </a:p>
          </p:txBody>
        </p:sp>
      </p:grpSp>
      <p:sp>
        <p:nvSpPr>
          <p:cNvPr id="18" name="Title 1">
            <a:extLst>
              <a:ext uri="{FF2B5EF4-FFF2-40B4-BE49-F238E27FC236}">
                <a16:creationId xmlns:a16="http://schemas.microsoft.com/office/drawing/2014/main" id="{B52D47A7-A99E-65C1-4229-C575FDFF4268}"/>
              </a:ext>
            </a:extLst>
          </p:cNvPr>
          <p:cNvSpPr txBox="1">
            <a:spLocks/>
          </p:cNvSpPr>
          <p:nvPr/>
        </p:nvSpPr>
        <p:spPr>
          <a:xfrm>
            <a:off x="8117840" y="1123193"/>
            <a:ext cx="1760210" cy="53933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600" b="1" kern="100" dirty="0">
                <a:solidFill>
                  <a:schemeClr val="bg1">
                    <a:lumMod val="95000"/>
                  </a:schemeClr>
                </a:solidFill>
                <a:uFill>
                  <a:solidFill>
                    <a:srgbClr val="000000"/>
                  </a:solidFill>
                </a:uFill>
                <a:latin typeface="Aptos (Body)"/>
                <a:ea typeface="Calibri" panose="020F0502020204030204" pitchFamily="34" charset="0"/>
                <a:cs typeface="Calibri" panose="020F0502020204030204" pitchFamily="34" charset="0"/>
              </a:rPr>
              <a:t>Content : 1250</a:t>
            </a:r>
            <a:endParaRPr lang="en-CA" sz="1600" b="1" dirty="0">
              <a:solidFill>
                <a:schemeClr val="bg1">
                  <a:lumMod val="95000"/>
                </a:schemeClr>
              </a:solidFill>
              <a:latin typeface="Aptos (Body)"/>
            </a:endParaRPr>
          </a:p>
        </p:txBody>
      </p:sp>
      <p:sp>
        <p:nvSpPr>
          <p:cNvPr id="21" name="TextBox 20">
            <a:extLst>
              <a:ext uri="{FF2B5EF4-FFF2-40B4-BE49-F238E27FC236}">
                <a16:creationId xmlns:a16="http://schemas.microsoft.com/office/drawing/2014/main" id="{DE362107-886E-9197-539C-3CAD5213B8FD}"/>
              </a:ext>
            </a:extLst>
          </p:cNvPr>
          <p:cNvSpPr txBox="1"/>
          <p:nvPr/>
        </p:nvSpPr>
        <p:spPr>
          <a:xfrm>
            <a:off x="407504" y="4899170"/>
            <a:ext cx="11437003" cy="1723549"/>
          </a:xfrm>
          <a:prstGeom prst="rect">
            <a:avLst/>
          </a:prstGeom>
          <a:noFill/>
        </p:spPr>
        <p:txBody>
          <a:bodyPr wrap="square">
            <a:spAutoFit/>
          </a:bodyPr>
          <a:lstStyle/>
          <a:p>
            <a:pPr algn="just">
              <a:buNone/>
            </a:pPr>
            <a:r>
              <a:rPr lang="en-CA" sz="1500" b="1" dirty="0">
                <a:solidFill>
                  <a:schemeClr val="bg1">
                    <a:lumMod val="85000"/>
                  </a:schemeClr>
                </a:solidFill>
              </a:rPr>
              <a:t>Language Diversity:</a:t>
            </a:r>
          </a:p>
          <a:p>
            <a:pPr marL="285750" indent="-285750" algn="just">
              <a:buFont typeface="Arial" panose="020B0604020202020204" pitchFamily="34" charset="0"/>
              <a:buChar char="•"/>
            </a:pPr>
            <a:r>
              <a:rPr lang="en-US" sz="1500" dirty="0" err="1">
                <a:solidFill>
                  <a:schemeClr val="bg1">
                    <a:lumMod val="85000"/>
                  </a:schemeClr>
                </a:solidFill>
              </a:rPr>
              <a:t>Jotstar</a:t>
            </a:r>
            <a:r>
              <a:rPr lang="en-US" sz="1500" dirty="0">
                <a:solidFill>
                  <a:schemeClr val="bg1">
                    <a:lumMod val="85000"/>
                  </a:schemeClr>
                </a:solidFill>
              </a:rPr>
              <a:t> offers content in 10 languages, including three additional languages—Bengali, Gujarati, and Punjabi—that are not available on </a:t>
            </a:r>
            <a:r>
              <a:rPr lang="en-US" sz="1500" dirty="0" err="1">
                <a:solidFill>
                  <a:schemeClr val="bg1">
                    <a:lumMod val="85000"/>
                  </a:schemeClr>
                </a:solidFill>
              </a:rPr>
              <a:t>LioCinema</a:t>
            </a:r>
            <a:r>
              <a:rPr lang="en-US" sz="1500" dirty="0">
                <a:solidFill>
                  <a:schemeClr val="bg1">
                    <a:lumMod val="85000"/>
                  </a:schemeClr>
                </a:solidFill>
              </a:rPr>
              <a:t>. </a:t>
            </a:r>
          </a:p>
          <a:p>
            <a:pPr marL="285750" indent="-285750" algn="just">
              <a:buFont typeface="Arial" panose="020B0604020202020204" pitchFamily="34" charset="0"/>
              <a:buChar char="•"/>
            </a:pPr>
            <a:r>
              <a:rPr lang="en-CA" sz="1500" dirty="0">
                <a:solidFill>
                  <a:schemeClr val="bg1">
                    <a:lumMod val="85000"/>
                  </a:schemeClr>
                </a:solidFill>
              </a:rPr>
              <a:t>The </a:t>
            </a:r>
            <a:r>
              <a:rPr lang="en-CA" sz="1500" b="1" dirty="0">
                <a:solidFill>
                  <a:schemeClr val="bg1">
                    <a:lumMod val="85000"/>
                  </a:schemeClr>
                </a:solidFill>
              </a:rPr>
              <a:t>most popular languages</a:t>
            </a:r>
            <a:r>
              <a:rPr lang="en-CA" sz="1500" dirty="0">
                <a:solidFill>
                  <a:schemeClr val="bg1">
                    <a:lumMod val="85000"/>
                  </a:schemeClr>
                </a:solidFill>
              </a:rPr>
              <a:t> on </a:t>
            </a:r>
            <a:r>
              <a:rPr lang="en-CA" sz="1500" dirty="0" err="1">
                <a:solidFill>
                  <a:schemeClr val="bg1">
                    <a:lumMod val="85000"/>
                  </a:schemeClr>
                </a:solidFill>
              </a:rPr>
              <a:t>Jotstar</a:t>
            </a:r>
            <a:r>
              <a:rPr lang="en-CA" sz="1500" dirty="0">
                <a:solidFill>
                  <a:schemeClr val="bg1">
                    <a:lumMod val="85000"/>
                  </a:schemeClr>
                </a:solidFill>
              </a:rPr>
              <a:t> are </a:t>
            </a:r>
            <a:r>
              <a:rPr lang="en-CA" sz="1500" b="1" dirty="0">
                <a:solidFill>
                  <a:schemeClr val="bg1">
                    <a:lumMod val="85000"/>
                  </a:schemeClr>
                </a:solidFill>
              </a:rPr>
              <a:t>English, Hindi, and Tamil</a:t>
            </a:r>
            <a:r>
              <a:rPr lang="en-CA" sz="1500" dirty="0">
                <a:solidFill>
                  <a:schemeClr val="bg1">
                    <a:lumMod val="85000"/>
                  </a:schemeClr>
                </a:solidFill>
              </a:rPr>
              <a:t>, while </a:t>
            </a:r>
            <a:r>
              <a:rPr lang="en-CA" sz="1500" b="1" dirty="0">
                <a:solidFill>
                  <a:schemeClr val="bg1">
                    <a:lumMod val="85000"/>
                  </a:schemeClr>
                </a:solidFill>
              </a:rPr>
              <a:t>Bengali, Gujarati, and Punjabi</a:t>
            </a:r>
            <a:r>
              <a:rPr lang="en-CA" sz="1500" dirty="0">
                <a:solidFill>
                  <a:schemeClr val="bg1">
                    <a:lumMod val="85000"/>
                  </a:schemeClr>
                </a:solidFill>
              </a:rPr>
              <a:t> have the least content.</a:t>
            </a:r>
          </a:p>
          <a:p>
            <a:pPr marL="285750" indent="-285750" algn="just">
              <a:buFont typeface="Arial" panose="020B0604020202020204" pitchFamily="34" charset="0"/>
              <a:buChar char="•"/>
            </a:pPr>
            <a:r>
              <a:rPr lang="en-CA" sz="1500" dirty="0">
                <a:solidFill>
                  <a:schemeClr val="bg1">
                    <a:lumMod val="85000"/>
                  </a:schemeClr>
                </a:solidFill>
              </a:rPr>
              <a:t>For </a:t>
            </a:r>
            <a:r>
              <a:rPr lang="en-CA" sz="1500" dirty="0" err="1">
                <a:solidFill>
                  <a:schemeClr val="bg1">
                    <a:lumMod val="85000"/>
                  </a:schemeClr>
                </a:solidFill>
              </a:rPr>
              <a:t>LioCinema</a:t>
            </a:r>
            <a:r>
              <a:rPr lang="en-CA" sz="1500" dirty="0">
                <a:solidFill>
                  <a:schemeClr val="bg1">
                    <a:lumMod val="85000"/>
                  </a:schemeClr>
                </a:solidFill>
              </a:rPr>
              <a:t>, </a:t>
            </a:r>
            <a:r>
              <a:rPr lang="en-CA" sz="1500" b="1" dirty="0">
                <a:solidFill>
                  <a:schemeClr val="bg1">
                    <a:lumMod val="85000"/>
                  </a:schemeClr>
                </a:solidFill>
              </a:rPr>
              <a:t>Hindi, Telugu, and Tamil</a:t>
            </a:r>
            <a:r>
              <a:rPr lang="en-CA" sz="1500" dirty="0">
                <a:solidFill>
                  <a:schemeClr val="bg1">
                    <a:lumMod val="85000"/>
                  </a:schemeClr>
                </a:solidFill>
              </a:rPr>
              <a:t> dominate, while </a:t>
            </a:r>
            <a:r>
              <a:rPr lang="en-CA" sz="1500" b="1" dirty="0">
                <a:solidFill>
                  <a:schemeClr val="bg1">
                    <a:lumMod val="85000"/>
                  </a:schemeClr>
                </a:solidFill>
              </a:rPr>
              <a:t>Marathi and English</a:t>
            </a:r>
            <a:r>
              <a:rPr lang="en-CA" sz="1500" dirty="0">
                <a:solidFill>
                  <a:schemeClr val="bg1">
                    <a:lumMod val="85000"/>
                  </a:schemeClr>
                </a:solidFill>
              </a:rPr>
              <a:t> have the least content.</a:t>
            </a:r>
          </a:p>
          <a:p>
            <a:pPr algn="just">
              <a:buNone/>
            </a:pPr>
            <a:endParaRPr lang="en-US" sz="1600" b="1" dirty="0">
              <a:solidFill>
                <a:schemeClr val="bg1">
                  <a:lumMod val="85000"/>
                </a:schemeClr>
              </a:solidFill>
            </a:endParaRPr>
          </a:p>
          <a:p>
            <a:pPr algn="just"/>
            <a:endParaRPr lang="en-CA" sz="1500" dirty="0">
              <a:solidFill>
                <a:schemeClr val="bg1">
                  <a:lumMod val="85000"/>
                </a:schemeClr>
              </a:solidFill>
            </a:endParaRPr>
          </a:p>
        </p:txBody>
      </p:sp>
      <p:sp>
        <p:nvSpPr>
          <p:cNvPr id="3" name="TextBox 2">
            <a:extLst>
              <a:ext uri="{FF2B5EF4-FFF2-40B4-BE49-F238E27FC236}">
                <a16:creationId xmlns:a16="http://schemas.microsoft.com/office/drawing/2014/main" id="{85EED63B-DF45-0564-2215-2DB667B81511}"/>
              </a:ext>
            </a:extLst>
          </p:cNvPr>
          <p:cNvSpPr txBox="1"/>
          <p:nvPr/>
        </p:nvSpPr>
        <p:spPr>
          <a:xfrm>
            <a:off x="407504" y="4276454"/>
            <a:ext cx="10984087" cy="323165"/>
          </a:xfrm>
          <a:prstGeom prst="rect">
            <a:avLst/>
          </a:prstGeom>
          <a:noFill/>
        </p:spPr>
        <p:txBody>
          <a:bodyPr wrap="square">
            <a:spAutoFit/>
          </a:bodyPr>
          <a:lstStyle/>
          <a:p>
            <a:pPr algn="ctr"/>
            <a:r>
              <a:rPr lang="en-US" sz="1500" dirty="0" err="1">
                <a:solidFill>
                  <a:schemeClr val="bg1">
                    <a:lumMod val="85000"/>
                  </a:schemeClr>
                </a:solidFill>
              </a:rPr>
              <a:t>Jotstar</a:t>
            </a:r>
            <a:r>
              <a:rPr lang="en-US" sz="1500" dirty="0">
                <a:solidFill>
                  <a:schemeClr val="bg1">
                    <a:lumMod val="85000"/>
                  </a:schemeClr>
                </a:solidFill>
              </a:rPr>
              <a:t> has a larger content library with </a:t>
            </a:r>
            <a:r>
              <a:rPr lang="en-US" sz="1500" b="1" dirty="0">
                <a:solidFill>
                  <a:schemeClr val="bg1">
                    <a:lumMod val="85000"/>
                  </a:schemeClr>
                </a:solidFill>
              </a:rPr>
              <a:t>2,360 titles</a:t>
            </a:r>
            <a:r>
              <a:rPr lang="en-US" sz="1500" dirty="0">
                <a:solidFill>
                  <a:schemeClr val="bg1">
                    <a:lumMod val="85000"/>
                  </a:schemeClr>
                </a:solidFill>
              </a:rPr>
              <a:t>, compared to </a:t>
            </a:r>
            <a:r>
              <a:rPr lang="en-US" sz="1500" b="1" dirty="0">
                <a:solidFill>
                  <a:schemeClr val="bg1">
                    <a:lumMod val="85000"/>
                  </a:schemeClr>
                </a:solidFill>
              </a:rPr>
              <a:t>1,250 titles</a:t>
            </a:r>
            <a:r>
              <a:rPr lang="en-US" sz="1500" dirty="0">
                <a:solidFill>
                  <a:schemeClr val="bg1">
                    <a:lumMod val="85000"/>
                  </a:schemeClr>
                </a:solidFill>
              </a:rPr>
              <a:t> on </a:t>
            </a:r>
            <a:r>
              <a:rPr lang="en-US" sz="1500" dirty="0" err="1">
                <a:solidFill>
                  <a:schemeClr val="bg1">
                    <a:lumMod val="85000"/>
                  </a:schemeClr>
                </a:solidFill>
              </a:rPr>
              <a:t>LioCinema</a:t>
            </a:r>
            <a:r>
              <a:rPr lang="en-US" sz="1500" dirty="0">
                <a:solidFill>
                  <a:schemeClr val="bg1">
                    <a:lumMod val="85000"/>
                  </a:schemeClr>
                </a:solidFill>
              </a:rPr>
              <a:t>.</a:t>
            </a:r>
          </a:p>
        </p:txBody>
      </p:sp>
      <p:cxnSp>
        <p:nvCxnSpPr>
          <p:cNvPr id="5" name="Straight Connector 4">
            <a:extLst>
              <a:ext uri="{FF2B5EF4-FFF2-40B4-BE49-F238E27FC236}">
                <a16:creationId xmlns:a16="http://schemas.microsoft.com/office/drawing/2014/main" id="{BBFB6ED5-568E-1724-3857-74E467EB9A0B}"/>
              </a:ext>
            </a:extLst>
          </p:cNvPr>
          <p:cNvCxnSpPr>
            <a:cxnSpLocks/>
          </p:cNvCxnSpPr>
          <p:nvPr/>
        </p:nvCxnSpPr>
        <p:spPr>
          <a:xfrm>
            <a:off x="6154385" y="1123193"/>
            <a:ext cx="0" cy="2573116"/>
          </a:xfrm>
          <a:prstGeom prst="line">
            <a:avLst/>
          </a:prstGeom>
          <a:ln>
            <a:solidFill>
              <a:srgbClr val="45458B">
                <a:alpha val="44000"/>
              </a:srgbClr>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2399879212"/>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8DBD478A-21B2-F4F2-B53F-2ED7B1ED86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B2F54C-B2E2-524B-2D3D-34A148B545D2}"/>
              </a:ext>
            </a:extLst>
          </p:cNvPr>
          <p:cNvSpPr>
            <a:spLocks noGrp="1"/>
          </p:cNvSpPr>
          <p:nvPr>
            <p:ph type="title"/>
          </p:nvPr>
        </p:nvSpPr>
        <p:spPr>
          <a:xfrm>
            <a:off x="407504" y="365126"/>
            <a:ext cx="11270974" cy="539336"/>
          </a:xfrm>
        </p:spPr>
        <p:txBody>
          <a:bodyPr>
            <a:normAutofit/>
          </a:bodyPr>
          <a:lstStyle/>
          <a:p>
            <a:pPr algn="ctr"/>
            <a:r>
              <a:rPr lang="en-US" sz="2400" b="1" u="none" strike="noStrike" kern="100" dirty="0">
                <a:effectLst/>
                <a:highlight>
                  <a:srgbClr val="C0C0C0"/>
                </a:highlight>
                <a:uFill>
                  <a:solidFill>
                    <a:srgbClr val="000000"/>
                  </a:solidFill>
                </a:uFill>
                <a:latin typeface="Aptos (Body)"/>
                <a:ea typeface="Calibri" panose="020F0502020204030204" pitchFamily="34" charset="0"/>
                <a:cs typeface="Calibri" panose="020F0502020204030204" pitchFamily="34" charset="0"/>
              </a:rPr>
              <a:t>Content</a:t>
            </a:r>
            <a:r>
              <a:rPr lang="en-US" sz="2400" b="1" u="none" strike="noStrike" kern="100" dirty="0">
                <a:solidFill>
                  <a:schemeClr val="bg1">
                    <a:lumMod val="95000"/>
                  </a:schemeClr>
                </a:solidFill>
                <a:effectLst/>
                <a:uFill>
                  <a:solidFill>
                    <a:srgbClr val="000000"/>
                  </a:solidFill>
                </a:uFill>
                <a:latin typeface="Aptos (Body)"/>
                <a:ea typeface="Calibri" panose="020F0502020204030204" pitchFamily="34" charset="0"/>
                <a:cs typeface="Calibri" panose="020F0502020204030204" pitchFamily="34" charset="0"/>
              </a:rPr>
              <a:t> Library Comparison</a:t>
            </a:r>
            <a:endParaRPr lang="en-CA" sz="5400" b="1" dirty="0">
              <a:solidFill>
                <a:schemeClr val="bg1">
                  <a:lumMod val="95000"/>
                </a:schemeClr>
              </a:solidFill>
              <a:latin typeface="Aptos (Body)"/>
            </a:endParaRPr>
          </a:p>
        </p:txBody>
      </p:sp>
      <p:pic>
        <p:nvPicPr>
          <p:cNvPr id="9" name="Picture 8">
            <a:extLst>
              <a:ext uri="{FF2B5EF4-FFF2-40B4-BE49-F238E27FC236}">
                <a16:creationId xmlns:a16="http://schemas.microsoft.com/office/drawing/2014/main" id="{59232F20-CD13-AC60-9F44-C49080C0DB66}"/>
              </a:ext>
            </a:extLst>
          </p:cNvPr>
          <p:cNvPicPr>
            <a:picLocks noChangeAspect="1"/>
          </p:cNvPicPr>
          <p:nvPr/>
        </p:nvPicPr>
        <p:blipFill>
          <a:blip r:embed="rId5"/>
          <a:srcRect l="39074" t="85567" r="35057" b="4590"/>
          <a:stretch/>
        </p:blipFill>
        <p:spPr>
          <a:xfrm>
            <a:off x="5217160" y="3913215"/>
            <a:ext cx="2021839" cy="311052"/>
          </a:xfrm>
          <a:prstGeom prst="rect">
            <a:avLst/>
          </a:prstGeom>
        </p:spPr>
      </p:pic>
      <p:grpSp>
        <p:nvGrpSpPr>
          <p:cNvPr id="6" name="Group 5">
            <a:extLst>
              <a:ext uri="{FF2B5EF4-FFF2-40B4-BE49-F238E27FC236}">
                <a16:creationId xmlns:a16="http://schemas.microsoft.com/office/drawing/2014/main" id="{B8C27CEB-EA3A-CE66-F9E8-C588A5FEEFD5}"/>
              </a:ext>
            </a:extLst>
          </p:cNvPr>
          <p:cNvGrpSpPr/>
          <p:nvPr/>
        </p:nvGrpSpPr>
        <p:grpSpPr>
          <a:xfrm>
            <a:off x="6213636" y="1204013"/>
            <a:ext cx="5616427" cy="2615687"/>
            <a:chOff x="6228080" y="1123193"/>
            <a:chExt cx="5616427" cy="2615687"/>
          </a:xfrm>
        </p:grpSpPr>
        <p:pic>
          <p:nvPicPr>
            <p:cNvPr id="7" name="Picture 6">
              <a:extLst>
                <a:ext uri="{FF2B5EF4-FFF2-40B4-BE49-F238E27FC236}">
                  <a16:creationId xmlns:a16="http://schemas.microsoft.com/office/drawing/2014/main" id="{3564FB77-5DA4-44FA-03ED-CF901E4A2A1E}"/>
                </a:ext>
              </a:extLst>
            </p:cNvPr>
            <p:cNvPicPr>
              <a:picLocks noChangeAspect="1"/>
            </p:cNvPicPr>
            <p:nvPr/>
          </p:nvPicPr>
          <p:blipFill>
            <a:blip r:embed="rId5"/>
            <a:srcRect b="13090"/>
            <a:stretch/>
          </p:blipFill>
          <p:spPr>
            <a:xfrm>
              <a:off x="6228080" y="1765201"/>
              <a:ext cx="5616427" cy="1973679"/>
            </a:xfrm>
            <a:prstGeom prst="rect">
              <a:avLst/>
            </a:prstGeom>
          </p:spPr>
        </p:pic>
        <p:pic>
          <p:nvPicPr>
            <p:cNvPr id="13" name="Picture 12" descr="A black and white logo&#10;&#10;AI-generated content may be incorrect.">
              <a:extLst>
                <a:ext uri="{FF2B5EF4-FFF2-40B4-BE49-F238E27FC236}">
                  <a16:creationId xmlns:a16="http://schemas.microsoft.com/office/drawing/2014/main" id="{5BF6BA77-7D2B-EFE9-15DB-E5822DE2B81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61760" y="1190873"/>
              <a:ext cx="1656080" cy="403977"/>
            </a:xfrm>
            <a:prstGeom prst="rect">
              <a:avLst/>
            </a:prstGeom>
          </p:spPr>
        </p:pic>
        <p:sp>
          <p:nvSpPr>
            <p:cNvPr id="18" name="Title 1">
              <a:extLst>
                <a:ext uri="{FF2B5EF4-FFF2-40B4-BE49-F238E27FC236}">
                  <a16:creationId xmlns:a16="http://schemas.microsoft.com/office/drawing/2014/main" id="{0DD2D781-3B51-6A01-F822-2C5BA86DC004}"/>
                </a:ext>
              </a:extLst>
            </p:cNvPr>
            <p:cNvSpPr txBox="1">
              <a:spLocks/>
            </p:cNvSpPr>
            <p:nvPr/>
          </p:nvSpPr>
          <p:spPr>
            <a:xfrm>
              <a:off x="8117840" y="1123193"/>
              <a:ext cx="1760210" cy="53933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600" b="1" kern="100" dirty="0">
                  <a:solidFill>
                    <a:schemeClr val="bg1">
                      <a:lumMod val="95000"/>
                    </a:schemeClr>
                  </a:solidFill>
                  <a:uFill>
                    <a:solidFill>
                      <a:srgbClr val="000000"/>
                    </a:solidFill>
                  </a:uFill>
                  <a:latin typeface="Aptos (Body)"/>
                  <a:ea typeface="Calibri" panose="020F0502020204030204" pitchFamily="34" charset="0"/>
                  <a:cs typeface="Calibri" panose="020F0502020204030204" pitchFamily="34" charset="0"/>
                </a:rPr>
                <a:t>Content : 1250</a:t>
              </a:r>
              <a:endParaRPr lang="en-CA" sz="1600" b="1" dirty="0">
                <a:solidFill>
                  <a:schemeClr val="bg1">
                    <a:lumMod val="95000"/>
                  </a:schemeClr>
                </a:solidFill>
                <a:latin typeface="Aptos (Body)"/>
              </a:endParaRPr>
            </a:p>
          </p:txBody>
        </p:sp>
      </p:grpSp>
      <p:sp>
        <p:nvSpPr>
          <p:cNvPr id="21" name="TextBox 20">
            <a:extLst>
              <a:ext uri="{FF2B5EF4-FFF2-40B4-BE49-F238E27FC236}">
                <a16:creationId xmlns:a16="http://schemas.microsoft.com/office/drawing/2014/main" id="{3D77D3FB-7BC0-CC61-1158-F4B222AF825B}"/>
              </a:ext>
            </a:extLst>
          </p:cNvPr>
          <p:cNvSpPr txBox="1"/>
          <p:nvPr/>
        </p:nvSpPr>
        <p:spPr>
          <a:xfrm>
            <a:off x="407504" y="4899170"/>
            <a:ext cx="11437003" cy="1431161"/>
          </a:xfrm>
          <a:prstGeom prst="rect">
            <a:avLst/>
          </a:prstGeom>
          <a:noFill/>
        </p:spPr>
        <p:txBody>
          <a:bodyPr wrap="square">
            <a:spAutoFit/>
          </a:bodyPr>
          <a:lstStyle/>
          <a:p>
            <a:pPr algn="just">
              <a:buNone/>
            </a:pPr>
            <a:r>
              <a:rPr lang="en-US" sz="1400" b="1" dirty="0">
                <a:solidFill>
                  <a:schemeClr val="bg1">
                    <a:lumMod val="85000"/>
                  </a:schemeClr>
                </a:solidFill>
              </a:rPr>
              <a:t>Content Type Preferences:</a:t>
            </a:r>
          </a:p>
          <a:p>
            <a:pPr marL="285750" indent="-285750" algn="just">
              <a:buFont typeface="Arial" panose="020B0604020202020204" pitchFamily="34" charset="0"/>
              <a:buChar char="•"/>
            </a:pPr>
            <a:r>
              <a:rPr lang="en-US" sz="1400" b="1" dirty="0">
                <a:solidFill>
                  <a:schemeClr val="bg1">
                    <a:lumMod val="85000"/>
                  </a:schemeClr>
                </a:solidFill>
              </a:rPr>
              <a:t>Movies</a:t>
            </a:r>
            <a:r>
              <a:rPr lang="en-US" sz="1400" dirty="0">
                <a:solidFill>
                  <a:schemeClr val="bg1">
                    <a:lumMod val="85000"/>
                  </a:schemeClr>
                </a:solidFill>
              </a:rPr>
              <a:t> are the most-watched content on both platforms, followed by </a:t>
            </a:r>
            <a:r>
              <a:rPr lang="en-US" sz="1400" b="1" dirty="0">
                <a:solidFill>
                  <a:schemeClr val="bg1">
                    <a:lumMod val="85000"/>
                  </a:schemeClr>
                </a:solidFill>
              </a:rPr>
              <a:t>series</a:t>
            </a:r>
            <a:r>
              <a:rPr lang="en-US" sz="1400" dirty="0">
                <a:solidFill>
                  <a:schemeClr val="bg1">
                    <a:lumMod val="85000"/>
                  </a:schemeClr>
                </a:solidFill>
              </a:rPr>
              <a:t>, with </a:t>
            </a:r>
            <a:r>
              <a:rPr lang="en-US" sz="1400" b="1" dirty="0">
                <a:solidFill>
                  <a:schemeClr val="bg1">
                    <a:lumMod val="85000"/>
                  </a:schemeClr>
                </a:solidFill>
              </a:rPr>
              <a:t>sports</a:t>
            </a:r>
            <a:r>
              <a:rPr lang="en-US" sz="1400" dirty="0">
                <a:solidFill>
                  <a:schemeClr val="bg1">
                    <a:lumMod val="85000"/>
                  </a:schemeClr>
                </a:solidFill>
              </a:rPr>
              <a:t> being the least preferred.</a:t>
            </a:r>
          </a:p>
          <a:p>
            <a:pPr marL="285750" indent="-285750" algn="just">
              <a:buFont typeface="Arial" panose="020B0604020202020204" pitchFamily="34" charset="0"/>
              <a:buChar char="•"/>
            </a:pPr>
            <a:r>
              <a:rPr lang="en-US" sz="1400" dirty="0">
                <a:solidFill>
                  <a:schemeClr val="bg1">
                    <a:lumMod val="85000"/>
                  </a:schemeClr>
                </a:solidFill>
              </a:rPr>
              <a:t>However, on </a:t>
            </a:r>
            <a:r>
              <a:rPr lang="en-US" sz="1400" b="1" dirty="0" err="1">
                <a:solidFill>
                  <a:schemeClr val="bg1">
                    <a:lumMod val="85000"/>
                  </a:schemeClr>
                </a:solidFill>
              </a:rPr>
              <a:t>Jotstar</a:t>
            </a:r>
            <a:r>
              <a:rPr lang="en-US" sz="1400" b="1" dirty="0">
                <a:solidFill>
                  <a:schemeClr val="bg1">
                    <a:lumMod val="85000"/>
                  </a:schemeClr>
                </a:solidFill>
              </a:rPr>
              <a:t>, sports content in Hindi</a:t>
            </a:r>
            <a:r>
              <a:rPr lang="en-US" sz="1400" dirty="0">
                <a:solidFill>
                  <a:schemeClr val="bg1">
                    <a:lumMod val="85000"/>
                  </a:schemeClr>
                </a:solidFill>
              </a:rPr>
              <a:t> is more popular than series in Hindi, indicating strong regional sports engagement.</a:t>
            </a:r>
          </a:p>
          <a:p>
            <a:pPr marL="285750" indent="-285750" algn="just">
              <a:buFont typeface="Arial" panose="020B0604020202020204" pitchFamily="34" charset="0"/>
              <a:buChar char="•"/>
            </a:pPr>
            <a:endParaRPr lang="en-CA" sz="1400" dirty="0">
              <a:solidFill>
                <a:schemeClr val="bg1">
                  <a:lumMod val="85000"/>
                </a:schemeClr>
              </a:solidFill>
            </a:endParaRPr>
          </a:p>
          <a:p>
            <a:pPr algn="just">
              <a:buNone/>
            </a:pPr>
            <a:endParaRPr lang="en-US" sz="1600" b="1" dirty="0">
              <a:solidFill>
                <a:schemeClr val="bg1">
                  <a:lumMod val="85000"/>
                </a:schemeClr>
              </a:solidFill>
            </a:endParaRPr>
          </a:p>
          <a:p>
            <a:pPr algn="just"/>
            <a:endParaRPr lang="en-CA" sz="1500" dirty="0">
              <a:solidFill>
                <a:schemeClr val="bg1">
                  <a:lumMod val="85000"/>
                </a:schemeClr>
              </a:solidFill>
            </a:endParaRPr>
          </a:p>
        </p:txBody>
      </p:sp>
      <p:sp>
        <p:nvSpPr>
          <p:cNvPr id="23" name="TextBox 22">
            <a:extLst>
              <a:ext uri="{FF2B5EF4-FFF2-40B4-BE49-F238E27FC236}">
                <a16:creationId xmlns:a16="http://schemas.microsoft.com/office/drawing/2014/main" id="{BBAD021A-C715-21CD-7C3C-43C92D9653BF}"/>
              </a:ext>
            </a:extLst>
          </p:cNvPr>
          <p:cNvSpPr txBox="1"/>
          <p:nvPr/>
        </p:nvSpPr>
        <p:spPr>
          <a:xfrm>
            <a:off x="407504" y="4276454"/>
            <a:ext cx="10984087" cy="323165"/>
          </a:xfrm>
          <a:prstGeom prst="rect">
            <a:avLst/>
          </a:prstGeom>
          <a:noFill/>
        </p:spPr>
        <p:txBody>
          <a:bodyPr wrap="square">
            <a:spAutoFit/>
          </a:bodyPr>
          <a:lstStyle/>
          <a:p>
            <a:pPr algn="ctr"/>
            <a:r>
              <a:rPr lang="en-US" sz="1500" dirty="0" err="1">
                <a:solidFill>
                  <a:schemeClr val="bg1">
                    <a:lumMod val="85000"/>
                  </a:schemeClr>
                </a:solidFill>
              </a:rPr>
              <a:t>Jotstar</a:t>
            </a:r>
            <a:r>
              <a:rPr lang="en-US" sz="1500" dirty="0">
                <a:solidFill>
                  <a:schemeClr val="bg1">
                    <a:lumMod val="85000"/>
                  </a:schemeClr>
                </a:solidFill>
              </a:rPr>
              <a:t> has a larger content library with </a:t>
            </a:r>
            <a:r>
              <a:rPr lang="en-US" sz="1500" b="1" dirty="0">
                <a:solidFill>
                  <a:schemeClr val="bg1">
                    <a:lumMod val="85000"/>
                  </a:schemeClr>
                </a:solidFill>
              </a:rPr>
              <a:t>2,360 titles</a:t>
            </a:r>
            <a:r>
              <a:rPr lang="en-US" sz="1500" dirty="0">
                <a:solidFill>
                  <a:schemeClr val="bg1">
                    <a:lumMod val="85000"/>
                  </a:schemeClr>
                </a:solidFill>
              </a:rPr>
              <a:t>, compared to </a:t>
            </a:r>
            <a:r>
              <a:rPr lang="en-US" sz="1500" b="1" dirty="0">
                <a:solidFill>
                  <a:schemeClr val="bg1">
                    <a:lumMod val="85000"/>
                  </a:schemeClr>
                </a:solidFill>
              </a:rPr>
              <a:t>1,250 titles</a:t>
            </a:r>
            <a:r>
              <a:rPr lang="en-US" sz="1500" dirty="0">
                <a:solidFill>
                  <a:schemeClr val="bg1">
                    <a:lumMod val="85000"/>
                  </a:schemeClr>
                </a:solidFill>
              </a:rPr>
              <a:t> on </a:t>
            </a:r>
            <a:r>
              <a:rPr lang="en-US" sz="1500" dirty="0" err="1">
                <a:solidFill>
                  <a:schemeClr val="bg1">
                    <a:lumMod val="85000"/>
                  </a:schemeClr>
                </a:solidFill>
              </a:rPr>
              <a:t>LioCinema</a:t>
            </a:r>
            <a:r>
              <a:rPr lang="en-US" sz="1500" dirty="0">
                <a:solidFill>
                  <a:schemeClr val="bg1">
                    <a:lumMod val="85000"/>
                  </a:schemeClr>
                </a:solidFill>
              </a:rPr>
              <a:t>.</a:t>
            </a:r>
          </a:p>
        </p:txBody>
      </p:sp>
      <p:pic>
        <p:nvPicPr>
          <p:cNvPr id="12" name="Picture 11">
            <a:extLst>
              <a:ext uri="{FF2B5EF4-FFF2-40B4-BE49-F238E27FC236}">
                <a16:creationId xmlns:a16="http://schemas.microsoft.com/office/drawing/2014/main" id="{405C4CF0-9DBB-6A72-4381-0490A034DB8E}"/>
              </a:ext>
            </a:extLst>
          </p:cNvPr>
          <p:cNvPicPr>
            <a:picLocks noChangeAspect="1"/>
          </p:cNvPicPr>
          <p:nvPr/>
        </p:nvPicPr>
        <p:blipFill>
          <a:blip r:embed="rId7"/>
          <a:stretch>
            <a:fillRect/>
          </a:stretch>
        </p:blipFill>
        <p:spPr>
          <a:xfrm>
            <a:off x="227691" y="1766978"/>
            <a:ext cx="5698325" cy="1973679"/>
          </a:xfrm>
          <a:prstGeom prst="rect">
            <a:avLst/>
          </a:prstGeom>
        </p:spPr>
      </p:pic>
      <p:pic>
        <p:nvPicPr>
          <p:cNvPr id="14" name="Picture 13" descr="A white text on a black background&#10;&#10;AI-generated content may be incorrect.">
            <a:extLst>
              <a:ext uri="{FF2B5EF4-FFF2-40B4-BE49-F238E27FC236}">
                <a16:creationId xmlns:a16="http://schemas.microsoft.com/office/drawing/2014/main" id="{8497582B-454A-AE00-E771-64BFD7ADF22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61937" y="1255678"/>
            <a:ext cx="1324829" cy="404404"/>
          </a:xfrm>
          <a:prstGeom prst="rect">
            <a:avLst/>
          </a:prstGeom>
        </p:spPr>
      </p:pic>
      <p:sp>
        <p:nvSpPr>
          <p:cNvPr id="15" name="Title 1">
            <a:extLst>
              <a:ext uri="{FF2B5EF4-FFF2-40B4-BE49-F238E27FC236}">
                <a16:creationId xmlns:a16="http://schemas.microsoft.com/office/drawing/2014/main" id="{7CFE8B3A-23DE-AB95-21DF-97F6A89985A9}"/>
              </a:ext>
            </a:extLst>
          </p:cNvPr>
          <p:cNvSpPr txBox="1">
            <a:spLocks/>
          </p:cNvSpPr>
          <p:nvPr/>
        </p:nvSpPr>
        <p:spPr>
          <a:xfrm>
            <a:off x="1686766" y="1204013"/>
            <a:ext cx="1760210" cy="53933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600" b="1" kern="100" dirty="0">
                <a:solidFill>
                  <a:schemeClr val="bg1">
                    <a:lumMod val="95000"/>
                  </a:schemeClr>
                </a:solidFill>
                <a:uFill>
                  <a:solidFill>
                    <a:srgbClr val="000000"/>
                  </a:solidFill>
                </a:uFill>
                <a:latin typeface="Aptos (Body)"/>
                <a:ea typeface="Calibri" panose="020F0502020204030204" pitchFamily="34" charset="0"/>
                <a:cs typeface="Calibri" panose="020F0502020204030204" pitchFamily="34" charset="0"/>
              </a:rPr>
              <a:t>Content : 2360</a:t>
            </a:r>
            <a:endParaRPr lang="en-CA" sz="1600" b="1" dirty="0">
              <a:solidFill>
                <a:schemeClr val="bg1">
                  <a:lumMod val="95000"/>
                </a:schemeClr>
              </a:solidFill>
              <a:latin typeface="Aptos (Body)"/>
            </a:endParaRPr>
          </a:p>
        </p:txBody>
      </p:sp>
      <p:cxnSp>
        <p:nvCxnSpPr>
          <p:cNvPr id="3" name="Straight Connector 2">
            <a:extLst>
              <a:ext uri="{FF2B5EF4-FFF2-40B4-BE49-F238E27FC236}">
                <a16:creationId xmlns:a16="http://schemas.microsoft.com/office/drawing/2014/main" id="{85286244-B551-026B-5976-5EE57F39C758}"/>
              </a:ext>
            </a:extLst>
          </p:cNvPr>
          <p:cNvCxnSpPr>
            <a:cxnSpLocks/>
          </p:cNvCxnSpPr>
          <p:nvPr/>
        </p:nvCxnSpPr>
        <p:spPr>
          <a:xfrm>
            <a:off x="6115050" y="1204013"/>
            <a:ext cx="0" cy="2587054"/>
          </a:xfrm>
          <a:prstGeom prst="line">
            <a:avLst/>
          </a:prstGeom>
          <a:ln>
            <a:solidFill>
              <a:srgbClr val="45458B">
                <a:alpha val="44000"/>
              </a:srgbClr>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3128042592"/>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3"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F965AD8C-EBB7-D8B7-F500-D84CC4C843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5DB819-0AD2-BDD9-7EE7-23389E75776F}"/>
              </a:ext>
            </a:extLst>
          </p:cNvPr>
          <p:cNvSpPr>
            <a:spLocks noGrp="1"/>
          </p:cNvSpPr>
          <p:nvPr>
            <p:ph type="title"/>
          </p:nvPr>
        </p:nvSpPr>
        <p:spPr>
          <a:xfrm>
            <a:off x="422280" y="395606"/>
            <a:ext cx="11270974" cy="539336"/>
          </a:xfrm>
        </p:spPr>
        <p:txBody>
          <a:bodyPr>
            <a:normAutofit/>
          </a:bodyPr>
          <a:lstStyle/>
          <a:p>
            <a:pPr algn="ctr"/>
            <a:r>
              <a:rPr lang="en-US" sz="2400" b="1" u="none" strike="noStrike" kern="100" dirty="0">
                <a:solidFill>
                  <a:schemeClr val="bg1">
                    <a:lumMod val="95000"/>
                  </a:schemeClr>
                </a:solidFill>
                <a:effectLst/>
                <a:uFill>
                  <a:solidFill>
                    <a:srgbClr val="000000"/>
                  </a:solidFill>
                </a:uFill>
                <a:latin typeface="Aptos (Body)"/>
                <a:ea typeface="Calibri" panose="020F0502020204030204" pitchFamily="34" charset="0"/>
                <a:cs typeface="Calibri" panose="020F0502020204030204" pitchFamily="34" charset="0"/>
              </a:rPr>
              <a:t>User </a:t>
            </a:r>
            <a:r>
              <a:rPr lang="en-US" sz="2400" b="1" u="none" strike="noStrike" kern="100" dirty="0">
                <a:effectLst/>
                <a:highlight>
                  <a:srgbClr val="C0C0C0"/>
                </a:highlight>
                <a:uFill>
                  <a:solidFill>
                    <a:srgbClr val="000000"/>
                  </a:solidFill>
                </a:uFill>
                <a:latin typeface="Aptos (Body)"/>
                <a:ea typeface="Calibri" panose="020F0502020204030204" pitchFamily="34" charset="0"/>
                <a:cs typeface="Calibri" panose="020F0502020204030204" pitchFamily="34" charset="0"/>
              </a:rPr>
              <a:t>Demographics</a:t>
            </a:r>
            <a:endParaRPr lang="en-CA" sz="5400" b="1" dirty="0">
              <a:highlight>
                <a:srgbClr val="C0C0C0"/>
              </a:highlight>
              <a:latin typeface="Aptos (Body)"/>
            </a:endParaRPr>
          </a:p>
        </p:txBody>
      </p:sp>
      <p:grpSp>
        <p:nvGrpSpPr>
          <p:cNvPr id="20" name="Group 19">
            <a:extLst>
              <a:ext uri="{FF2B5EF4-FFF2-40B4-BE49-F238E27FC236}">
                <a16:creationId xmlns:a16="http://schemas.microsoft.com/office/drawing/2014/main" id="{7C807041-DD0B-DB89-C492-9ADE24E6F988}"/>
              </a:ext>
            </a:extLst>
          </p:cNvPr>
          <p:cNvGrpSpPr/>
          <p:nvPr/>
        </p:nvGrpSpPr>
        <p:grpSpPr>
          <a:xfrm>
            <a:off x="6096000" y="1048702"/>
            <a:ext cx="4541809" cy="4316400"/>
            <a:chOff x="6057767" y="1001973"/>
            <a:chExt cx="4893102" cy="4615055"/>
          </a:xfrm>
        </p:grpSpPr>
        <p:pic>
          <p:nvPicPr>
            <p:cNvPr id="12" name="Picture 11">
              <a:extLst>
                <a:ext uri="{FF2B5EF4-FFF2-40B4-BE49-F238E27FC236}">
                  <a16:creationId xmlns:a16="http://schemas.microsoft.com/office/drawing/2014/main" id="{C7B7033B-7E0A-4FC2-BA78-E36B649ECF1C}"/>
                </a:ext>
              </a:extLst>
            </p:cNvPr>
            <p:cNvPicPr>
              <a:picLocks noChangeAspect="1"/>
            </p:cNvPicPr>
            <p:nvPr/>
          </p:nvPicPr>
          <p:blipFill>
            <a:blip r:embed="rId5"/>
            <a:srcRect l="50000"/>
            <a:stretch/>
          </p:blipFill>
          <p:spPr>
            <a:xfrm>
              <a:off x="6487885" y="1454319"/>
              <a:ext cx="4462984" cy="4162709"/>
            </a:xfrm>
            <a:prstGeom prst="rect">
              <a:avLst/>
            </a:prstGeom>
          </p:spPr>
        </p:pic>
        <p:cxnSp>
          <p:nvCxnSpPr>
            <p:cNvPr id="15" name="Straight Connector 14">
              <a:extLst>
                <a:ext uri="{FF2B5EF4-FFF2-40B4-BE49-F238E27FC236}">
                  <a16:creationId xmlns:a16="http://schemas.microsoft.com/office/drawing/2014/main" id="{0EE6E6D9-4E85-5572-5B0B-0521C5C36F10}"/>
                </a:ext>
              </a:extLst>
            </p:cNvPr>
            <p:cNvCxnSpPr>
              <a:cxnSpLocks/>
            </p:cNvCxnSpPr>
            <p:nvPr/>
          </p:nvCxnSpPr>
          <p:spPr>
            <a:xfrm>
              <a:off x="6057767" y="1103856"/>
              <a:ext cx="0" cy="4513172"/>
            </a:xfrm>
            <a:prstGeom prst="line">
              <a:avLst/>
            </a:prstGeom>
            <a:ln>
              <a:solidFill>
                <a:srgbClr val="45458B">
                  <a:alpha val="44000"/>
                </a:srgbClr>
              </a:solidFill>
            </a:ln>
          </p:spPr>
          <p:style>
            <a:lnRef idx="1">
              <a:schemeClr val="accent1"/>
            </a:lnRef>
            <a:fillRef idx="0">
              <a:schemeClr val="accent1"/>
            </a:fillRef>
            <a:effectRef idx="0">
              <a:schemeClr val="accent1"/>
            </a:effectRef>
            <a:fontRef idx="minor">
              <a:schemeClr val="tx1"/>
            </a:fontRef>
          </p:style>
        </p:cxnSp>
        <p:pic>
          <p:nvPicPr>
            <p:cNvPr id="16" name="Picture 15" descr="A black and white logo&#10;&#10;AI-generated content may be incorrect.">
              <a:extLst>
                <a:ext uri="{FF2B5EF4-FFF2-40B4-BE49-F238E27FC236}">
                  <a16:creationId xmlns:a16="http://schemas.microsoft.com/office/drawing/2014/main" id="{1E31E7CA-BF77-4148-FC99-38F592900FF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604907" y="1001973"/>
              <a:ext cx="1656080" cy="403977"/>
            </a:xfrm>
            <a:prstGeom prst="rect">
              <a:avLst/>
            </a:prstGeom>
          </p:spPr>
        </p:pic>
      </p:grpSp>
      <p:grpSp>
        <p:nvGrpSpPr>
          <p:cNvPr id="19" name="Group 18">
            <a:extLst>
              <a:ext uri="{FF2B5EF4-FFF2-40B4-BE49-F238E27FC236}">
                <a16:creationId xmlns:a16="http://schemas.microsoft.com/office/drawing/2014/main" id="{78A28211-B4D7-5EFB-5A95-9BBEBE5D70CA}"/>
              </a:ext>
            </a:extLst>
          </p:cNvPr>
          <p:cNvGrpSpPr/>
          <p:nvPr/>
        </p:nvGrpSpPr>
        <p:grpSpPr>
          <a:xfrm>
            <a:off x="1231799" y="1049915"/>
            <a:ext cx="4151963" cy="4315187"/>
            <a:chOff x="933220" y="1049915"/>
            <a:chExt cx="4462984" cy="4567113"/>
          </a:xfrm>
        </p:grpSpPr>
        <p:pic>
          <p:nvPicPr>
            <p:cNvPr id="10" name="Picture 9">
              <a:extLst>
                <a:ext uri="{FF2B5EF4-FFF2-40B4-BE49-F238E27FC236}">
                  <a16:creationId xmlns:a16="http://schemas.microsoft.com/office/drawing/2014/main" id="{C0F05D77-AFCF-D67D-E82C-17486E63FF5E}"/>
                </a:ext>
              </a:extLst>
            </p:cNvPr>
            <p:cNvPicPr>
              <a:picLocks noChangeAspect="1"/>
            </p:cNvPicPr>
            <p:nvPr/>
          </p:nvPicPr>
          <p:blipFill>
            <a:blip r:embed="rId5"/>
            <a:srcRect r="50000"/>
            <a:stretch/>
          </p:blipFill>
          <p:spPr>
            <a:xfrm>
              <a:off x="933220" y="1454319"/>
              <a:ext cx="4462984" cy="4162709"/>
            </a:xfrm>
            <a:prstGeom prst="rect">
              <a:avLst/>
            </a:prstGeom>
          </p:spPr>
        </p:pic>
        <p:pic>
          <p:nvPicPr>
            <p:cNvPr id="17" name="Picture 16" descr="A white text on a black background&#10;&#10;AI-generated content may be incorrect.">
              <a:extLst>
                <a:ext uri="{FF2B5EF4-FFF2-40B4-BE49-F238E27FC236}">
                  <a16:creationId xmlns:a16="http://schemas.microsoft.com/office/drawing/2014/main" id="{75FA063C-9086-5944-2ADC-EC0DDD4C4D5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29139" y="1049915"/>
              <a:ext cx="1324829" cy="404404"/>
            </a:xfrm>
            <a:prstGeom prst="rect">
              <a:avLst/>
            </a:prstGeom>
          </p:spPr>
        </p:pic>
      </p:grpSp>
      <p:sp>
        <p:nvSpPr>
          <p:cNvPr id="21" name="TextBox 20">
            <a:extLst>
              <a:ext uri="{FF2B5EF4-FFF2-40B4-BE49-F238E27FC236}">
                <a16:creationId xmlns:a16="http://schemas.microsoft.com/office/drawing/2014/main" id="{678BA288-A0A5-5F11-1BB7-76EEA7BABB95}"/>
              </a:ext>
            </a:extLst>
          </p:cNvPr>
          <p:cNvSpPr txBox="1"/>
          <p:nvPr/>
        </p:nvSpPr>
        <p:spPr>
          <a:xfrm>
            <a:off x="531845" y="5386225"/>
            <a:ext cx="11161410" cy="1077218"/>
          </a:xfrm>
          <a:prstGeom prst="rect">
            <a:avLst/>
          </a:prstGeom>
          <a:noFill/>
        </p:spPr>
        <p:txBody>
          <a:bodyPr wrap="square" rtlCol="0">
            <a:spAutoFit/>
          </a:bodyPr>
          <a:lstStyle/>
          <a:p>
            <a:pPr marL="285750" indent="-285750">
              <a:buFont typeface="Arial" panose="020B0604020202020204" pitchFamily="34" charset="0"/>
              <a:buChar char="•"/>
            </a:pPr>
            <a:r>
              <a:rPr lang="en-US" sz="1600" dirty="0">
                <a:solidFill>
                  <a:schemeClr val="bg1">
                    <a:lumMod val="85000"/>
                  </a:schemeClr>
                </a:solidFill>
              </a:rPr>
              <a:t>Age Group: </a:t>
            </a:r>
            <a:r>
              <a:rPr lang="en-US" sz="1600" dirty="0" err="1">
                <a:solidFill>
                  <a:schemeClr val="bg1">
                    <a:lumMod val="85000"/>
                  </a:schemeClr>
                </a:solidFill>
              </a:rPr>
              <a:t>Jotstar's</a:t>
            </a:r>
            <a:r>
              <a:rPr lang="en-US" sz="1600" dirty="0">
                <a:solidFill>
                  <a:schemeClr val="bg1">
                    <a:lumMod val="85000"/>
                  </a:schemeClr>
                </a:solidFill>
              </a:rPr>
              <a:t> most popular age group is 25-34 (45%), while </a:t>
            </a:r>
            <a:r>
              <a:rPr lang="en-US" sz="1600" dirty="0" err="1">
                <a:solidFill>
                  <a:schemeClr val="bg1">
                    <a:lumMod val="85000"/>
                  </a:schemeClr>
                </a:solidFill>
              </a:rPr>
              <a:t>Liocinema's</a:t>
            </a:r>
            <a:r>
              <a:rPr lang="en-US" sz="1600" dirty="0">
                <a:solidFill>
                  <a:schemeClr val="bg1">
                    <a:lumMod val="85000"/>
                  </a:schemeClr>
                </a:solidFill>
              </a:rPr>
              <a:t> is 18-24 (44%).</a:t>
            </a:r>
          </a:p>
          <a:p>
            <a:pPr marL="285750" indent="-285750">
              <a:buFont typeface="Arial" panose="020B0604020202020204" pitchFamily="34" charset="0"/>
              <a:buChar char="•"/>
            </a:pPr>
            <a:r>
              <a:rPr lang="en-US" sz="1600" dirty="0">
                <a:solidFill>
                  <a:schemeClr val="bg1">
                    <a:lumMod val="85000"/>
                  </a:schemeClr>
                </a:solidFill>
              </a:rPr>
              <a:t>City Tier: </a:t>
            </a:r>
            <a:r>
              <a:rPr lang="en-US" sz="1600" dirty="0" err="1">
                <a:solidFill>
                  <a:schemeClr val="bg1">
                    <a:lumMod val="85000"/>
                  </a:schemeClr>
                </a:solidFill>
              </a:rPr>
              <a:t>Jotstar's</a:t>
            </a:r>
            <a:r>
              <a:rPr lang="en-US" sz="1600" dirty="0">
                <a:solidFill>
                  <a:schemeClr val="bg1">
                    <a:lumMod val="85000"/>
                  </a:schemeClr>
                </a:solidFill>
              </a:rPr>
              <a:t> subscribers (25K) are mostly from Tier 1 cities, while </a:t>
            </a:r>
            <a:r>
              <a:rPr lang="en-US" sz="1600" dirty="0" err="1">
                <a:solidFill>
                  <a:schemeClr val="bg1">
                    <a:lumMod val="85000"/>
                  </a:schemeClr>
                </a:solidFill>
              </a:rPr>
              <a:t>Liocinema's</a:t>
            </a:r>
            <a:r>
              <a:rPr lang="en-US" sz="1600" dirty="0">
                <a:solidFill>
                  <a:schemeClr val="bg1">
                    <a:lumMod val="85000"/>
                  </a:schemeClr>
                </a:solidFill>
              </a:rPr>
              <a:t> subscribers (79K) are mainly from Tier 3 cities.</a:t>
            </a:r>
          </a:p>
          <a:p>
            <a:pPr marL="285750" indent="-285750">
              <a:buFont typeface="Arial" panose="020B0604020202020204" pitchFamily="34" charset="0"/>
              <a:buChar char="•"/>
            </a:pPr>
            <a:r>
              <a:rPr lang="en-US" sz="1600" dirty="0">
                <a:solidFill>
                  <a:schemeClr val="bg1">
                    <a:lumMod val="85000"/>
                  </a:schemeClr>
                </a:solidFill>
              </a:rPr>
              <a:t>Subscription Plan: </a:t>
            </a:r>
            <a:r>
              <a:rPr lang="en-US" sz="1600" dirty="0" err="1">
                <a:solidFill>
                  <a:schemeClr val="bg1">
                    <a:lumMod val="85000"/>
                  </a:schemeClr>
                </a:solidFill>
              </a:rPr>
              <a:t>Jotstar</a:t>
            </a:r>
            <a:r>
              <a:rPr lang="en-US" sz="1600" dirty="0">
                <a:solidFill>
                  <a:schemeClr val="bg1">
                    <a:lumMod val="85000"/>
                  </a:schemeClr>
                </a:solidFill>
              </a:rPr>
              <a:t> has many paid users on VIP and Premium plans, whereas </a:t>
            </a:r>
            <a:r>
              <a:rPr lang="en-US" sz="1600" dirty="0" err="1">
                <a:solidFill>
                  <a:schemeClr val="bg1">
                    <a:lumMod val="85000"/>
                  </a:schemeClr>
                </a:solidFill>
              </a:rPr>
              <a:t>Liocinema</a:t>
            </a:r>
            <a:r>
              <a:rPr lang="en-US" sz="1600" dirty="0">
                <a:solidFill>
                  <a:schemeClr val="bg1">
                    <a:lumMod val="85000"/>
                  </a:schemeClr>
                </a:solidFill>
              </a:rPr>
              <a:t> mainly attracts free users, with very few opting for Basic or Premium plans.</a:t>
            </a:r>
          </a:p>
        </p:txBody>
      </p:sp>
    </p:spTree>
    <p:custDataLst>
      <p:tags r:id="rId1"/>
    </p:custDataLst>
    <p:extLst>
      <p:ext uri="{BB962C8B-B14F-4D97-AF65-F5344CB8AC3E}">
        <p14:creationId xmlns:p14="http://schemas.microsoft.com/office/powerpoint/2010/main" val="1591571716"/>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3BE3BB49-2437-BFC5-1002-5045EC2DEE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FD4FC0-072F-6677-79E9-450384A84433}"/>
              </a:ext>
            </a:extLst>
          </p:cNvPr>
          <p:cNvSpPr>
            <a:spLocks noGrp="1"/>
          </p:cNvSpPr>
          <p:nvPr>
            <p:ph type="title"/>
          </p:nvPr>
        </p:nvSpPr>
        <p:spPr>
          <a:xfrm>
            <a:off x="407504" y="365126"/>
            <a:ext cx="11320670" cy="539336"/>
          </a:xfrm>
        </p:spPr>
        <p:txBody>
          <a:bodyPr>
            <a:normAutofit/>
          </a:bodyPr>
          <a:lstStyle/>
          <a:p>
            <a:pPr algn="ctr"/>
            <a:r>
              <a:rPr lang="en-US" sz="2400" b="1" u="none" strike="noStrike" kern="100" dirty="0">
                <a:effectLst/>
                <a:highlight>
                  <a:srgbClr val="C0C0C0"/>
                </a:highlight>
                <a:uFill>
                  <a:solidFill>
                    <a:srgbClr val="000000"/>
                  </a:solidFill>
                </a:uFill>
                <a:latin typeface="Aptos (Body)"/>
                <a:ea typeface="Calibri" panose="020F0502020204030204" pitchFamily="34" charset="0"/>
                <a:cs typeface="Calibri" panose="020F0502020204030204" pitchFamily="34" charset="0"/>
              </a:rPr>
              <a:t>Active</a:t>
            </a:r>
            <a:r>
              <a:rPr lang="en-US" sz="2400" b="1" u="none" strike="noStrike" kern="100" dirty="0">
                <a:solidFill>
                  <a:schemeClr val="bg1">
                    <a:lumMod val="95000"/>
                  </a:schemeClr>
                </a:solidFill>
                <a:effectLst/>
                <a:uFill>
                  <a:solidFill>
                    <a:srgbClr val="000000"/>
                  </a:solidFill>
                </a:uFill>
                <a:latin typeface="Aptos (Body)"/>
                <a:ea typeface="Calibri" panose="020F0502020204030204" pitchFamily="34" charset="0"/>
                <a:cs typeface="Calibri" panose="020F0502020204030204" pitchFamily="34" charset="0"/>
              </a:rPr>
              <a:t> Users</a:t>
            </a:r>
            <a:endParaRPr lang="en-CA" sz="5400" b="1" dirty="0">
              <a:solidFill>
                <a:schemeClr val="bg1">
                  <a:lumMod val="95000"/>
                </a:schemeClr>
              </a:solidFill>
              <a:latin typeface="Aptos (Body)"/>
            </a:endParaRPr>
          </a:p>
        </p:txBody>
      </p:sp>
      <p:sp>
        <p:nvSpPr>
          <p:cNvPr id="3" name="TextBox 2">
            <a:extLst>
              <a:ext uri="{FF2B5EF4-FFF2-40B4-BE49-F238E27FC236}">
                <a16:creationId xmlns:a16="http://schemas.microsoft.com/office/drawing/2014/main" id="{4C7F115E-6F2E-E855-12B6-C4D7CAB71478}"/>
              </a:ext>
            </a:extLst>
          </p:cNvPr>
          <p:cNvSpPr txBox="1"/>
          <p:nvPr/>
        </p:nvSpPr>
        <p:spPr>
          <a:xfrm>
            <a:off x="8620693" y="1894115"/>
            <a:ext cx="3107481" cy="3293209"/>
          </a:xfrm>
          <a:prstGeom prst="rect">
            <a:avLst/>
          </a:prstGeom>
          <a:noFill/>
        </p:spPr>
        <p:txBody>
          <a:bodyPr wrap="square" rtlCol="0">
            <a:spAutoFit/>
          </a:bodyPr>
          <a:lstStyle/>
          <a:p>
            <a:pPr marL="285750" indent="-285750">
              <a:buFont typeface="Arial" panose="020B0604020202020204" pitchFamily="34" charset="0"/>
              <a:buChar char="•"/>
            </a:pPr>
            <a:r>
              <a:rPr lang="en-US" sz="1600" dirty="0" err="1">
                <a:solidFill>
                  <a:schemeClr val="bg1">
                    <a:lumMod val="85000"/>
                  </a:schemeClr>
                </a:solidFill>
              </a:rPr>
              <a:t>Liocinema</a:t>
            </a:r>
            <a:r>
              <a:rPr lang="en-US" sz="1600" dirty="0">
                <a:solidFill>
                  <a:schemeClr val="bg1">
                    <a:lumMod val="85000"/>
                  </a:schemeClr>
                </a:solidFill>
              </a:rPr>
              <a:t> clearly leads user engagement with </a:t>
            </a:r>
            <a:r>
              <a:rPr lang="en-US" sz="1600" b="1" dirty="0">
                <a:solidFill>
                  <a:schemeClr val="bg1">
                    <a:lumMod val="85000"/>
                  </a:schemeClr>
                </a:solidFill>
              </a:rPr>
              <a:t>45% active users</a:t>
            </a:r>
            <a:r>
              <a:rPr lang="en-US" sz="1600" dirty="0">
                <a:solidFill>
                  <a:schemeClr val="bg1">
                    <a:lumMod val="85000"/>
                  </a:schemeClr>
                </a:solidFill>
              </a:rPr>
              <a:t>, outperforming </a:t>
            </a:r>
            <a:r>
              <a:rPr lang="en-US" sz="1600" dirty="0" err="1">
                <a:solidFill>
                  <a:schemeClr val="bg1">
                    <a:lumMod val="85000"/>
                  </a:schemeClr>
                </a:solidFill>
              </a:rPr>
              <a:t>Jotstar's</a:t>
            </a:r>
            <a:r>
              <a:rPr lang="en-US" sz="1600" dirty="0">
                <a:solidFill>
                  <a:schemeClr val="bg1">
                    <a:lumMod val="85000"/>
                  </a:schemeClr>
                </a:solidFill>
              </a:rPr>
              <a:t> </a:t>
            </a:r>
            <a:r>
              <a:rPr lang="en-US" sz="1600" b="1" dirty="0">
                <a:solidFill>
                  <a:schemeClr val="bg1">
                    <a:lumMod val="85000"/>
                  </a:schemeClr>
                </a:solidFill>
              </a:rPr>
              <a:t>15%</a:t>
            </a:r>
            <a:r>
              <a:rPr lang="en-US" sz="1600" dirty="0">
                <a:solidFill>
                  <a:schemeClr val="bg1">
                    <a:lumMod val="85000"/>
                  </a:schemeClr>
                </a:solidFill>
              </a:rPr>
              <a:t>. </a:t>
            </a:r>
          </a:p>
          <a:p>
            <a:pPr marL="285750" indent="-285750">
              <a:buFont typeface="Arial" panose="020B0604020202020204" pitchFamily="34" charset="0"/>
              <a:buChar char="•"/>
            </a:pPr>
            <a:endParaRPr lang="en-US" sz="1600" dirty="0">
              <a:solidFill>
                <a:schemeClr val="bg1">
                  <a:lumMod val="85000"/>
                </a:schemeClr>
              </a:solidFill>
            </a:endParaRPr>
          </a:p>
          <a:p>
            <a:pPr marL="285750" indent="-285750">
              <a:buFont typeface="Arial" panose="020B0604020202020204" pitchFamily="34" charset="0"/>
              <a:buChar char="•"/>
            </a:pPr>
            <a:r>
              <a:rPr lang="en-US" sz="1600" dirty="0">
                <a:solidFill>
                  <a:schemeClr val="bg1">
                    <a:lumMod val="85000"/>
                  </a:schemeClr>
                </a:solidFill>
              </a:rPr>
              <a:t>Users from </a:t>
            </a:r>
            <a:r>
              <a:rPr lang="en-US" sz="1600" b="1" dirty="0">
                <a:solidFill>
                  <a:schemeClr val="bg1">
                    <a:lumMod val="85000"/>
                  </a:schemeClr>
                </a:solidFill>
              </a:rPr>
              <a:t>Tier 3 cities</a:t>
            </a:r>
            <a:r>
              <a:rPr lang="en-US" sz="1600" dirty="0">
                <a:solidFill>
                  <a:schemeClr val="bg1">
                    <a:lumMod val="85000"/>
                  </a:schemeClr>
                </a:solidFill>
              </a:rPr>
              <a:t> drive most activity on both platforms, especially the energetic </a:t>
            </a:r>
            <a:r>
              <a:rPr lang="en-US" sz="1600" b="1" dirty="0">
                <a:solidFill>
                  <a:schemeClr val="bg1">
                    <a:lumMod val="85000"/>
                  </a:schemeClr>
                </a:solidFill>
              </a:rPr>
              <a:t>18-24</a:t>
            </a:r>
            <a:r>
              <a:rPr lang="en-US" sz="1600" dirty="0">
                <a:solidFill>
                  <a:schemeClr val="bg1">
                    <a:lumMod val="85000"/>
                  </a:schemeClr>
                </a:solidFill>
              </a:rPr>
              <a:t> segment. </a:t>
            </a:r>
          </a:p>
          <a:p>
            <a:pPr marL="285750" indent="-285750">
              <a:buFont typeface="Arial" panose="020B0604020202020204" pitchFamily="34" charset="0"/>
              <a:buChar char="•"/>
            </a:pPr>
            <a:endParaRPr lang="en-US" sz="1600" dirty="0">
              <a:solidFill>
                <a:schemeClr val="bg1">
                  <a:lumMod val="85000"/>
                </a:schemeClr>
              </a:solidFill>
            </a:endParaRPr>
          </a:p>
          <a:p>
            <a:pPr marL="285750" indent="-285750">
              <a:buFont typeface="Arial" panose="020B0604020202020204" pitchFamily="34" charset="0"/>
              <a:buChar char="•"/>
            </a:pPr>
            <a:r>
              <a:rPr lang="en-US" sz="1600" dirty="0" err="1">
                <a:solidFill>
                  <a:schemeClr val="bg1">
                    <a:lumMod val="85000"/>
                  </a:schemeClr>
                </a:solidFill>
              </a:rPr>
              <a:t>Jotstar</a:t>
            </a:r>
            <a:r>
              <a:rPr lang="en-US" sz="1600" dirty="0">
                <a:solidFill>
                  <a:schemeClr val="bg1">
                    <a:lumMod val="85000"/>
                  </a:schemeClr>
                </a:solidFill>
              </a:rPr>
              <a:t> also sees strong engagement from the </a:t>
            </a:r>
            <a:r>
              <a:rPr lang="en-US" sz="1600" b="1" dirty="0">
                <a:solidFill>
                  <a:schemeClr val="bg1">
                    <a:lumMod val="85000"/>
                  </a:schemeClr>
                </a:solidFill>
              </a:rPr>
              <a:t>25-34</a:t>
            </a:r>
            <a:r>
              <a:rPr lang="en-US" sz="1600" dirty="0">
                <a:solidFill>
                  <a:schemeClr val="bg1">
                    <a:lumMod val="85000"/>
                  </a:schemeClr>
                </a:solidFill>
              </a:rPr>
              <a:t> age group.</a:t>
            </a:r>
            <a:endParaRPr lang="en-CA" sz="1600" b="1" dirty="0">
              <a:solidFill>
                <a:schemeClr val="bg1">
                  <a:lumMod val="85000"/>
                </a:schemeClr>
              </a:solidFill>
            </a:endParaRPr>
          </a:p>
        </p:txBody>
      </p:sp>
      <p:grpSp>
        <p:nvGrpSpPr>
          <p:cNvPr id="13" name="Group 12">
            <a:extLst>
              <a:ext uri="{FF2B5EF4-FFF2-40B4-BE49-F238E27FC236}">
                <a16:creationId xmlns:a16="http://schemas.microsoft.com/office/drawing/2014/main" id="{D24E0676-A19A-A2AC-978B-AED0D5950F85}"/>
              </a:ext>
            </a:extLst>
          </p:cNvPr>
          <p:cNvGrpSpPr/>
          <p:nvPr/>
        </p:nvGrpSpPr>
        <p:grpSpPr>
          <a:xfrm>
            <a:off x="4873389" y="1198480"/>
            <a:ext cx="3327880" cy="5005446"/>
            <a:chOff x="4067810" y="895006"/>
            <a:chExt cx="3327880" cy="5005446"/>
          </a:xfrm>
        </p:grpSpPr>
        <p:pic>
          <p:nvPicPr>
            <p:cNvPr id="6" name="Picture 5">
              <a:extLst>
                <a:ext uri="{FF2B5EF4-FFF2-40B4-BE49-F238E27FC236}">
                  <a16:creationId xmlns:a16="http://schemas.microsoft.com/office/drawing/2014/main" id="{5A95E478-DBBD-49F4-7AEB-5933029ADD37}"/>
                </a:ext>
              </a:extLst>
            </p:cNvPr>
            <p:cNvPicPr>
              <a:picLocks noChangeAspect="1"/>
            </p:cNvPicPr>
            <p:nvPr/>
          </p:nvPicPr>
          <p:blipFill>
            <a:blip r:embed="rId5"/>
            <a:srcRect l="55303" t="22211"/>
            <a:stretch/>
          </p:blipFill>
          <p:spPr>
            <a:xfrm>
              <a:off x="4067810" y="2313991"/>
              <a:ext cx="3327880" cy="3586461"/>
            </a:xfrm>
            <a:prstGeom prst="rect">
              <a:avLst/>
            </a:prstGeom>
          </p:spPr>
        </p:pic>
        <p:pic>
          <p:nvPicPr>
            <p:cNvPr id="7" name="Picture 6" descr="A black and white logo&#10;&#10;AI-generated content may be incorrect.">
              <a:extLst>
                <a:ext uri="{FF2B5EF4-FFF2-40B4-BE49-F238E27FC236}">
                  <a16:creationId xmlns:a16="http://schemas.microsoft.com/office/drawing/2014/main" id="{17F04A8E-C5B8-4EA3-F7E9-64FFF822DA3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180871" y="895006"/>
              <a:ext cx="1550879" cy="378315"/>
            </a:xfrm>
            <a:prstGeom prst="rect">
              <a:avLst/>
            </a:prstGeom>
          </p:spPr>
        </p:pic>
        <p:pic>
          <p:nvPicPr>
            <p:cNvPr id="9" name="Picture 8">
              <a:extLst>
                <a:ext uri="{FF2B5EF4-FFF2-40B4-BE49-F238E27FC236}">
                  <a16:creationId xmlns:a16="http://schemas.microsoft.com/office/drawing/2014/main" id="{4E2819DB-C334-F9E6-483B-BCB2601B723A}"/>
                </a:ext>
              </a:extLst>
            </p:cNvPr>
            <p:cNvPicPr>
              <a:picLocks noChangeAspect="1"/>
            </p:cNvPicPr>
            <p:nvPr/>
          </p:nvPicPr>
          <p:blipFill>
            <a:blip r:embed="rId5"/>
            <a:srcRect l="61072" b="77789"/>
            <a:stretch/>
          </p:blipFill>
          <p:spPr>
            <a:xfrm>
              <a:off x="4160306" y="1312908"/>
              <a:ext cx="2898335" cy="1024038"/>
            </a:xfrm>
            <a:prstGeom prst="rect">
              <a:avLst/>
            </a:prstGeom>
          </p:spPr>
        </p:pic>
      </p:grpSp>
      <p:grpSp>
        <p:nvGrpSpPr>
          <p:cNvPr id="12" name="Group 11">
            <a:extLst>
              <a:ext uri="{FF2B5EF4-FFF2-40B4-BE49-F238E27FC236}">
                <a16:creationId xmlns:a16="http://schemas.microsoft.com/office/drawing/2014/main" id="{415FA8AC-687E-EB7D-15B6-36F1E999644B}"/>
              </a:ext>
            </a:extLst>
          </p:cNvPr>
          <p:cNvGrpSpPr/>
          <p:nvPr/>
        </p:nvGrpSpPr>
        <p:grpSpPr>
          <a:xfrm>
            <a:off x="1004663" y="1219078"/>
            <a:ext cx="3548337" cy="4984848"/>
            <a:chOff x="407504" y="915605"/>
            <a:chExt cx="3548337" cy="4984848"/>
          </a:xfrm>
        </p:grpSpPr>
        <p:pic>
          <p:nvPicPr>
            <p:cNvPr id="5" name="Picture 4">
              <a:extLst>
                <a:ext uri="{FF2B5EF4-FFF2-40B4-BE49-F238E27FC236}">
                  <a16:creationId xmlns:a16="http://schemas.microsoft.com/office/drawing/2014/main" id="{95CB06CC-2CD4-9B16-4C59-ED0B16C48A06}"/>
                </a:ext>
              </a:extLst>
            </p:cNvPr>
            <p:cNvPicPr>
              <a:picLocks noChangeAspect="1"/>
            </p:cNvPicPr>
            <p:nvPr/>
          </p:nvPicPr>
          <p:blipFill>
            <a:blip r:embed="rId5"/>
            <a:srcRect l="2961" r="52342" b="77291"/>
            <a:stretch/>
          </p:blipFill>
          <p:spPr>
            <a:xfrm>
              <a:off x="463826" y="1289953"/>
              <a:ext cx="3327880" cy="1046993"/>
            </a:xfrm>
            <a:prstGeom prst="rect">
              <a:avLst/>
            </a:prstGeom>
          </p:spPr>
        </p:pic>
        <p:pic>
          <p:nvPicPr>
            <p:cNvPr id="8" name="Picture 7" descr="A white text on a black background&#10;&#10;AI-generated content may be incorrect.">
              <a:extLst>
                <a:ext uri="{FF2B5EF4-FFF2-40B4-BE49-F238E27FC236}">
                  <a16:creationId xmlns:a16="http://schemas.microsoft.com/office/drawing/2014/main" id="{14CA7E20-6EC6-5204-E95C-229087185BA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63826" y="915605"/>
              <a:ext cx="1324829" cy="404404"/>
            </a:xfrm>
            <a:prstGeom prst="rect">
              <a:avLst/>
            </a:prstGeom>
          </p:spPr>
        </p:pic>
        <p:pic>
          <p:nvPicPr>
            <p:cNvPr id="11" name="Picture 10">
              <a:extLst>
                <a:ext uri="{FF2B5EF4-FFF2-40B4-BE49-F238E27FC236}">
                  <a16:creationId xmlns:a16="http://schemas.microsoft.com/office/drawing/2014/main" id="{093BB7C6-F9C7-23BA-A45F-B9E015547426}"/>
                </a:ext>
              </a:extLst>
            </p:cNvPr>
            <p:cNvPicPr>
              <a:picLocks noChangeAspect="1"/>
            </p:cNvPicPr>
            <p:nvPr/>
          </p:nvPicPr>
          <p:blipFill>
            <a:blip r:embed="rId5"/>
            <a:srcRect t="22211" r="52342"/>
            <a:stretch/>
          </p:blipFill>
          <p:spPr>
            <a:xfrm>
              <a:off x="407504" y="2313991"/>
              <a:ext cx="3548337" cy="3586462"/>
            </a:xfrm>
            <a:prstGeom prst="rect">
              <a:avLst/>
            </a:prstGeom>
          </p:spPr>
        </p:pic>
      </p:grpSp>
      <p:cxnSp>
        <p:nvCxnSpPr>
          <p:cNvPr id="14" name="Straight Connector 13">
            <a:extLst>
              <a:ext uri="{FF2B5EF4-FFF2-40B4-BE49-F238E27FC236}">
                <a16:creationId xmlns:a16="http://schemas.microsoft.com/office/drawing/2014/main" id="{5FF877FB-540F-39F2-F547-4338DADE4FFB}"/>
              </a:ext>
            </a:extLst>
          </p:cNvPr>
          <p:cNvCxnSpPr>
            <a:cxnSpLocks/>
          </p:cNvCxnSpPr>
          <p:nvPr/>
        </p:nvCxnSpPr>
        <p:spPr>
          <a:xfrm>
            <a:off x="4546460" y="1125351"/>
            <a:ext cx="0" cy="5253722"/>
          </a:xfrm>
          <a:prstGeom prst="line">
            <a:avLst/>
          </a:prstGeom>
          <a:ln>
            <a:solidFill>
              <a:srgbClr val="45458B">
                <a:alpha val="44000"/>
              </a:srgbClr>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161338483"/>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53E0AA96-7CF3-797F-1B53-12D4A615AA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B50FD1-CA25-C9FA-7C32-68E78BD1E0E6}"/>
              </a:ext>
            </a:extLst>
          </p:cNvPr>
          <p:cNvSpPr>
            <a:spLocks noGrp="1"/>
          </p:cNvSpPr>
          <p:nvPr>
            <p:ph type="title"/>
          </p:nvPr>
        </p:nvSpPr>
        <p:spPr>
          <a:xfrm>
            <a:off x="407504" y="365126"/>
            <a:ext cx="11320670" cy="539336"/>
          </a:xfrm>
        </p:spPr>
        <p:txBody>
          <a:bodyPr>
            <a:normAutofit/>
          </a:bodyPr>
          <a:lstStyle/>
          <a:p>
            <a:pPr algn="ctr"/>
            <a:r>
              <a:rPr lang="en-US" sz="2400" b="1" u="none" strike="noStrike" kern="100" dirty="0">
                <a:effectLst/>
                <a:highlight>
                  <a:srgbClr val="C0C0C0"/>
                </a:highlight>
                <a:uFill>
                  <a:solidFill>
                    <a:srgbClr val="000000"/>
                  </a:solidFill>
                </a:uFill>
                <a:latin typeface="Aptos (Body)"/>
                <a:ea typeface="Calibri" panose="020F0502020204030204" pitchFamily="34" charset="0"/>
                <a:cs typeface="Calibri" panose="020F0502020204030204" pitchFamily="34" charset="0"/>
              </a:rPr>
              <a:t>Inactive</a:t>
            </a:r>
            <a:r>
              <a:rPr lang="en-US" sz="2400" b="1" u="none" strike="noStrike" kern="100" dirty="0">
                <a:solidFill>
                  <a:schemeClr val="bg1">
                    <a:lumMod val="95000"/>
                  </a:schemeClr>
                </a:solidFill>
                <a:effectLst/>
                <a:uFill>
                  <a:solidFill>
                    <a:srgbClr val="000000"/>
                  </a:solidFill>
                </a:uFill>
                <a:latin typeface="Aptos (Body)"/>
                <a:ea typeface="Calibri" panose="020F0502020204030204" pitchFamily="34" charset="0"/>
                <a:cs typeface="Calibri" panose="020F0502020204030204" pitchFamily="34" charset="0"/>
              </a:rPr>
              <a:t> Users</a:t>
            </a:r>
            <a:endParaRPr lang="en-CA" sz="5400" b="1" dirty="0">
              <a:solidFill>
                <a:schemeClr val="bg1">
                  <a:lumMod val="95000"/>
                </a:schemeClr>
              </a:solidFill>
              <a:latin typeface="Aptos (Body)"/>
            </a:endParaRPr>
          </a:p>
        </p:txBody>
      </p:sp>
      <p:grpSp>
        <p:nvGrpSpPr>
          <p:cNvPr id="23" name="Group 22">
            <a:extLst>
              <a:ext uri="{FF2B5EF4-FFF2-40B4-BE49-F238E27FC236}">
                <a16:creationId xmlns:a16="http://schemas.microsoft.com/office/drawing/2014/main" id="{2AC47B2C-F5DF-FC97-CDE6-40D5FD6E2C9D}"/>
              </a:ext>
            </a:extLst>
          </p:cNvPr>
          <p:cNvGrpSpPr/>
          <p:nvPr/>
        </p:nvGrpSpPr>
        <p:grpSpPr>
          <a:xfrm>
            <a:off x="930018" y="1082347"/>
            <a:ext cx="7368298" cy="5210909"/>
            <a:chOff x="344965" y="1289953"/>
            <a:chExt cx="7368298" cy="5210909"/>
          </a:xfrm>
        </p:grpSpPr>
        <p:grpSp>
          <p:nvGrpSpPr>
            <p:cNvPr id="20" name="Group 19">
              <a:extLst>
                <a:ext uri="{FF2B5EF4-FFF2-40B4-BE49-F238E27FC236}">
                  <a16:creationId xmlns:a16="http://schemas.microsoft.com/office/drawing/2014/main" id="{1EEA987F-B802-C79C-D387-0DD7ABE31D07}"/>
                </a:ext>
              </a:extLst>
            </p:cNvPr>
            <p:cNvGrpSpPr/>
            <p:nvPr/>
          </p:nvGrpSpPr>
          <p:grpSpPr>
            <a:xfrm>
              <a:off x="4214283" y="1473490"/>
              <a:ext cx="3498980" cy="4969229"/>
              <a:chOff x="4067810" y="931223"/>
              <a:chExt cx="3498980" cy="4969229"/>
            </a:xfrm>
          </p:grpSpPr>
          <p:pic>
            <p:nvPicPr>
              <p:cNvPr id="12" name="Picture 11">
                <a:extLst>
                  <a:ext uri="{FF2B5EF4-FFF2-40B4-BE49-F238E27FC236}">
                    <a16:creationId xmlns:a16="http://schemas.microsoft.com/office/drawing/2014/main" id="{BA0CABD8-230B-5CA4-1A6D-C3CC4FDA1F08}"/>
                  </a:ext>
                </a:extLst>
              </p:cNvPr>
              <p:cNvPicPr>
                <a:picLocks noChangeAspect="1"/>
              </p:cNvPicPr>
              <p:nvPr/>
            </p:nvPicPr>
            <p:blipFill>
              <a:blip r:embed="rId5"/>
              <a:srcRect l="57878" r="4062" b="77182"/>
              <a:stretch/>
            </p:blipFill>
            <p:spPr>
              <a:xfrm>
                <a:off x="4190470" y="1289952"/>
                <a:ext cx="2957468" cy="1052031"/>
              </a:xfrm>
              <a:prstGeom prst="rect">
                <a:avLst/>
              </a:prstGeom>
            </p:spPr>
          </p:pic>
          <p:pic>
            <p:nvPicPr>
              <p:cNvPr id="15" name="Picture 14">
                <a:extLst>
                  <a:ext uri="{FF2B5EF4-FFF2-40B4-BE49-F238E27FC236}">
                    <a16:creationId xmlns:a16="http://schemas.microsoft.com/office/drawing/2014/main" id="{3F2FFCB1-76BF-7AEF-BCB2-F60306351CC6}"/>
                  </a:ext>
                </a:extLst>
              </p:cNvPr>
              <p:cNvPicPr>
                <a:picLocks noChangeAspect="1"/>
              </p:cNvPicPr>
              <p:nvPr/>
            </p:nvPicPr>
            <p:blipFill>
              <a:blip r:embed="rId5"/>
              <a:srcRect l="50910" t="22818" r="4062"/>
              <a:stretch/>
            </p:blipFill>
            <p:spPr>
              <a:xfrm>
                <a:off x="4067810" y="2341983"/>
                <a:ext cx="3498980" cy="3558469"/>
              </a:xfrm>
              <a:prstGeom prst="rect">
                <a:avLst/>
              </a:prstGeom>
            </p:spPr>
          </p:pic>
          <p:pic>
            <p:nvPicPr>
              <p:cNvPr id="16" name="Picture 15" descr="A black and white logo&#10;&#10;AI-generated content may be incorrect.">
                <a:extLst>
                  <a:ext uri="{FF2B5EF4-FFF2-40B4-BE49-F238E27FC236}">
                    <a16:creationId xmlns:a16="http://schemas.microsoft.com/office/drawing/2014/main" id="{A3D2015D-83C6-AA9C-B6EA-D29AD5B4D85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195665" y="931223"/>
                <a:ext cx="1550879" cy="378315"/>
              </a:xfrm>
              <a:prstGeom prst="rect">
                <a:avLst/>
              </a:prstGeom>
            </p:spPr>
          </p:pic>
        </p:grpSp>
        <p:grpSp>
          <p:nvGrpSpPr>
            <p:cNvPr id="19" name="Group 18">
              <a:extLst>
                <a:ext uri="{FF2B5EF4-FFF2-40B4-BE49-F238E27FC236}">
                  <a16:creationId xmlns:a16="http://schemas.microsoft.com/office/drawing/2014/main" id="{9F8911DD-E00F-9E57-CE21-E3A68817FE56}"/>
                </a:ext>
              </a:extLst>
            </p:cNvPr>
            <p:cNvGrpSpPr/>
            <p:nvPr/>
          </p:nvGrpSpPr>
          <p:grpSpPr>
            <a:xfrm>
              <a:off x="344965" y="1415814"/>
              <a:ext cx="3722845" cy="5026905"/>
              <a:chOff x="463826" y="1016616"/>
              <a:chExt cx="3722845" cy="5026905"/>
            </a:xfrm>
          </p:grpSpPr>
          <p:pic>
            <p:nvPicPr>
              <p:cNvPr id="8" name="Picture 7">
                <a:extLst>
                  <a:ext uri="{FF2B5EF4-FFF2-40B4-BE49-F238E27FC236}">
                    <a16:creationId xmlns:a16="http://schemas.microsoft.com/office/drawing/2014/main" id="{58391BB0-3BEE-13E8-22B8-F5E741B8F169}"/>
                  </a:ext>
                </a:extLst>
              </p:cNvPr>
              <p:cNvPicPr>
                <a:picLocks noChangeAspect="1"/>
              </p:cNvPicPr>
              <p:nvPr/>
            </p:nvPicPr>
            <p:blipFill>
              <a:blip r:embed="rId5"/>
              <a:srcRect l="2320" r="49771" b="77182"/>
              <a:stretch/>
            </p:blipFill>
            <p:spPr>
              <a:xfrm>
                <a:off x="463826" y="1336300"/>
                <a:ext cx="3722845" cy="1052031"/>
              </a:xfrm>
              <a:prstGeom prst="rect">
                <a:avLst/>
              </a:prstGeom>
            </p:spPr>
          </p:pic>
          <p:pic>
            <p:nvPicPr>
              <p:cNvPr id="14" name="Picture 13">
                <a:extLst>
                  <a:ext uri="{FF2B5EF4-FFF2-40B4-BE49-F238E27FC236}">
                    <a16:creationId xmlns:a16="http://schemas.microsoft.com/office/drawing/2014/main" id="{4B1FCA7D-90E6-D4DD-0277-7A870373BC99}"/>
                  </a:ext>
                </a:extLst>
              </p:cNvPr>
              <p:cNvPicPr>
                <a:picLocks noChangeAspect="1"/>
              </p:cNvPicPr>
              <p:nvPr/>
            </p:nvPicPr>
            <p:blipFill>
              <a:blip r:embed="rId5"/>
              <a:srcRect t="21537" r="56654"/>
              <a:stretch/>
            </p:blipFill>
            <p:spPr>
              <a:xfrm>
                <a:off x="463826" y="2425958"/>
                <a:ext cx="3368285" cy="3617563"/>
              </a:xfrm>
              <a:prstGeom prst="rect">
                <a:avLst/>
              </a:prstGeom>
            </p:spPr>
          </p:pic>
          <p:pic>
            <p:nvPicPr>
              <p:cNvPr id="17" name="Picture 16" descr="A white text on a black background&#10;&#10;AI-generated content may be incorrect.">
                <a:extLst>
                  <a:ext uri="{FF2B5EF4-FFF2-40B4-BE49-F238E27FC236}">
                    <a16:creationId xmlns:a16="http://schemas.microsoft.com/office/drawing/2014/main" id="{280DF45E-635A-0353-BF05-F4998A7D26E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52449" y="1016616"/>
                <a:ext cx="1324829" cy="404404"/>
              </a:xfrm>
              <a:prstGeom prst="rect">
                <a:avLst/>
              </a:prstGeom>
            </p:spPr>
          </p:pic>
        </p:grpSp>
        <p:cxnSp>
          <p:nvCxnSpPr>
            <p:cNvPr id="21" name="Straight Connector 20">
              <a:extLst>
                <a:ext uri="{FF2B5EF4-FFF2-40B4-BE49-F238E27FC236}">
                  <a16:creationId xmlns:a16="http://schemas.microsoft.com/office/drawing/2014/main" id="{EA97D731-A1C4-B7FB-89FC-4F3D17AEB204}"/>
                </a:ext>
              </a:extLst>
            </p:cNvPr>
            <p:cNvCxnSpPr>
              <a:cxnSpLocks/>
            </p:cNvCxnSpPr>
            <p:nvPr/>
          </p:nvCxnSpPr>
          <p:spPr>
            <a:xfrm flipH="1">
              <a:off x="3888131" y="1289953"/>
              <a:ext cx="9330" cy="5210909"/>
            </a:xfrm>
            <a:prstGeom prst="line">
              <a:avLst/>
            </a:prstGeom>
            <a:ln>
              <a:solidFill>
                <a:srgbClr val="45458B">
                  <a:alpha val="44000"/>
                </a:srgbClr>
              </a:solidFill>
            </a:ln>
          </p:spPr>
          <p:style>
            <a:lnRef idx="1">
              <a:schemeClr val="accent1"/>
            </a:lnRef>
            <a:fillRef idx="0">
              <a:schemeClr val="accent1"/>
            </a:fillRef>
            <a:effectRef idx="0">
              <a:schemeClr val="accent1"/>
            </a:effectRef>
            <a:fontRef idx="minor">
              <a:schemeClr val="tx1"/>
            </a:fontRef>
          </p:style>
        </p:cxnSp>
      </p:grpSp>
      <p:sp>
        <p:nvSpPr>
          <p:cNvPr id="28" name="TextBox 27">
            <a:extLst>
              <a:ext uri="{FF2B5EF4-FFF2-40B4-BE49-F238E27FC236}">
                <a16:creationId xmlns:a16="http://schemas.microsoft.com/office/drawing/2014/main" id="{B45F2AD6-2186-9981-2FD2-02D19B2DCFC3}"/>
              </a:ext>
            </a:extLst>
          </p:cNvPr>
          <p:cNvSpPr txBox="1"/>
          <p:nvPr/>
        </p:nvSpPr>
        <p:spPr>
          <a:xfrm>
            <a:off x="8567448" y="1624613"/>
            <a:ext cx="3338413" cy="3293209"/>
          </a:xfrm>
          <a:prstGeom prst="rect">
            <a:avLst/>
          </a:prstGeom>
          <a:noFill/>
        </p:spPr>
        <p:txBody>
          <a:bodyPr wrap="square">
            <a:spAutoFit/>
          </a:bodyPr>
          <a:lstStyle/>
          <a:p>
            <a:pPr marL="285750" indent="-285750">
              <a:buFont typeface="Arial" panose="020B0604020202020204" pitchFamily="34" charset="0"/>
              <a:buChar char="•"/>
            </a:pPr>
            <a:r>
              <a:rPr lang="en-US" sz="1600" dirty="0">
                <a:solidFill>
                  <a:schemeClr val="bg1">
                    <a:lumMod val="85000"/>
                  </a:schemeClr>
                </a:solidFill>
              </a:rPr>
              <a:t>Conversely, inactivity heavily affects </a:t>
            </a:r>
            <a:r>
              <a:rPr lang="en-US" sz="1600" dirty="0" err="1">
                <a:solidFill>
                  <a:schemeClr val="bg1">
                    <a:lumMod val="85000"/>
                  </a:schemeClr>
                </a:solidFill>
              </a:rPr>
              <a:t>Jotstar</a:t>
            </a:r>
            <a:r>
              <a:rPr lang="en-US" sz="1600" dirty="0">
                <a:solidFill>
                  <a:schemeClr val="bg1">
                    <a:lumMod val="85000"/>
                  </a:schemeClr>
                </a:solidFill>
              </a:rPr>
              <a:t> (</a:t>
            </a:r>
            <a:r>
              <a:rPr lang="en-US" sz="1600" b="1" dirty="0">
                <a:solidFill>
                  <a:schemeClr val="bg1">
                    <a:lumMod val="85000"/>
                  </a:schemeClr>
                </a:solidFill>
              </a:rPr>
              <a:t>85% inactive</a:t>
            </a:r>
            <a:r>
              <a:rPr lang="en-US" sz="1600" dirty="0">
                <a:solidFill>
                  <a:schemeClr val="bg1">
                    <a:lumMod val="85000"/>
                  </a:schemeClr>
                </a:solidFill>
              </a:rPr>
              <a:t>) compared to </a:t>
            </a:r>
            <a:r>
              <a:rPr lang="en-US" sz="1600" dirty="0" err="1">
                <a:solidFill>
                  <a:schemeClr val="bg1">
                    <a:lumMod val="85000"/>
                  </a:schemeClr>
                </a:solidFill>
              </a:rPr>
              <a:t>Liocinema</a:t>
            </a:r>
            <a:r>
              <a:rPr lang="en-US" sz="1600" dirty="0">
                <a:solidFill>
                  <a:schemeClr val="bg1">
                    <a:lumMod val="85000"/>
                  </a:schemeClr>
                </a:solidFill>
              </a:rPr>
              <a:t> (</a:t>
            </a:r>
            <a:r>
              <a:rPr lang="en-US" sz="1600" b="1" dirty="0">
                <a:solidFill>
                  <a:schemeClr val="bg1">
                    <a:lumMod val="85000"/>
                  </a:schemeClr>
                </a:solidFill>
              </a:rPr>
              <a:t>55% inactive</a:t>
            </a:r>
            <a:r>
              <a:rPr lang="en-US" sz="1600" dirty="0">
                <a:solidFill>
                  <a:schemeClr val="bg1">
                    <a:lumMod val="85000"/>
                  </a:schemeClr>
                </a:solidFill>
              </a:rPr>
              <a:t>). </a:t>
            </a:r>
          </a:p>
          <a:p>
            <a:pPr marL="285750" indent="-285750">
              <a:buFont typeface="Arial" panose="020B0604020202020204" pitchFamily="34" charset="0"/>
              <a:buChar char="•"/>
            </a:pPr>
            <a:endParaRPr lang="en-US" sz="1600" dirty="0">
              <a:solidFill>
                <a:schemeClr val="bg1">
                  <a:lumMod val="85000"/>
                </a:schemeClr>
              </a:solidFill>
            </a:endParaRPr>
          </a:p>
          <a:p>
            <a:pPr marL="285750" indent="-285750">
              <a:buFont typeface="Arial" panose="020B0604020202020204" pitchFamily="34" charset="0"/>
              <a:buChar char="•"/>
            </a:pPr>
            <a:r>
              <a:rPr lang="en-US" sz="1600" dirty="0">
                <a:solidFill>
                  <a:schemeClr val="bg1">
                    <a:lumMod val="85000"/>
                  </a:schemeClr>
                </a:solidFill>
              </a:rPr>
              <a:t>Users from </a:t>
            </a:r>
            <a:r>
              <a:rPr lang="en-US" sz="1600" b="1" dirty="0">
                <a:solidFill>
                  <a:schemeClr val="bg1">
                    <a:lumMod val="85000"/>
                  </a:schemeClr>
                </a:solidFill>
              </a:rPr>
              <a:t>Tier 1 cities</a:t>
            </a:r>
            <a:r>
              <a:rPr lang="en-US" sz="1600" dirty="0">
                <a:solidFill>
                  <a:schemeClr val="bg1">
                    <a:lumMod val="85000"/>
                  </a:schemeClr>
                </a:solidFill>
              </a:rPr>
              <a:t> remain largely disengaged on both platforms, notably the older demographic (</a:t>
            </a:r>
            <a:r>
              <a:rPr lang="en-US" sz="1600" b="1" dirty="0">
                <a:solidFill>
                  <a:schemeClr val="bg1">
                    <a:lumMod val="85000"/>
                  </a:schemeClr>
                </a:solidFill>
              </a:rPr>
              <a:t>45+</a:t>
            </a:r>
            <a:r>
              <a:rPr lang="en-US" sz="1600" dirty="0">
                <a:solidFill>
                  <a:schemeClr val="bg1">
                    <a:lumMod val="85000"/>
                  </a:schemeClr>
                </a:solidFill>
              </a:rPr>
              <a:t>) and, specifically for </a:t>
            </a:r>
            <a:r>
              <a:rPr lang="en-US" sz="1600" dirty="0" err="1">
                <a:solidFill>
                  <a:schemeClr val="bg1">
                    <a:lumMod val="85000"/>
                  </a:schemeClr>
                </a:solidFill>
              </a:rPr>
              <a:t>Jotstar</a:t>
            </a:r>
            <a:r>
              <a:rPr lang="en-US" sz="1600" dirty="0">
                <a:solidFill>
                  <a:schemeClr val="bg1">
                    <a:lumMod val="85000"/>
                  </a:schemeClr>
                </a:solidFill>
              </a:rPr>
              <a:t>, the nearly equally inactive group aged </a:t>
            </a:r>
            <a:r>
              <a:rPr lang="en-US" sz="1600" b="1" dirty="0">
                <a:solidFill>
                  <a:schemeClr val="bg1">
                    <a:lumMod val="85000"/>
                  </a:schemeClr>
                </a:solidFill>
              </a:rPr>
              <a:t>35-44</a:t>
            </a:r>
            <a:r>
              <a:rPr lang="en-US" sz="1600" dirty="0">
                <a:solidFill>
                  <a:schemeClr val="bg1">
                    <a:lumMod val="85000"/>
                  </a:schemeClr>
                </a:solidFill>
              </a:rPr>
              <a:t>, underscoring the need for targeted reactivation strategies.</a:t>
            </a:r>
          </a:p>
        </p:txBody>
      </p:sp>
    </p:spTree>
    <p:custDataLst>
      <p:tags r:id="rId1"/>
    </p:custDataLst>
    <p:extLst>
      <p:ext uri="{BB962C8B-B14F-4D97-AF65-F5344CB8AC3E}">
        <p14:creationId xmlns:p14="http://schemas.microsoft.com/office/powerpoint/2010/main" val="4259947941"/>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84315828-033F-807F-AD4C-A780B9062A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7D5B15-B6A9-F478-8D61-5CB216B2C850}"/>
              </a:ext>
            </a:extLst>
          </p:cNvPr>
          <p:cNvSpPr>
            <a:spLocks noGrp="1"/>
          </p:cNvSpPr>
          <p:nvPr>
            <p:ph type="title"/>
          </p:nvPr>
        </p:nvSpPr>
        <p:spPr>
          <a:xfrm>
            <a:off x="407504" y="365126"/>
            <a:ext cx="11410122" cy="539336"/>
          </a:xfrm>
        </p:spPr>
        <p:txBody>
          <a:bodyPr>
            <a:normAutofit/>
          </a:bodyPr>
          <a:lstStyle/>
          <a:p>
            <a:pPr algn="ctr"/>
            <a:r>
              <a:rPr lang="en-US" sz="2400" b="1" u="none" strike="noStrike" kern="100" dirty="0">
                <a:effectLst/>
                <a:highlight>
                  <a:srgbClr val="C0C0C0"/>
                </a:highlight>
                <a:uFill>
                  <a:solidFill>
                    <a:srgbClr val="000000"/>
                  </a:solidFill>
                </a:uFill>
                <a:latin typeface="Aptos (Body)"/>
                <a:ea typeface="Calibri" panose="020F0502020204030204" pitchFamily="34" charset="0"/>
                <a:cs typeface="Calibri" panose="020F0502020204030204" pitchFamily="34" charset="0"/>
              </a:rPr>
              <a:t>Watch Time </a:t>
            </a:r>
            <a:r>
              <a:rPr lang="en-US" sz="2400" b="1" u="none" strike="noStrike" kern="100" dirty="0">
                <a:solidFill>
                  <a:schemeClr val="bg1">
                    <a:lumMod val="95000"/>
                  </a:schemeClr>
                </a:solidFill>
                <a:effectLst/>
                <a:uFill>
                  <a:solidFill>
                    <a:srgbClr val="000000"/>
                  </a:solidFill>
                </a:uFill>
                <a:latin typeface="Aptos (Body)"/>
                <a:ea typeface="Calibri" panose="020F0502020204030204" pitchFamily="34" charset="0"/>
                <a:cs typeface="Calibri" panose="020F0502020204030204" pitchFamily="34" charset="0"/>
              </a:rPr>
              <a:t>Analysis</a:t>
            </a:r>
            <a:endParaRPr lang="en-CA" sz="5400" b="1" dirty="0">
              <a:solidFill>
                <a:schemeClr val="bg1">
                  <a:lumMod val="95000"/>
                </a:schemeClr>
              </a:solidFill>
              <a:latin typeface="Aptos (Body)"/>
            </a:endParaRPr>
          </a:p>
        </p:txBody>
      </p:sp>
      <p:sp>
        <p:nvSpPr>
          <p:cNvPr id="3" name="TextBox 2">
            <a:extLst>
              <a:ext uri="{FF2B5EF4-FFF2-40B4-BE49-F238E27FC236}">
                <a16:creationId xmlns:a16="http://schemas.microsoft.com/office/drawing/2014/main" id="{0F412BE8-5DB2-76E3-5F19-CD71FDCA80C1}"/>
              </a:ext>
            </a:extLst>
          </p:cNvPr>
          <p:cNvSpPr txBox="1"/>
          <p:nvPr/>
        </p:nvSpPr>
        <p:spPr>
          <a:xfrm>
            <a:off x="7771737" y="1725155"/>
            <a:ext cx="4045889" cy="4031873"/>
          </a:xfrm>
          <a:prstGeom prst="rect">
            <a:avLst/>
          </a:prstGeom>
          <a:noFill/>
        </p:spPr>
        <p:txBody>
          <a:bodyPr wrap="square" rtlCol="0">
            <a:spAutoFit/>
          </a:bodyPr>
          <a:lstStyle/>
          <a:p>
            <a:pPr marL="285750" indent="-285750">
              <a:buFont typeface="Arial" panose="020B0604020202020204" pitchFamily="34" charset="0"/>
              <a:buChar char="•"/>
            </a:pPr>
            <a:r>
              <a:rPr lang="en-US" sz="1600" dirty="0" err="1">
                <a:solidFill>
                  <a:schemeClr val="bg1">
                    <a:lumMod val="85000"/>
                  </a:schemeClr>
                </a:solidFill>
              </a:rPr>
              <a:t>Jotstar</a:t>
            </a:r>
            <a:r>
              <a:rPr lang="en-US" sz="1600" dirty="0">
                <a:solidFill>
                  <a:schemeClr val="bg1">
                    <a:lumMod val="85000"/>
                  </a:schemeClr>
                </a:solidFill>
              </a:rPr>
              <a:t> significantly outpaces </a:t>
            </a:r>
            <a:r>
              <a:rPr lang="en-US" sz="1600" dirty="0" err="1">
                <a:solidFill>
                  <a:schemeClr val="bg1">
                    <a:lumMod val="85000"/>
                  </a:schemeClr>
                </a:solidFill>
              </a:rPr>
              <a:t>Liocinema</a:t>
            </a:r>
            <a:r>
              <a:rPr lang="en-US" sz="1600" dirty="0">
                <a:solidFill>
                  <a:schemeClr val="bg1">
                    <a:lumMod val="85000"/>
                  </a:schemeClr>
                </a:solidFill>
              </a:rPr>
              <a:t> in viewer engagement, with an impressive average watch time of </a:t>
            </a:r>
            <a:r>
              <a:rPr lang="en-US" sz="1600" b="1" dirty="0">
                <a:solidFill>
                  <a:schemeClr val="bg1">
                    <a:lumMod val="85000"/>
                  </a:schemeClr>
                </a:solidFill>
              </a:rPr>
              <a:t>117 hours (~5 days)</a:t>
            </a:r>
            <a:r>
              <a:rPr lang="en-US" sz="1600" dirty="0">
                <a:solidFill>
                  <a:schemeClr val="bg1">
                    <a:lumMod val="85000"/>
                  </a:schemeClr>
                </a:solidFill>
              </a:rPr>
              <a:t> versus </a:t>
            </a:r>
            <a:r>
              <a:rPr lang="en-US" sz="1600" dirty="0" err="1">
                <a:solidFill>
                  <a:schemeClr val="bg1">
                    <a:lumMod val="85000"/>
                  </a:schemeClr>
                </a:solidFill>
              </a:rPr>
              <a:t>Liocinema’s</a:t>
            </a:r>
            <a:r>
              <a:rPr lang="en-US" sz="1600" dirty="0">
                <a:solidFill>
                  <a:schemeClr val="bg1">
                    <a:lumMod val="85000"/>
                  </a:schemeClr>
                </a:solidFill>
              </a:rPr>
              <a:t> </a:t>
            </a:r>
            <a:r>
              <a:rPr lang="en-US" sz="1600" b="1" dirty="0">
                <a:solidFill>
                  <a:schemeClr val="bg1">
                    <a:lumMod val="85000"/>
                  </a:schemeClr>
                </a:solidFill>
              </a:rPr>
              <a:t>26 hours (~1 day)</a:t>
            </a:r>
            <a:r>
              <a:rPr lang="en-US" sz="1600" dirty="0">
                <a:solidFill>
                  <a:schemeClr val="bg1">
                    <a:lumMod val="85000"/>
                  </a:schemeClr>
                </a:solidFill>
              </a:rPr>
              <a:t>. </a:t>
            </a:r>
          </a:p>
          <a:p>
            <a:pPr marL="285750" indent="-285750">
              <a:buFont typeface="Arial" panose="020B0604020202020204" pitchFamily="34" charset="0"/>
              <a:buChar char="•"/>
            </a:pPr>
            <a:endParaRPr lang="en-US" sz="1600" dirty="0">
              <a:solidFill>
                <a:schemeClr val="bg1">
                  <a:lumMod val="85000"/>
                </a:schemeClr>
              </a:solidFill>
            </a:endParaRPr>
          </a:p>
          <a:p>
            <a:pPr marL="285750" indent="-285750">
              <a:buFont typeface="Arial" panose="020B0604020202020204" pitchFamily="34" charset="0"/>
              <a:buChar char="•"/>
            </a:pPr>
            <a:r>
              <a:rPr lang="en-US" sz="1600" dirty="0">
                <a:solidFill>
                  <a:schemeClr val="bg1">
                    <a:lumMod val="85000"/>
                  </a:schemeClr>
                </a:solidFill>
              </a:rPr>
              <a:t>Users in </a:t>
            </a:r>
            <a:r>
              <a:rPr lang="en-US" sz="1600" b="1" dirty="0">
                <a:solidFill>
                  <a:schemeClr val="bg1">
                    <a:lumMod val="85000"/>
                  </a:schemeClr>
                </a:solidFill>
              </a:rPr>
              <a:t>Tier 1 cities</a:t>
            </a:r>
            <a:r>
              <a:rPr lang="en-US" sz="1600" dirty="0">
                <a:solidFill>
                  <a:schemeClr val="bg1">
                    <a:lumMod val="85000"/>
                  </a:schemeClr>
                </a:solidFill>
              </a:rPr>
              <a:t> drive the highest watch duration on both platforms. Mobile devices dominate content consumption, capturing </a:t>
            </a:r>
            <a:r>
              <a:rPr lang="en-US" sz="1600" b="1" dirty="0">
                <a:solidFill>
                  <a:schemeClr val="bg1">
                    <a:lumMod val="85000"/>
                  </a:schemeClr>
                </a:solidFill>
              </a:rPr>
              <a:t>50%</a:t>
            </a:r>
            <a:r>
              <a:rPr lang="en-US" sz="1600" dirty="0">
                <a:solidFill>
                  <a:schemeClr val="bg1">
                    <a:lumMod val="85000"/>
                  </a:schemeClr>
                </a:solidFill>
              </a:rPr>
              <a:t> of views on </a:t>
            </a:r>
            <a:r>
              <a:rPr lang="en-US" sz="1600" dirty="0" err="1">
                <a:solidFill>
                  <a:schemeClr val="bg1">
                    <a:lumMod val="85000"/>
                  </a:schemeClr>
                </a:solidFill>
              </a:rPr>
              <a:t>Jotstar</a:t>
            </a:r>
            <a:r>
              <a:rPr lang="en-US" sz="1600" dirty="0">
                <a:solidFill>
                  <a:schemeClr val="bg1">
                    <a:lumMod val="85000"/>
                  </a:schemeClr>
                </a:solidFill>
              </a:rPr>
              <a:t> and a commanding </a:t>
            </a:r>
            <a:r>
              <a:rPr lang="en-US" sz="1600" b="1" dirty="0">
                <a:solidFill>
                  <a:schemeClr val="bg1">
                    <a:lumMod val="85000"/>
                  </a:schemeClr>
                </a:solidFill>
              </a:rPr>
              <a:t>67%</a:t>
            </a:r>
            <a:r>
              <a:rPr lang="en-US" sz="1600" dirty="0">
                <a:solidFill>
                  <a:schemeClr val="bg1">
                    <a:lumMod val="85000"/>
                  </a:schemeClr>
                </a:solidFill>
              </a:rPr>
              <a:t> on </a:t>
            </a:r>
            <a:r>
              <a:rPr lang="en-US" sz="1600" dirty="0" err="1">
                <a:solidFill>
                  <a:schemeClr val="bg1">
                    <a:lumMod val="85000"/>
                  </a:schemeClr>
                </a:solidFill>
              </a:rPr>
              <a:t>Liocinema</a:t>
            </a:r>
            <a:r>
              <a:rPr lang="en-US" sz="1600" dirty="0">
                <a:solidFill>
                  <a:schemeClr val="bg1">
                    <a:lumMod val="85000"/>
                  </a:schemeClr>
                </a:solidFill>
              </a:rPr>
              <a:t>. </a:t>
            </a:r>
          </a:p>
          <a:p>
            <a:pPr marL="285750" indent="-285750">
              <a:buFont typeface="Arial" panose="020B0604020202020204" pitchFamily="34" charset="0"/>
              <a:buChar char="•"/>
            </a:pPr>
            <a:endParaRPr lang="en-US" sz="1600" dirty="0">
              <a:solidFill>
                <a:schemeClr val="bg1">
                  <a:lumMod val="85000"/>
                </a:schemeClr>
              </a:solidFill>
            </a:endParaRPr>
          </a:p>
          <a:p>
            <a:pPr marL="285750" indent="-285750">
              <a:buFont typeface="Arial" panose="020B0604020202020204" pitchFamily="34" charset="0"/>
              <a:buChar char="•"/>
            </a:pPr>
            <a:r>
              <a:rPr lang="en-US" sz="1600" dirty="0">
                <a:solidFill>
                  <a:schemeClr val="bg1">
                    <a:lumMod val="85000"/>
                  </a:schemeClr>
                </a:solidFill>
              </a:rPr>
              <a:t>On </a:t>
            </a:r>
            <a:r>
              <a:rPr lang="en-US" sz="1600" dirty="0" err="1">
                <a:solidFill>
                  <a:schemeClr val="bg1">
                    <a:lumMod val="85000"/>
                  </a:schemeClr>
                </a:solidFill>
              </a:rPr>
              <a:t>Jotstar</a:t>
            </a:r>
            <a:r>
              <a:rPr lang="en-US" sz="1600" dirty="0">
                <a:solidFill>
                  <a:schemeClr val="bg1">
                    <a:lumMod val="85000"/>
                  </a:schemeClr>
                </a:solidFill>
              </a:rPr>
              <a:t>, TV and laptops closely follow mobile usage, whereas </a:t>
            </a:r>
            <a:r>
              <a:rPr lang="en-US" sz="1600" dirty="0" err="1">
                <a:solidFill>
                  <a:schemeClr val="bg1">
                    <a:lumMod val="85000"/>
                  </a:schemeClr>
                </a:solidFill>
              </a:rPr>
              <a:t>Liocinema</a:t>
            </a:r>
            <a:r>
              <a:rPr lang="en-US" sz="1600" dirty="0">
                <a:solidFill>
                  <a:schemeClr val="bg1">
                    <a:lumMod val="85000"/>
                  </a:schemeClr>
                </a:solidFill>
              </a:rPr>
              <a:t> experiences minimal laptop viewing (</a:t>
            </a:r>
            <a:r>
              <a:rPr lang="en-US" sz="1600" b="1" dirty="0">
                <a:solidFill>
                  <a:schemeClr val="bg1">
                    <a:lumMod val="85000"/>
                  </a:schemeClr>
                </a:solidFill>
              </a:rPr>
              <a:t>12%</a:t>
            </a:r>
            <a:r>
              <a:rPr lang="en-US" sz="1600" dirty="0">
                <a:solidFill>
                  <a:schemeClr val="bg1">
                    <a:lumMod val="85000"/>
                  </a:schemeClr>
                </a:solidFill>
              </a:rPr>
              <a:t>), strongly highlighting its mobile-first viewer preference.</a:t>
            </a:r>
            <a:endParaRPr lang="en-CA" sz="1600" dirty="0">
              <a:solidFill>
                <a:schemeClr val="bg1">
                  <a:lumMod val="85000"/>
                </a:schemeClr>
              </a:solidFill>
            </a:endParaRPr>
          </a:p>
        </p:txBody>
      </p:sp>
      <p:grpSp>
        <p:nvGrpSpPr>
          <p:cNvPr id="15" name="Group 14">
            <a:extLst>
              <a:ext uri="{FF2B5EF4-FFF2-40B4-BE49-F238E27FC236}">
                <a16:creationId xmlns:a16="http://schemas.microsoft.com/office/drawing/2014/main" id="{F606CD07-2E6E-F8BB-6E1E-37768D3DBF69}"/>
              </a:ext>
            </a:extLst>
          </p:cNvPr>
          <p:cNvGrpSpPr/>
          <p:nvPr/>
        </p:nvGrpSpPr>
        <p:grpSpPr>
          <a:xfrm>
            <a:off x="289232" y="1018430"/>
            <a:ext cx="7115843" cy="5651402"/>
            <a:chOff x="271737" y="1111348"/>
            <a:chExt cx="7115843" cy="5746652"/>
          </a:xfrm>
        </p:grpSpPr>
        <p:grpSp>
          <p:nvGrpSpPr>
            <p:cNvPr id="12" name="Group 11">
              <a:extLst>
                <a:ext uri="{FF2B5EF4-FFF2-40B4-BE49-F238E27FC236}">
                  <a16:creationId xmlns:a16="http://schemas.microsoft.com/office/drawing/2014/main" id="{D47C1C89-CC50-EFD3-4B5B-7D424F177451}"/>
                </a:ext>
              </a:extLst>
            </p:cNvPr>
            <p:cNvGrpSpPr/>
            <p:nvPr/>
          </p:nvGrpSpPr>
          <p:grpSpPr>
            <a:xfrm>
              <a:off x="4074856" y="1111348"/>
              <a:ext cx="3312724" cy="5746652"/>
              <a:chOff x="3903406" y="938287"/>
              <a:chExt cx="3312724" cy="5746652"/>
            </a:xfrm>
          </p:grpSpPr>
          <p:pic>
            <p:nvPicPr>
              <p:cNvPr id="8" name="Picture 7">
                <a:extLst>
                  <a:ext uri="{FF2B5EF4-FFF2-40B4-BE49-F238E27FC236}">
                    <a16:creationId xmlns:a16="http://schemas.microsoft.com/office/drawing/2014/main" id="{D539C45F-AC88-ACC1-E69E-1082960D733A}"/>
                  </a:ext>
                </a:extLst>
              </p:cNvPr>
              <p:cNvPicPr>
                <a:picLocks noChangeAspect="1"/>
              </p:cNvPicPr>
              <p:nvPr/>
            </p:nvPicPr>
            <p:blipFill>
              <a:blip r:embed="rId5"/>
              <a:srcRect l="50152" r="3562"/>
              <a:stretch/>
            </p:blipFill>
            <p:spPr>
              <a:xfrm>
                <a:off x="3903406" y="1288027"/>
                <a:ext cx="3312724" cy="5396912"/>
              </a:xfrm>
              <a:prstGeom prst="rect">
                <a:avLst/>
              </a:prstGeom>
            </p:spPr>
          </p:pic>
          <p:pic>
            <p:nvPicPr>
              <p:cNvPr id="9" name="Picture 8" descr="A black and white logo&#10;&#10;AI-generated content may be incorrect.">
                <a:extLst>
                  <a:ext uri="{FF2B5EF4-FFF2-40B4-BE49-F238E27FC236}">
                    <a16:creationId xmlns:a16="http://schemas.microsoft.com/office/drawing/2014/main" id="{88D20273-9F7B-53D1-3D09-A5704F00FAF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79458" y="938287"/>
                <a:ext cx="1550879" cy="378315"/>
              </a:xfrm>
              <a:prstGeom prst="rect">
                <a:avLst/>
              </a:prstGeom>
            </p:spPr>
          </p:pic>
        </p:grpSp>
        <p:grpSp>
          <p:nvGrpSpPr>
            <p:cNvPr id="11" name="Group 10">
              <a:extLst>
                <a:ext uri="{FF2B5EF4-FFF2-40B4-BE49-F238E27FC236}">
                  <a16:creationId xmlns:a16="http://schemas.microsoft.com/office/drawing/2014/main" id="{119CB8F4-819E-9465-1722-E2C1C1E470D4}"/>
                </a:ext>
              </a:extLst>
            </p:cNvPr>
            <p:cNvGrpSpPr/>
            <p:nvPr/>
          </p:nvGrpSpPr>
          <p:grpSpPr>
            <a:xfrm>
              <a:off x="271737" y="1111348"/>
              <a:ext cx="3529032" cy="5746652"/>
              <a:chOff x="374374" y="938287"/>
              <a:chExt cx="3529032" cy="5746652"/>
            </a:xfrm>
          </p:grpSpPr>
          <p:pic>
            <p:nvPicPr>
              <p:cNvPr id="6" name="Picture 5">
                <a:extLst>
                  <a:ext uri="{FF2B5EF4-FFF2-40B4-BE49-F238E27FC236}">
                    <a16:creationId xmlns:a16="http://schemas.microsoft.com/office/drawing/2014/main" id="{6CE1ECE3-C6C2-3BAD-9C6F-0860F95CAF7D}"/>
                  </a:ext>
                </a:extLst>
              </p:cNvPr>
              <p:cNvPicPr>
                <a:picLocks noChangeAspect="1"/>
              </p:cNvPicPr>
              <p:nvPr/>
            </p:nvPicPr>
            <p:blipFill>
              <a:blip r:embed="rId5"/>
              <a:srcRect r="50692"/>
              <a:stretch/>
            </p:blipFill>
            <p:spPr>
              <a:xfrm>
                <a:off x="374374" y="1288027"/>
                <a:ext cx="3529032" cy="5396912"/>
              </a:xfrm>
              <a:prstGeom prst="rect">
                <a:avLst/>
              </a:prstGeom>
            </p:spPr>
          </p:pic>
          <p:pic>
            <p:nvPicPr>
              <p:cNvPr id="10" name="Picture 9" descr="A white text on a black background&#10;&#10;AI-generated content may be incorrect.">
                <a:extLst>
                  <a:ext uri="{FF2B5EF4-FFF2-40B4-BE49-F238E27FC236}">
                    <a16:creationId xmlns:a16="http://schemas.microsoft.com/office/drawing/2014/main" id="{B1F4631A-923C-A027-7E96-A1B1A6EDC72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476476" y="938287"/>
                <a:ext cx="1324829" cy="404404"/>
              </a:xfrm>
              <a:prstGeom prst="rect">
                <a:avLst/>
              </a:prstGeom>
            </p:spPr>
          </p:pic>
        </p:grpSp>
        <p:cxnSp>
          <p:nvCxnSpPr>
            <p:cNvPr id="13" name="Straight Connector 12">
              <a:extLst>
                <a:ext uri="{FF2B5EF4-FFF2-40B4-BE49-F238E27FC236}">
                  <a16:creationId xmlns:a16="http://schemas.microsoft.com/office/drawing/2014/main" id="{A0BBC29F-53A6-302D-92C0-913D4BE91205}"/>
                </a:ext>
              </a:extLst>
            </p:cNvPr>
            <p:cNvCxnSpPr>
              <a:cxnSpLocks/>
            </p:cNvCxnSpPr>
            <p:nvPr/>
          </p:nvCxnSpPr>
          <p:spPr>
            <a:xfrm>
              <a:off x="3924105" y="1111348"/>
              <a:ext cx="0" cy="5537102"/>
            </a:xfrm>
            <a:prstGeom prst="line">
              <a:avLst/>
            </a:prstGeom>
            <a:ln>
              <a:solidFill>
                <a:srgbClr val="45458B">
                  <a:alpha val="44000"/>
                </a:srgbClr>
              </a:solidFill>
            </a:ln>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3264506172"/>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4D94A6AF-5992-08DE-9468-6B787FC353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C39FAE-450A-47AA-E436-22AE28C9C2A8}"/>
              </a:ext>
            </a:extLst>
          </p:cNvPr>
          <p:cNvSpPr>
            <a:spLocks noGrp="1"/>
          </p:cNvSpPr>
          <p:nvPr>
            <p:ph type="title"/>
          </p:nvPr>
        </p:nvSpPr>
        <p:spPr>
          <a:xfrm>
            <a:off x="407504" y="365126"/>
            <a:ext cx="11410122" cy="539336"/>
          </a:xfrm>
        </p:spPr>
        <p:txBody>
          <a:bodyPr>
            <a:normAutofit/>
          </a:bodyPr>
          <a:lstStyle/>
          <a:p>
            <a:pPr algn="ctr"/>
            <a:r>
              <a:rPr lang="en-US" sz="2400" b="1" u="none" strike="noStrike" kern="100" dirty="0">
                <a:effectLst/>
                <a:highlight>
                  <a:srgbClr val="C0C0C0"/>
                </a:highlight>
                <a:uFill>
                  <a:solidFill>
                    <a:srgbClr val="000000"/>
                  </a:solidFill>
                </a:uFill>
                <a:latin typeface="Aptos (Body)"/>
                <a:ea typeface="Calibri" panose="020F0502020204030204" pitchFamily="34" charset="0"/>
                <a:cs typeface="Calibri" panose="020F0502020204030204" pitchFamily="34" charset="0"/>
              </a:rPr>
              <a:t>Inactivity</a:t>
            </a:r>
            <a:r>
              <a:rPr lang="en-US" sz="2400" b="1" u="none" strike="noStrike" kern="100" dirty="0">
                <a:solidFill>
                  <a:schemeClr val="bg1">
                    <a:lumMod val="95000"/>
                  </a:schemeClr>
                </a:solidFill>
                <a:effectLst/>
                <a:uFill>
                  <a:solidFill>
                    <a:srgbClr val="000000"/>
                  </a:solidFill>
                </a:uFill>
                <a:latin typeface="Aptos (Body)"/>
                <a:ea typeface="Calibri" panose="020F0502020204030204" pitchFamily="34" charset="0"/>
                <a:cs typeface="Calibri" panose="020F0502020204030204" pitchFamily="34" charset="0"/>
              </a:rPr>
              <a:t> Correlation</a:t>
            </a:r>
            <a:endParaRPr lang="en-CA" sz="5400" b="1" dirty="0">
              <a:solidFill>
                <a:schemeClr val="bg1">
                  <a:lumMod val="95000"/>
                </a:schemeClr>
              </a:solidFill>
              <a:latin typeface="Aptos (Body)"/>
            </a:endParaRPr>
          </a:p>
        </p:txBody>
      </p:sp>
      <p:cxnSp>
        <p:nvCxnSpPr>
          <p:cNvPr id="23" name="Straight Connector 22">
            <a:extLst>
              <a:ext uri="{FF2B5EF4-FFF2-40B4-BE49-F238E27FC236}">
                <a16:creationId xmlns:a16="http://schemas.microsoft.com/office/drawing/2014/main" id="{6E2C8AFC-22F1-9978-1BBE-CFC0DEE3F4AD}"/>
              </a:ext>
            </a:extLst>
          </p:cNvPr>
          <p:cNvCxnSpPr>
            <a:cxnSpLocks/>
          </p:cNvCxnSpPr>
          <p:nvPr/>
        </p:nvCxnSpPr>
        <p:spPr>
          <a:xfrm>
            <a:off x="5952930" y="998376"/>
            <a:ext cx="0" cy="4206706"/>
          </a:xfrm>
          <a:prstGeom prst="line">
            <a:avLst/>
          </a:prstGeom>
          <a:ln>
            <a:solidFill>
              <a:srgbClr val="45458B">
                <a:alpha val="44000"/>
              </a:srgbClr>
            </a:solidFill>
          </a:ln>
        </p:spPr>
        <p:style>
          <a:lnRef idx="1">
            <a:schemeClr val="accent1"/>
          </a:lnRef>
          <a:fillRef idx="0">
            <a:schemeClr val="accent1"/>
          </a:fillRef>
          <a:effectRef idx="0">
            <a:schemeClr val="accent1"/>
          </a:effectRef>
          <a:fontRef idx="minor">
            <a:schemeClr val="tx1"/>
          </a:fontRef>
        </p:style>
      </p:cxnSp>
      <p:grpSp>
        <p:nvGrpSpPr>
          <p:cNvPr id="38" name="Group 37">
            <a:extLst>
              <a:ext uri="{FF2B5EF4-FFF2-40B4-BE49-F238E27FC236}">
                <a16:creationId xmlns:a16="http://schemas.microsoft.com/office/drawing/2014/main" id="{841FD253-1726-A181-1EF0-E42BF9541CA1}"/>
              </a:ext>
            </a:extLst>
          </p:cNvPr>
          <p:cNvGrpSpPr/>
          <p:nvPr/>
        </p:nvGrpSpPr>
        <p:grpSpPr>
          <a:xfrm>
            <a:off x="566682" y="925220"/>
            <a:ext cx="4299360" cy="5461424"/>
            <a:chOff x="407504" y="1112440"/>
            <a:chExt cx="4299360" cy="5461424"/>
          </a:xfrm>
        </p:grpSpPr>
        <p:pic>
          <p:nvPicPr>
            <p:cNvPr id="11" name="Picture 10" descr="A white text on a black background&#10;&#10;AI-generated content may be incorrect.">
              <a:extLst>
                <a:ext uri="{FF2B5EF4-FFF2-40B4-BE49-F238E27FC236}">
                  <a16:creationId xmlns:a16="http://schemas.microsoft.com/office/drawing/2014/main" id="{9FC13AE6-D19C-8D32-794A-CBB09AD1B1B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7736" y="1112440"/>
              <a:ext cx="1324829" cy="404404"/>
            </a:xfrm>
            <a:prstGeom prst="rect">
              <a:avLst/>
            </a:prstGeom>
          </p:spPr>
        </p:pic>
        <p:pic>
          <p:nvPicPr>
            <p:cNvPr id="34" name="Picture 33">
              <a:extLst>
                <a:ext uri="{FF2B5EF4-FFF2-40B4-BE49-F238E27FC236}">
                  <a16:creationId xmlns:a16="http://schemas.microsoft.com/office/drawing/2014/main" id="{EA5154A1-806A-7B21-486C-DFF0F753CE76}"/>
                </a:ext>
              </a:extLst>
            </p:cNvPr>
            <p:cNvPicPr>
              <a:picLocks noChangeAspect="1"/>
            </p:cNvPicPr>
            <p:nvPr/>
          </p:nvPicPr>
          <p:blipFill>
            <a:blip r:embed="rId6"/>
            <a:srcRect r="33627" b="50000"/>
            <a:stretch/>
          </p:blipFill>
          <p:spPr>
            <a:xfrm>
              <a:off x="407504" y="1673213"/>
              <a:ext cx="4299360" cy="2674852"/>
            </a:xfrm>
            <a:prstGeom prst="rect">
              <a:avLst/>
            </a:prstGeom>
          </p:spPr>
        </p:pic>
        <p:pic>
          <p:nvPicPr>
            <p:cNvPr id="36" name="Picture 35">
              <a:extLst>
                <a:ext uri="{FF2B5EF4-FFF2-40B4-BE49-F238E27FC236}">
                  <a16:creationId xmlns:a16="http://schemas.microsoft.com/office/drawing/2014/main" id="{64E59E2A-7491-D5BC-4F03-19C1D9ADFCF0}"/>
                </a:ext>
              </a:extLst>
            </p:cNvPr>
            <p:cNvPicPr>
              <a:picLocks noChangeAspect="1"/>
            </p:cNvPicPr>
            <p:nvPr/>
          </p:nvPicPr>
          <p:blipFill>
            <a:blip r:embed="rId6"/>
            <a:srcRect l="70214" t="3198" r="-607" b="58048"/>
            <a:stretch/>
          </p:blipFill>
          <p:spPr>
            <a:xfrm>
              <a:off x="577609" y="4500688"/>
              <a:ext cx="1968751" cy="2073176"/>
            </a:xfrm>
            <a:prstGeom prst="rect">
              <a:avLst/>
            </a:prstGeom>
          </p:spPr>
        </p:pic>
      </p:grpSp>
      <p:grpSp>
        <p:nvGrpSpPr>
          <p:cNvPr id="39" name="Group 38">
            <a:extLst>
              <a:ext uri="{FF2B5EF4-FFF2-40B4-BE49-F238E27FC236}">
                <a16:creationId xmlns:a16="http://schemas.microsoft.com/office/drawing/2014/main" id="{23D1DAFA-922D-0EE6-01C4-F6387DA1BE68}"/>
              </a:ext>
            </a:extLst>
          </p:cNvPr>
          <p:cNvGrpSpPr/>
          <p:nvPr/>
        </p:nvGrpSpPr>
        <p:grpSpPr>
          <a:xfrm>
            <a:off x="6239071" y="938264"/>
            <a:ext cx="4299360" cy="5448380"/>
            <a:chOff x="6239071" y="1125484"/>
            <a:chExt cx="4299360" cy="5448380"/>
          </a:xfrm>
        </p:grpSpPr>
        <p:pic>
          <p:nvPicPr>
            <p:cNvPr id="9" name="Picture 8" descr="A black and white logo&#10;&#10;AI-generated content may be incorrect.">
              <a:extLst>
                <a:ext uri="{FF2B5EF4-FFF2-40B4-BE49-F238E27FC236}">
                  <a16:creationId xmlns:a16="http://schemas.microsoft.com/office/drawing/2014/main" id="{19094CB5-EF4E-E9BF-45E4-58B9EF6F90F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349041" y="1125484"/>
              <a:ext cx="1550879" cy="378315"/>
            </a:xfrm>
            <a:prstGeom prst="rect">
              <a:avLst/>
            </a:prstGeom>
          </p:spPr>
        </p:pic>
        <p:pic>
          <p:nvPicPr>
            <p:cNvPr id="35" name="Picture 34">
              <a:extLst>
                <a:ext uri="{FF2B5EF4-FFF2-40B4-BE49-F238E27FC236}">
                  <a16:creationId xmlns:a16="http://schemas.microsoft.com/office/drawing/2014/main" id="{408DD9E6-5BB1-621C-107E-35B883DBB1EB}"/>
                </a:ext>
              </a:extLst>
            </p:cNvPr>
            <p:cNvPicPr>
              <a:picLocks noChangeAspect="1"/>
            </p:cNvPicPr>
            <p:nvPr/>
          </p:nvPicPr>
          <p:blipFill>
            <a:blip r:embed="rId6"/>
            <a:srcRect t="48692" r="33627"/>
            <a:stretch/>
          </p:blipFill>
          <p:spPr>
            <a:xfrm>
              <a:off x="6239071" y="1673213"/>
              <a:ext cx="4299360" cy="2744832"/>
            </a:xfrm>
            <a:prstGeom prst="rect">
              <a:avLst/>
            </a:prstGeom>
          </p:spPr>
        </p:pic>
        <p:pic>
          <p:nvPicPr>
            <p:cNvPr id="37" name="Picture 36">
              <a:extLst>
                <a:ext uri="{FF2B5EF4-FFF2-40B4-BE49-F238E27FC236}">
                  <a16:creationId xmlns:a16="http://schemas.microsoft.com/office/drawing/2014/main" id="{7D8A9C98-0003-D0BA-65D5-FE2DEF67174C}"/>
                </a:ext>
              </a:extLst>
            </p:cNvPr>
            <p:cNvPicPr>
              <a:picLocks noChangeAspect="1"/>
            </p:cNvPicPr>
            <p:nvPr/>
          </p:nvPicPr>
          <p:blipFill>
            <a:blip r:embed="rId6"/>
            <a:srcRect l="70214" t="55286" r="-607" b="5961"/>
            <a:stretch/>
          </p:blipFill>
          <p:spPr>
            <a:xfrm>
              <a:off x="6239071" y="4500688"/>
              <a:ext cx="1968751" cy="2073176"/>
            </a:xfrm>
            <a:prstGeom prst="rect">
              <a:avLst/>
            </a:prstGeom>
          </p:spPr>
        </p:pic>
      </p:grpSp>
      <p:sp>
        <p:nvSpPr>
          <p:cNvPr id="40" name="TextBox 39">
            <a:extLst>
              <a:ext uri="{FF2B5EF4-FFF2-40B4-BE49-F238E27FC236}">
                <a16:creationId xmlns:a16="http://schemas.microsoft.com/office/drawing/2014/main" id="{47B67440-B72C-34E4-CD4A-B78321A3B638}"/>
              </a:ext>
            </a:extLst>
          </p:cNvPr>
          <p:cNvSpPr txBox="1"/>
          <p:nvPr/>
        </p:nvSpPr>
        <p:spPr>
          <a:xfrm>
            <a:off x="2810226" y="4272909"/>
            <a:ext cx="3002737" cy="2246769"/>
          </a:xfrm>
          <a:prstGeom prst="rect">
            <a:avLst/>
          </a:prstGeom>
          <a:noFill/>
        </p:spPr>
        <p:txBody>
          <a:bodyPr wrap="square" rtlCol="0">
            <a:spAutoFit/>
          </a:bodyPr>
          <a:lstStyle/>
          <a:p>
            <a:pPr marL="285750" indent="-285750">
              <a:buFont typeface="Arial" panose="020B0604020202020204" pitchFamily="34" charset="0"/>
              <a:buChar char="•"/>
            </a:pPr>
            <a:r>
              <a:rPr lang="en-US" sz="1400" dirty="0">
                <a:solidFill>
                  <a:schemeClr val="bg1">
                    <a:lumMod val="85000"/>
                  </a:schemeClr>
                </a:solidFill>
              </a:rPr>
              <a:t>For </a:t>
            </a:r>
            <a:r>
              <a:rPr lang="en-US" sz="1400" b="1" dirty="0" err="1">
                <a:solidFill>
                  <a:schemeClr val="bg1">
                    <a:lumMod val="85000"/>
                  </a:schemeClr>
                </a:solidFill>
              </a:rPr>
              <a:t>Jotstar</a:t>
            </a:r>
            <a:r>
              <a:rPr lang="en-US" sz="1400" dirty="0">
                <a:solidFill>
                  <a:schemeClr val="bg1">
                    <a:lumMod val="85000"/>
                  </a:schemeClr>
                </a:solidFill>
              </a:rPr>
              <a:t>, inactive user counts steadily rise month-over-month, clearly coinciding with declining average viewing hours.</a:t>
            </a:r>
          </a:p>
          <a:p>
            <a:pPr marL="285750" indent="-285750">
              <a:buFont typeface="Arial" panose="020B0604020202020204" pitchFamily="34" charset="0"/>
              <a:buChar char="•"/>
            </a:pPr>
            <a:endParaRPr lang="en-US" sz="1400" dirty="0">
              <a:solidFill>
                <a:schemeClr val="bg1">
                  <a:lumMod val="85000"/>
                </a:schemeClr>
              </a:solidFill>
            </a:endParaRPr>
          </a:p>
          <a:p>
            <a:pPr marL="285750" indent="-285750">
              <a:buFont typeface="Arial" panose="020B0604020202020204" pitchFamily="34" charset="0"/>
              <a:buChar char="•"/>
            </a:pPr>
            <a:r>
              <a:rPr lang="en-US" sz="1400" dirty="0">
                <a:solidFill>
                  <a:schemeClr val="bg1">
                    <a:lumMod val="85000"/>
                  </a:schemeClr>
                </a:solidFill>
              </a:rPr>
              <a:t>Surprisingly, </a:t>
            </a:r>
            <a:r>
              <a:rPr lang="en-US" sz="1400" b="1" dirty="0">
                <a:solidFill>
                  <a:schemeClr val="bg1">
                    <a:lumMod val="85000"/>
                  </a:schemeClr>
                </a:solidFill>
              </a:rPr>
              <a:t>74%</a:t>
            </a:r>
            <a:r>
              <a:rPr lang="en-US" sz="1400" dirty="0">
                <a:solidFill>
                  <a:schemeClr val="bg1">
                    <a:lumMod val="85000"/>
                  </a:schemeClr>
                </a:solidFill>
              </a:rPr>
              <a:t> of inactive users previously demonstrated </a:t>
            </a:r>
            <a:r>
              <a:rPr lang="en-US" sz="1400" b="1" dirty="0">
                <a:solidFill>
                  <a:schemeClr val="bg1">
                    <a:lumMod val="85000"/>
                  </a:schemeClr>
                </a:solidFill>
              </a:rPr>
              <a:t>high engagement</a:t>
            </a:r>
            <a:r>
              <a:rPr lang="en-US" sz="1400" dirty="0">
                <a:solidFill>
                  <a:schemeClr val="bg1">
                    <a:lumMod val="85000"/>
                  </a:schemeClr>
                </a:solidFill>
              </a:rPr>
              <a:t>, indicating a significant drop-off risk even among highly engaged audiences.</a:t>
            </a:r>
            <a:endParaRPr lang="en-CA" sz="1400" dirty="0">
              <a:solidFill>
                <a:schemeClr val="bg1">
                  <a:lumMod val="85000"/>
                </a:schemeClr>
              </a:solidFill>
            </a:endParaRPr>
          </a:p>
        </p:txBody>
      </p:sp>
      <p:sp>
        <p:nvSpPr>
          <p:cNvPr id="41" name="TextBox 40">
            <a:extLst>
              <a:ext uri="{FF2B5EF4-FFF2-40B4-BE49-F238E27FC236}">
                <a16:creationId xmlns:a16="http://schemas.microsoft.com/office/drawing/2014/main" id="{9F73592F-B1C6-7FB6-10B9-9EDF216B4C8E}"/>
              </a:ext>
            </a:extLst>
          </p:cNvPr>
          <p:cNvSpPr txBox="1"/>
          <p:nvPr/>
        </p:nvSpPr>
        <p:spPr>
          <a:xfrm>
            <a:off x="8388751" y="4230825"/>
            <a:ext cx="3590609" cy="2462213"/>
          </a:xfrm>
          <a:prstGeom prst="rect">
            <a:avLst/>
          </a:prstGeom>
          <a:noFill/>
        </p:spPr>
        <p:txBody>
          <a:bodyPr wrap="square" rtlCol="0">
            <a:spAutoFit/>
          </a:bodyPr>
          <a:lstStyle/>
          <a:p>
            <a:pPr marL="285750" indent="-285750">
              <a:buFont typeface="Arial" panose="020B0604020202020204" pitchFamily="34" charset="0"/>
              <a:buChar char="•"/>
            </a:pPr>
            <a:r>
              <a:rPr lang="en-US" sz="1400" b="1" dirty="0" err="1">
                <a:solidFill>
                  <a:schemeClr val="bg1">
                    <a:lumMod val="85000"/>
                  </a:schemeClr>
                </a:solidFill>
              </a:rPr>
              <a:t>Liocinema</a:t>
            </a:r>
            <a:r>
              <a:rPr lang="en-US" sz="1400" dirty="0">
                <a:solidFill>
                  <a:schemeClr val="bg1">
                    <a:lumMod val="85000"/>
                  </a:schemeClr>
                </a:solidFill>
              </a:rPr>
              <a:t> exhibits a similar pattern, with inactive users increasing progressively, but notably surging after September—coinciding with a sharp decline in average watch hours. </a:t>
            </a:r>
          </a:p>
          <a:p>
            <a:pPr marL="285750" indent="-285750">
              <a:buFont typeface="Arial" panose="020B0604020202020204" pitchFamily="34" charset="0"/>
              <a:buChar char="•"/>
            </a:pPr>
            <a:endParaRPr lang="en-US" sz="1400" dirty="0">
              <a:solidFill>
                <a:schemeClr val="bg1">
                  <a:lumMod val="85000"/>
                </a:schemeClr>
              </a:solidFill>
            </a:endParaRPr>
          </a:p>
          <a:p>
            <a:pPr marL="285750" indent="-285750">
              <a:buFont typeface="Arial" panose="020B0604020202020204" pitchFamily="34" charset="0"/>
              <a:buChar char="•"/>
            </a:pPr>
            <a:r>
              <a:rPr lang="en-US" sz="1400" dirty="0">
                <a:solidFill>
                  <a:schemeClr val="bg1">
                    <a:lumMod val="85000"/>
                  </a:schemeClr>
                </a:solidFill>
              </a:rPr>
              <a:t>Unlike </a:t>
            </a:r>
            <a:r>
              <a:rPr lang="en-US" sz="1400" dirty="0" err="1">
                <a:solidFill>
                  <a:schemeClr val="bg1">
                    <a:lumMod val="85000"/>
                  </a:schemeClr>
                </a:solidFill>
              </a:rPr>
              <a:t>Jotstar</a:t>
            </a:r>
            <a:r>
              <a:rPr lang="en-US" sz="1400" dirty="0">
                <a:solidFill>
                  <a:schemeClr val="bg1">
                    <a:lumMod val="85000"/>
                  </a:schemeClr>
                </a:solidFill>
              </a:rPr>
              <a:t>, however, </a:t>
            </a:r>
            <a:r>
              <a:rPr lang="en-US" sz="1400" dirty="0" err="1">
                <a:solidFill>
                  <a:schemeClr val="bg1">
                    <a:lumMod val="85000"/>
                  </a:schemeClr>
                </a:solidFill>
              </a:rPr>
              <a:t>Liocinema’s</a:t>
            </a:r>
            <a:r>
              <a:rPr lang="en-US" sz="1400" dirty="0">
                <a:solidFill>
                  <a:schemeClr val="bg1">
                    <a:lumMod val="85000"/>
                  </a:schemeClr>
                </a:solidFill>
              </a:rPr>
              <a:t> inactivity predominantly affects already </a:t>
            </a:r>
            <a:r>
              <a:rPr lang="en-US" sz="1400" b="1" dirty="0">
                <a:solidFill>
                  <a:schemeClr val="bg1">
                    <a:lumMod val="85000"/>
                  </a:schemeClr>
                </a:solidFill>
              </a:rPr>
              <a:t>low-engagement users (67%)</a:t>
            </a:r>
            <a:r>
              <a:rPr lang="en-US" sz="1400" dirty="0">
                <a:solidFill>
                  <a:schemeClr val="bg1">
                    <a:lumMod val="85000"/>
                  </a:schemeClr>
                </a:solidFill>
              </a:rPr>
              <a:t>, highlighting the importance of proactive retention strategies focused on this segment.</a:t>
            </a:r>
            <a:endParaRPr lang="en-CA" sz="1400" dirty="0">
              <a:solidFill>
                <a:schemeClr val="bg1">
                  <a:lumMod val="85000"/>
                </a:schemeClr>
              </a:solidFill>
            </a:endParaRPr>
          </a:p>
        </p:txBody>
      </p:sp>
    </p:spTree>
    <p:custDataLst>
      <p:tags r:id="rId1"/>
    </p:custDataLst>
    <p:extLst>
      <p:ext uri="{BB962C8B-B14F-4D97-AF65-F5344CB8AC3E}">
        <p14:creationId xmlns:p14="http://schemas.microsoft.com/office/powerpoint/2010/main" val="635078911"/>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
                                            <p:txEl>
                                              <p:pRg st="0" end="0"/>
                                            </p:txEl>
                                          </p:spTgt>
                                        </p:tgtEl>
                                        <p:attrNameLst>
                                          <p:attrName>style.visibility</p:attrName>
                                        </p:attrNameLst>
                                      </p:cBhvr>
                                      <p:to>
                                        <p:strVal val="visible"/>
                                      </p:to>
                                    </p:set>
                                    <p:animEffect transition="in" filter="fade">
                                      <p:cBhvr>
                                        <p:cTn id="12" dur="500"/>
                                        <p:tgtEl>
                                          <p:spTgt spid="4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0">
                                            <p:txEl>
                                              <p:pRg st="2" end="2"/>
                                            </p:txEl>
                                          </p:spTgt>
                                        </p:tgtEl>
                                        <p:attrNameLst>
                                          <p:attrName>style.visibility</p:attrName>
                                        </p:attrNameLst>
                                      </p:cBhvr>
                                      <p:to>
                                        <p:strVal val="visible"/>
                                      </p:to>
                                    </p:set>
                                    <p:animEffect transition="in" filter="fade">
                                      <p:cBhvr>
                                        <p:cTn id="17" dur="500"/>
                                        <p:tgtEl>
                                          <p:spTgt spid="4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9"/>
                                        </p:tgtEl>
                                        <p:attrNameLst>
                                          <p:attrName>style.visibility</p:attrName>
                                        </p:attrNameLst>
                                      </p:cBhvr>
                                      <p:to>
                                        <p:strVal val="visible"/>
                                      </p:to>
                                    </p:set>
                                    <p:animEffect transition="in" filter="fade">
                                      <p:cBhvr>
                                        <p:cTn id="22" dur="500"/>
                                        <p:tgtEl>
                                          <p:spTgt spid="3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1">
                                            <p:txEl>
                                              <p:pRg st="0" end="0"/>
                                            </p:txEl>
                                          </p:spTgt>
                                        </p:tgtEl>
                                        <p:attrNameLst>
                                          <p:attrName>style.visibility</p:attrName>
                                        </p:attrNameLst>
                                      </p:cBhvr>
                                      <p:to>
                                        <p:strVal val="visible"/>
                                      </p:to>
                                    </p:set>
                                    <p:animEffect transition="in" filter="fade">
                                      <p:cBhvr>
                                        <p:cTn id="27" dur="500"/>
                                        <p:tgtEl>
                                          <p:spTgt spid="41">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1">
                                            <p:txEl>
                                              <p:pRg st="2" end="2"/>
                                            </p:txEl>
                                          </p:spTgt>
                                        </p:tgtEl>
                                        <p:attrNameLst>
                                          <p:attrName>style.visibility</p:attrName>
                                        </p:attrNameLst>
                                      </p:cBhvr>
                                      <p:to>
                                        <p:strVal val="visible"/>
                                      </p:to>
                                    </p:set>
                                    <p:animEffect transition="in" filter="fade">
                                      <p:cBhvr>
                                        <p:cTn id="32" dur="500"/>
                                        <p:tgtEl>
                                          <p:spTgt spid="4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1E2F4885-022B-7DFC-7254-8FEE995D99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4EFF27-0E1B-0D9B-8078-A804D5A34549}"/>
              </a:ext>
            </a:extLst>
          </p:cNvPr>
          <p:cNvSpPr>
            <a:spLocks noGrp="1"/>
          </p:cNvSpPr>
          <p:nvPr>
            <p:ph type="title"/>
          </p:nvPr>
        </p:nvSpPr>
        <p:spPr>
          <a:xfrm>
            <a:off x="407504" y="365126"/>
            <a:ext cx="11410122" cy="539336"/>
          </a:xfrm>
        </p:spPr>
        <p:txBody>
          <a:bodyPr>
            <a:normAutofit/>
          </a:bodyPr>
          <a:lstStyle/>
          <a:p>
            <a:pPr algn="ctr"/>
            <a:r>
              <a:rPr lang="en-US" sz="2400" b="1" u="none" strike="noStrike" kern="100" dirty="0">
                <a:effectLst/>
                <a:highlight>
                  <a:srgbClr val="C0C0C0"/>
                </a:highlight>
                <a:uFill>
                  <a:solidFill>
                    <a:srgbClr val="000000"/>
                  </a:solidFill>
                </a:uFill>
                <a:latin typeface="Aptos (Body)"/>
                <a:ea typeface="Calibri" panose="020F0502020204030204" pitchFamily="34" charset="0"/>
                <a:cs typeface="Calibri" panose="020F0502020204030204" pitchFamily="34" charset="0"/>
              </a:rPr>
              <a:t>Downgrade</a:t>
            </a:r>
            <a:r>
              <a:rPr lang="en-US" sz="2400" b="1" u="none" strike="noStrike" kern="100" dirty="0">
                <a:solidFill>
                  <a:schemeClr val="bg1">
                    <a:lumMod val="95000"/>
                  </a:schemeClr>
                </a:solidFill>
                <a:effectLst/>
                <a:uFill>
                  <a:solidFill>
                    <a:srgbClr val="000000"/>
                  </a:solidFill>
                </a:uFill>
                <a:latin typeface="Aptos (Body)"/>
                <a:ea typeface="Calibri" panose="020F0502020204030204" pitchFamily="34" charset="0"/>
                <a:cs typeface="Calibri" panose="020F0502020204030204" pitchFamily="34" charset="0"/>
              </a:rPr>
              <a:t> Trends</a:t>
            </a:r>
            <a:endParaRPr lang="en-CA" sz="5400" b="1" dirty="0">
              <a:solidFill>
                <a:schemeClr val="bg1">
                  <a:lumMod val="95000"/>
                </a:schemeClr>
              </a:solidFill>
              <a:latin typeface="Aptos (Body)"/>
            </a:endParaRPr>
          </a:p>
        </p:txBody>
      </p:sp>
      <p:sp>
        <p:nvSpPr>
          <p:cNvPr id="3" name="TextBox 2">
            <a:extLst>
              <a:ext uri="{FF2B5EF4-FFF2-40B4-BE49-F238E27FC236}">
                <a16:creationId xmlns:a16="http://schemas.microsoft.com/office/drawing/2014/main" id="{D6F2EA74-A843-C749-DD34-495046F57B46}"/>
              </a:ext>
            </a:extLst>
          </p:cNvPr>
          <p:cNvSpPr txBox="1"/>
          <p:nvPr/>
        </p:nvSpPr>
        <p:spPr>
          <a:xfrm>
            <a:off x="7753879" y="1246530"/>
            <a:ext cx="4030617" cy="5262979"/>
          </a:xfrm>
          <a:prstGeom prst="rect">
            <a:avLst/>
          </a:prstGeom>
          <a:noFill/>
        </p:spPr>
        <p:txBody>
          <a:bodyPr wrap="square" rtlCol="0">
            <a:spAutoFit/>
          </a:bodyPr>
          <a:lstStyle/>
          <a:p>
            <a:pPr marL="285750" indent="-285750">
              <a:buFont typeface="Arial" panose="020B0604020202020204" pitchFamily="34" charset="0"/>
              <a:buChar char="•"/>
            </a:pPr>
            <a:r>
              <a:rPr lang="en-US" sz="1600" dirty="0">
                <a:solidFill>
                  <a:schemeClr val="bg1">
                    <a:lumMod val="85000"/>
                  </a:schemeClr>
                </a:solidFill>
              </a:rPr>
              <a:t>Downgrade patterns for both </a:t>
            </a:r>
            <a:r>
              <a:rPr lang="en-US" sz="1600" b="1" dirty="0" err="1">
                <a:solidFill>
                  <a:schemeClr val="bg1">
                    <a:lumMod val="85000"/>
                  </a:schemeClr>
                </a:solidFill>
              </a:rPr>
              <a:t>Jotstar</a:t>
            </a:r>
            <a:r>
              <a:rPr lang="en-US" sz="1600" dirty="0">
                <a:solidFill>
                  <a:schemeClr val="bg1">
                    <a:lumMod val="85000"/>
                  </a:schemeClr>
                </a:solidFill>
              </a:rPr>
              <a:t> and </a:t>
            </a:r>
            <a:r>
              <a:rPr lang="en-US" sz="1600" b="1" dirty="0" err="1">
                <a:solidFill>
                  <a:schemeClr val="bg1">
                    <a:lumMod val="85000"/>
                  </a:schemeClr>
                </a:solidFill>
              </a:rPr>
              <a:t>Liocinema</a:t>
            </a:r>
            <a:r>
              <a:rPr lang="en-US" sz="1600" dirty="0">
                <a:solidFill>
                  <a:schemeClr val="bg1">
                    <a:lumMod val="85000"/>
                  </a:schemeClr>
                </a:solidFill>
              </a:rPr>
              <a:t> steadily intensify month-over-month, sharply peaking in </a:t>
            </a:r>
            <a:r>
              <a:rPr lang="en-US" sz="1600" b="1" dirty="0">
                <a:solidFill>
                  <a:schemeClr val="bg1">
                    <a:lumMod val="85000"/>
                  </a:schemeClr>
                </a:solidFill>
              </a:rPr>
              <a:t>November</a:t>
            </a:r>
            <a:r>
              <a:rPr lang="en-US" sz="1600" dirty="0">
                <a:solidFill>
                  <a:schemeClr val="bg1">
                    <a:lumMod val="85000"/>
                  </a:schemeClr>
                </a:solidFill>
              </a:rPr>
              <a:t>, before slightly easing in </a:t>
            </a:r>
            <a:r>
              <a:rPr lang="en-US" sz="1600" b="1" dirty="0">
                <a:solidFill>
                  <a:schemeClr val="bg1">
                    <a:lumMod val="85000"/>
                  </a:schemeClr>
                </a:solidFill>
              </a:rPr>
              <a:t>December</a:t>
            </a:r>
            <a:r>
              <a:rPr lang="en-US" sz="1600" dirty="0">
                <a:solidFill>
                  <a:schemeClr val="bg1">
                    <a:lumMod val="85000"/>
                  </a:schemeClr>
                </a:solidFill>
              </a:rPr>
              <a:t>.</a:t>
            </a:r>
          </a:p>
          <a:p>
            <a:pPr marL="285750" indent="-285750">
              <a:buFont typeface="Arial" panose="020B0604020202020204" pitchFamily="34" charset="0"/>
              <a:buChar char="•"/>
            </a:pPr>
            <a:endParaRPr lang="en-US" sz="1600" dirty="0">
              <a:solidFill>
                <a:schemeClr val="bg1">
                  <a:lumMod val="85000"/>
                </a:schemeClr>
              </a:solidFill>
            </a:endParaRPr>
          </a:p>
          <a:p>
            <a:pPr marL="285750" indent="-285750">
              <a:buFont typeface="Arial" panose="020B0604020202020204" pitchFamily="34" charset="0"/>
              <a:buChar char="•"/>
            </a:pPr>
            <a:r>
              <a:rPr lang="en-US" sz="1600" dirty="0">
                <a:solidFill>
                  <a:schemeClr val="bg1">
                    <a:lumMod val="85000"/>
                  </a:schemeClr>
                </a:solidFill>
              </a:rPr>
              <a:t>On </a:t>
            </a:r>
            <a:r>
              <a:rPr lang="en-US" sz="1600" b="1" dirty="0" err="1">
                <a:solidFill>
                  <a:schemeClr val="bg1">
                    <a:lumMod val="85000"/>
                  </a:schemeClr>
                </a:solidFill>
              </a:rPr>
              <a:t>Jotstar</a:t>
            </a:r>
            <a:r>
              <a:rPr lang="en-US" sz="1600" dirty="0">
                <a:solidFill>
                  <a:schemeClr val="bg1">
                    <a:lumMod val="85000"/>
                  </a:schemeClr>
                </a:solidFill>
              </a:rPr>
              <a:t>, users predominantly shift from </a:t>
            </a:r>
            <a:r>
              <a:rPr lang="en-US" sz="1600" b="1" dirty="0">
                <a:solidFill>
                  <a:schemeClr val="bg1">
                    <a:lumMod val="85000"/>
                  </a:schemeClr>
                </a:solidFill>
              </a:rPr>
              <a:t>VIP directly down to Free plans</a:t>
            </a:r>
            <a:r>
              <a:rPr lang="en-US" sz="1600" dirty="0">
                <a:solidFill>
                  <a:schemeClr val="bg1">
                    <a:lumMod val="85000"/>
                  </a:schemeClr>
                </a:solidFill>
              </a:rPr>
              <a:t>, significantly exceeding downgrades from </a:t>
            </a:r>
            <a:r>
              <a:rPr lang="en-US" sz="1600" b="1" dirty="0">
                <a:solidFill>
                  <a:schemeClr val="bg1">
                    <a:lumMod val="85000"/>
                  </a:schemeClr>
                </a:solidFill>
              </a:rPr>
              <a:t>Premium to VIP</a:t>
            </a:r>
            <a:r>
              <a:rPr lang="en-US" sz="1600" dirty="0">
                <a:solidFill>
                  <a:schemeClr val="bg1">
                    <a:lumMod val="85000"/>
                  </a:schemeClr>
                </a:solidFill>
              </a:rPr>
              <a:t>. Remarkably, users show no tendency to downgrade directly from </a:t>
            </a:r>
            <a:r>
              <a:rPr lang="en-US" sz="1600" b="1" dirty="0">
                <a:solidFill>
                  <a:schemeClr val="bg1">
                    <a:lumMod val="85000"/>
                  </a:schemeClr>
                </a:solidFill>
              </a:rPr>
              <a:t>Premium to Free</a:t>
            </a:r>
            <a:r>
              <a:rPr lang="en-US" sz="1600" dirty="0">
                <a:solidFill>
                  <a:schemeClr val="bg1">
                    <a:lumMod val="85000"/>
                  </a:schemeClr>
                </a:solidFill>
              </a:rPr>
              <a:t>, indicating more deliberate, step-by-step decisions.</a:t>
            </a:r>
          </a:p>
          <a:p>
            <a:pPr marL="285750" indent="-285750">
              <a:buFont typeface="Arial" panose="020B0604020202020204" pitchFamily="34" charset="0"/>
              <a:buChar char="•"/>
            </a:pPr>
            <a:endParaRPr lang="en-US" sz="1600" dirty="0">
              <a:solidFill>
                <a:schemeClr val="bg1">
                  <a:lumMod val="85000"/>
                </a:schemeClr>
              </a:solidFill>
            </a:endParaRPr>
          </a:p>
          <a:p>
            <a:pPr marL="285750" indent="-285750">
              <a:buFont typeface="Arial" panose="020B0604020202020204" pitchFamily="34" charset="0"/>
              <a:buChar char="•"/>
            </a:pPr>
            <a:r>
              <a:rPr lang="en-US" sz="1600" dirty="0">
                <a:solidFill>
                  <a:schemeClr val="bg1">
                    <a:lumMod val="85000"/>
                  </a:schemeClr>
                </a:solidFill>
              </a:rPr>
              <a:t>Conversely, </a:t>
            </a:r>
            <a:r>
              <a:rPr lang="en-US" sz="1600" b="1" dirty="0" err="1">
                <a:solidFill>
                  <a:schemeClr val="bg1">
                    <a:lumMod val="85000"/>
                  </a:schemeClr>
                </a:solidFill>
              </a:rPr>
              <a:t>Liocinema</a:t>
            </a:r>
            <a:r>
              <a:rPr lang="en-US" sz="1600" dirty="0">
                <a:solidFill>
                  <a:schemeClr val="bg1">
                    <a:lumMod val="85000"/>
                  </a:schemeClr>
                </a:solidFill>
              </a:rPr>
              <a:t> sees a more abrupt downgrade pattern, with most users actively switching from </a:t>
            </a:r>
            <a:r>
              <a:rPr lang="en-US" sz="1600" b="1" dirty="0">
                <a:solidFill>
                  <a:schemeClr val="bg1">
                    <a:lumMod val="85000"/>
                  </a:schemeClr>
                </a:solidFill>
              </a:rPr>
              <a:t>Basic straight to Free</a:t>
            </a:r>
            <a:r>
              <a:rPr lang="en-US" sz="1600" dirty="0">
                <a:solidFill>
                  <a:schemeClr val="bg1">
                    <a:lumMod val="85000"/>
                  </a:schemeClr>
                </a:solidFill>
              </a:rPr>
              <a:t>, closely followed by direct moves from </a:t>
            </a:r>
            <a:r>
              <a:rPr lang="en-US" sz="1600" b="1" dirty="0">
                <a:solidFill>
                  <a:schemeClr val="bg1">
                    <a:lumMod val="85000"/>
                  </a:schemeClr>
                </a:solidFill>
              </a:rPr>
              <a:t>Premium to Free</a:t>
            </a:r>
            <a:r>
              <a:rPr lang="en-US" sz="1600" dirty="0">
                <a:solidFill>
                  <a:schemeClr val="bg1">
                    <a:lumMod val="85000"/>
                  </a:schemeClr>
                </a:solidFill>
              </a:rPr>
              <a:t>. Very few users choose the intermediate step (</a:t>
            </a:r>
            <a:r>
              <a:rPr lang="en-US" sz="1600" b="1" dirty="0">
                <a:solidFill>
                  <a:schemeClr val="bg1">
                    <a:lumMod val="85000"/>
                  </a:schemeClr>
                </a:solidFill>
              </a:rPr>
              <a:t>Premium to Basic</a:t>
            </a:r>
            <a:r>
              <a:rPr lang="en-US" sz="1600" dirty="0">
                <a:solidFill>
                  <a:schemeClr val="bg1">
                    <a:lumMod val="85000"/>
                  </a:schemeClr>
                </a:solidFill>
              </a:rPr>
              <a:t>), suggesting quicker disengagement behavior compared to </a:t>
            </a:r>
            <a:r>
              <a:rPr lang="en-US" sz="1600" dirty="0" err="1">
                <a:solidFill>
                  <a:schemeClr val="bg1">
                    <a:lumMod val="85000"/>
                  </a:schemeClr>
                </a:solidFill>
              </a:rPr>
              <a:t>Jotstar</a:t>
            </a:r>
            <a:r>
              <a:rPr lang="en-US" sz="1600" dirty="0">
                <a:solidFill>
                  <a:schemeClr val="bg1">
                    <a:lumMod val="85000"/>
                  </a:schemeClr>
                </a:solidFill>
              </a:rPr>
              <a:t>.</a:t>
            </a:r>
          </a:p>
        </p:txBody>
      </p:sp>
      <p:grpSp>
        <p:nvGrpSpPr>
          <p:cNvPr id="18" name="Group 17">
            <a:extLst>
              <a:ext uri="{FF2B5EF4-FFF2-40B4-BE49-F238E27FC236}">
                <a16:creationId xmlns:a16="http://schemas.microsoft.com/office/drawing/2014/main" id="{62730DBD-EAD4-153A-0276-4186E7ED71E9}"/>
              </a:ext>
            </a:extLst>
          </p:cNvPr>
          <p:cNvGrpSpPr/>
          <p:nvPr/>
        </p:nvGrpSpPr>
        <p:grpSpPr>
          <a:xfrm>
            <a:off x="4074161" y="1051201"/>
            <a:ext cx="3440596" cy="5604098"/>
            <a:chOff x="3817960" y="1051201"/>
            <a:chExt cx="3440596" cy="5604098"/>
          </a:xfrm>
        </p:grpSpPr>
        <p:pic>
          <p:nvPicPr>
            <p:cNvPr id="14" name="Picture 13">
              <a:extLst>
                <a:ext uri="{FF2B5EF4-FFF2-40B4-BE49-F238E27FC236}">
                  <a16:creationId xmlns:a16="http://schemas.microsoft.com/office/drawing/2014/main" id="{0C3F403D-2A49-4A02-9669-61057006E62E}"/>
                </a:ext>
              </a:extLst>
            </p:cNvPr>
            <p:cNvPicPr>
              <a:picLocks noChangeAspect="1"/>
            </p:cNvPicPr>
            <p:nvPr/>
          </p:nvPicPr>
          <p:blipFill>
            <a:blip r:embed="rId5"/>
            <a:srcRect l="49780"/>
            <a:stretch/>
          </p:blipFill>
          <p:spPr>
            <a:xfrm>
              <a:off x="3817960" y="1473200"/>
              <a:ext cx="3440596" cy="5182099"/>
            </a:xfrm>
            <a:prstGeom prst="rect">
              <a:avLst/>
            </a:prstGeom>
          </p:spPr>
        </p:pic>
        <p:pic>
          <p:nvPicPr>
            <p:cNvPr id="16" name="Picture 15" descr="A black and white logo&#10;&#10;AI-generated content may be incorrect.">
              <a:extLst>
                <a:ext uri="{FF2B5EF4-FFF2-40B4-BE49-F238E27FC236}">
                  <a16:creationId xmlns:a16="http://schemas.microsoft.com/office/drawing/2014/main" id="{705F4D83-2B6A-E4CE-0E0E-FD2D0BBDB80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664476" y="1051201"/>
              <a:ext cx="1550879" cy="378315"/>
            </a:xfrm>
            <a:prstGeom prst="rect">
              <a:avLst/>
            </a:prstGeom>
          </p:spPr>
        </p:pic>
      </p:grpSp>
      <p:grpSp>
        <p:nvGrpSpPr>
          <p:cNvPr id="22" name="Group 21">
            <a:extLst>
              <a:ext uri="{FF2B5EF4-FFF2-40B4-BE49-F238E27FC236}">
                <a16:creationId xmlns:a16="http://schemas.microsoft.com/office/drawing/2014/main" id="{44892AD4-9B66-C85E-4B28-074B0F550C48}"/>
              </a:ext>
            </a:extLst>
          </p:cNvPr>
          <p:cNvGrpSpPr/>
          <p:nvPr/>
        </p:nvGrpSpPr>
        <p:grpSpPr>
          <a:xfrm>
            <a:off x="407504" y="1068796"/>
            <a:ext cx="3440596" cy="5586503"/>
            <a:chOff x="407504" y="1068796"/>
            <a:chExt cx="3440596" cy="5586503"/>
          </a:xfrm>
        </p:grpSpPr>
        <p:pic>
          <p:nvPicPr>
            <p:cNvPr id="9" name="Picture 8">
              <a:extLst>
                <a:ext uri="{FF2B5EF4-FFF2-40B4-BE49-F238E27FC236}">
                  <a16:creationId xmlns:a16="http://schemas.microsoft.com/office/drawing/2014/main" id="{0B66EFFF-69DE-2A2B-BFAE-BC78D97C84CF}"/>
                </a:ext>
              </a:extLst>
            </p:cNvPr>
            <p:cNvPicPr>
              <a:picLocks noChangeAspect="1"/>
            </p:cNvPicPr>
            <p:nvPr/>
          </p:nvPicPr>
          <p:blipFill>
            <a:blip r:embed="rId5"/>
            <a:srcRect r="49780"/>
            <a:stretch/>
          </p:blipFill>
          <p:spPr>
            <a:xfrm>
              <a:off x="407504" y="1473200"/>
              <a:ext cx="3440596" cy="5182099"/>
            </a:xfrm>
            <a:prstGeom prst="rect">
              <a:avLst/>
            </a:prstGeom>
          </p:spPr>
        </p:pic>
        <p:pic>
          <p:nvPicPr>
            <p:cNvPr id="15" name="Picture 14" descr="A white text on a black background&#10;&#10;AI-generated content may be incorrect.">
              <a:extLst>
                <a:ext uri="{FF2B5EF4-FFF2-40B4-BE49-F238E27FC236}">
                  <a16:creationId xmlns:a16="http://schemas.microsoft.com/office/drawing/2014/main" id="{CB8E03F3-7ED9-E130-F9BC-C63327F28D3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467151" y="1068796"/>
              <a:ext cx="1324829" cy="404404"/>
            </a:xfrm>
            <a:prstGeom prst="rect">
              <a:avLst/>
            </a:prstGeom>
          </p:spPr>
        </p:pic>
      </p:grpSp>
      <p:cxnSp>
        <p:nvCxnSpPr>
          <p:cNvPr id="19" name="Straight Connector 18">
            <a:extLst>
              <a:ext uri="{FF2B5EF4-FFF2-40B4-BE49-F238E27FC236}">
                <a16:creationId xmlns:a16="http://schemas.microsoft.com/office/drawing/2014/main" id="{C52EF9AF-70E6-0FFB-11B3-C5D090AB6952}"/>
              </a:ext>
            </a:extLst>
          </p:cNvPr>
          <p:cNvCxnSpPr>
            <a:cxnSpLocks/>
          </p:cNvCxnSpPr>
          <p:nvPr/>
        </p:nvCxnSpPr>
        <p:spPr>
          <a:xfrm>
            <a:off x="3943155" y="986629"/>
            <a:ext cx="0" cy="5668670"/>
          </a:xfrm>
          <a:prstGeom prst="line">
            <a:avLst/>
          </a:prstGeom>
          <a:ln>
            <a:solidFill>
              <a:srgbClr val="45458B">
                <a:alpha val="44000"/>
              </a:srgbClr>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4233713906"/>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wipe(up)">
                                      <p:cBhvr>
                                        <p:cTn id="22" dur="500"/>
                                        <p:tgtEl>
                                          <p:spTgt spid="1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500"/>
                                        <p:tgtEl>
                                          <p:spTgt spid="1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4FFC9577-9CCA-7EAD-D7A9-F90793D275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6FB70B-D8CA-CCCF-4363-21E839E4B206}"/>
              </a:ext>
            </a:extLst>
          </p:cNvPr>
          <p:cNvSpPr>
            <a:spLocks noGrp="1"/>
          </p:cNvSpPr>
          <p:nvPr>
            <p:ph type="title"/>
          </p:nvPr>
        </p:nvSpPr>
        <p:spPr>
          <a:xfrm>
            <a:off x="407504" y="365126"/>
            <a:ext cx="11410122" cy="539336"/>
          </a:xfrm>
        </p:spPr>
        <p:txBody>
          <a:bodyPr>
            <a:normAutofit/>
          </a:bodyPr>
          <a:lstStyle/>
          <a:p>
            <a:pPr algn="ctr"/>
            <a:r>
              <a:rPr lang="en-US" sz="2400" b="1" u="none" strike="noStrike" kern="100" dirty="0">
                <a:effectLst/>
                <a:highlight>
                  <a:srgbClr val="C0C0C0"/>
                </a:highlight>
                <a:uFill>
                  <a:solidFill>
                    <a:srgbClr val="000000"/>
                  </a:solidFill>
                </a:uFill>
                <a:latin typeface="Aptos (Body)"/>
                <a:ea typeface="Calibri" panose="020F0502020204030204" pitchFamily="34" charset="0"/>
                <a:cs typeface="Calibri" panose="020F0502020204030204" pitchFamily="34" charset="0"/>
              </a:rPr>
              <a:t>Upgrade</a:t>
            </a:r>
            <a:r>
              <a:rPr lang="en-US" sz="2400" b="1" u="none" strike="noStrike" kern="100" dirty="0">
                <a:solidFill>
                  <a:schemeClr val="bg1">
                    <a:lumMod val="95000"/>
                  </a:schemeClr>
                </a:solidFill>
                <a:effectLst/>
                <a:uFill>
                  <a:solidFill>
                    <a:srgbClr val="000000"/>
                  </a:solidFill>
                </a:uFill>
                <a:latin typeface="Aptos (Body)"/>
                <a:ea typeface="Calibri" panose="020F0502020204030204" pitchFamily="34" charset="0"/>
                <a:cs typeface="Calibri" panose="020F0502020204030204" pitchFamily="34" charset="0"/>
              </a:rPr>
              <a:t> Patterns</a:t>
            </a:r>
            <a:endParaRPr lang="en-CA" sz="5400" b="1" dirty="0">
              <a:solidFill>
                <a:schemeClr val="bg1">
                  <a:lumMod val="95000"/>
                </a:schemeClr>
              </a:solidFill>
              <a:latin typeface="Aptos (Body)"/>
            </a:endParaRPr>
          </a:p>
        </p:txBody>
      </p:sp>
      <p:sp>
        <p:nvSpPr>
          <p:cNvPr id="3" name="TextBox 2">
            <a:extLst>
              <a:ext uri="{FF2B5EF4-FFF2-40B4-BE49-F238E27FC236}">
                <a16:creationId xmlns:a16="http://schemas.microsoft.com/office/drawing/2014/main" id="{810636D8-B647-49C2-8A96-795C784E2CC1}"/>
              </a:ext>
            </a:extLst>
          </p:cNvPr>
          <p:cNvSpPr txBox="1"/>
          <p:nvPr/>
        </p:nvSpPr>
        <p:spPr>
          <a:xfrm>
            <a:off x="7986835" y="1270998"/>
            <a:ext cx="3837419" cy="5047536"/>
          </a:xfrm>
          <a:prstGeom prst="rect">
            <a:avLst/>
          </a:prstGeom>
          <a:noFill/>
        </p:spPr>
        <p:txBody>
          <a:bodyPr wrap="square" rtlCol="0">
            <a:spAutoFit/>
          </a:bodyPr>
          <a:lstStyle/>
          <a:p>
            <a:pPr marL="285750" indent="-285750">
              <a:buFont typeface="Arial" panose="020B0604020202020204" pitchFamily="34" charset="0"/>
              <a:buChar char="•"/>
            </a:pPr>
            <a:r>
              <a:rPr lang="en-US" sz="1400" b="1" dirty="0" err="1">
                <a:solidFill>
                  <a:schemeClr val="bg1">
                    <a:lumMod val="85000"/>
                  </a:schemeClr>
                </a:solidFill>
              </a:rPr>
              <a:t>Jotstar</a:t>
            </a:r>
            <a:r>
              <a:rPr lang="en-US" sz="1400" dirty="0">
                <a:solidFill>
                  <a:schemeClr val="bg1">
                    <a:lumMod val="85000"/>
                  </a:schemeClr>
                </a:solidFill>
              </a:rPr>
              <a:t> actively attracts more upgrades than downgrades, although the upgrade trends fluctuate notably throughout the year—spiking sharply after </a:t>
            </a:r>
            <a:r>
              <a:rPr lang="en-US" sz="1400" b="1" dirty="0">
                <a:solidFill>
                  <a:schemeClr val="bg1">
                    <a:lumMod val="85000"/>
                  </a:schemeClr>
                </a:solidFill>
              </a:rPr>
              <a:t>February</a:t>
            </a:r>
            <a:r>
              <a:rPr lang="en-US" sz="1400" dirty="0">
                <a:solidFill>
                  <a:schemeClr val="bg1">
                    <a:lumMod val="85000"/>
                  </a:schemeClr>
                </a:solidFill>
              </a:rPr>
              <a:t>, gradually rising until a dip after </a:t>
            </a:r>
            <a:r>
              <a:rPr lang="en-US" sz="1400" b="1" dirty="0">
                <a:solidFill>
                  <a:schemeClr val="bg1">
                    <a:lumMod val="85000"/>
                  </a:schemeClr>
                </a:solidFill>
              </a:rPr>
              <a:t>August</a:t>
            </a:r>
            <a:r>
              <a:rPr lang="en-US" sz="1400" dirty="0">
                <a:solidFill>
                  <a:schemeClr val="bg1">
                    <a:lumMod val="85000"/>
                  </a:schemeClr>
                </a:solidFill>
              </a:rPr>
              <a:t>, rebounding strongly after </a:t>
            </a:r>
            <a:r>
              <a:rPr lang="en-US" sz="1400" b="1" dirty="0">
                <a:solidFill>
                  <a:schemeClr val="bg1">
                    <a:lumMod val="85000"/>
                  </a:schemeClr>
                </a:solidFill>
              </a:rPr>
              <a:t>October</a:t>
            </a:r>
            <a:r>
              <a:rPr lang="en-US" sz="1400" dirty="0">
                <a:solidFill>
                  <a:schemeClr val="bg1">
                    <a:lumMod val="85000"/>
                  </a:schemeClr>
                </a:solidFill>
              </a:rPr>
              <a:t>, then dropping again after </a:t>
            </a:r>
            <a:r>
              <a:rPr lang="en-US" sz="1400" b="1" dirty="0">
                <a:solidFill>
                  <a:schemeClr val="bg1">
                    <a:lumMod val="85000"/>
                  </a:schemeClr>
                </a:solidFill>
              </a:rPr>
              <a:t>November</a:t>
            </a:r>
            <a:r>
              <a:rPr lang="en-US" sz="1400" dirty="0">
                <a:solidFill>
                  <a:schemeClr val="bg1">
                    <a:lumMod val="85000"/>
                  </a:schemeClr>
                </a:solidFill>
              </a:rPr>
              <a:t>. </a:t>
            </a:r>
          </a:p>
          <a:p>
            <a:pPr marL="285750" indent="-285750">
              <a:buFont typeface="Arial" panose="020B0604020202020204" pitchFamily="34" charset="0"/>
              <a:buChar char="•"/>
            </a:pPr>
            <a:endParaRPr lang="en-US" sz="1400" dirty="0">
              <a:solidFill>
                <a:schemeClr val="bg1">
                  <a:lumMod val="85000"/>
                </a:schemeClr>
              </a:solidFill>
            </a:endParaRPr>
          </a:p>
          <a:p>
            <a:pPr marL="285750" indent="-285750">
              <a:buFont typeface="Arial" panose="020B0604020202020204" pitchFamily="34" charset="0"/>
              <a:buChar char="•"/>
            </a:pPr>
            <a:r>
              <a:rPr lang="en-US" sz="1400" dirty="0">
                <a:solidFill>
                  <a:schemeClr val="bg1">
                    <a:lumMod val="85000"/>
                  </a:schemeClr>
                </a:solidFill>
              </a:rPr>
              <a:t>Users typically upgrade from </a:t>
            </a:r>
            <a:r>
              <a:rPr lang="en-US" sz="1400" b="1" dirty="0">
                <a:solidFill>
                  <a:schemeClr val="bg1">
                    <a:lumMod val="85000"/>
                  </a:schemeClr>
                </a:solidFill>
              </a:rPr>
              <a:t>VIP to Premium</a:t>
            </a:r>
            <a:r>
              <a:rPr lang="en-US" sz="1400" dirty="0">
                <a:solidFill>
                  <a:schemeClr val="bg1">
                    <a:lumMod val="85000"/>
                  </a:schemeClr>
                </a:solidFill>
              </a:rPr>
              <a:t>, followed by </a:t>
            </a:r>
            <a:r>
              <a:rPr lang="en-US" sz="1400" b="1" dirty="0">
                <a:solidFill>
                  <a:schemeClr val="bg1">
                    <a:lumMod val="85000"/>
                  </a:schemeClr>
                </a:solidFill>
              </a:rPr>
              <a:t>Free to VIP</a:t>
            </a:r>
            <a:r>
              <a:rPr lang="en-US" sz="1400" dirty="0">
                <a:solidFill>
                  <a:schemeClr val="bg1">
                    <a:lumMod val="85000"/>
                  </a:schemeClr>
                </a:solidFill>
              </a:rPr>
              <a:t>, with very few directly upgrading from </a:t>
            </a:r>
            <a:r>
              <a:rPr lang="en-US" sz="1400" b="1" dirty="0">
                <a:solidFill>
                  <a:schemeClr val="bg1">
                    <a:lumMod val="85000"/>
                  </a:schemeClr>
                </a:solidFill>
              </a:rPr>
              <a:t>Free to Premium</a:t>
            </a:r>
            <a:r>
              <a:rPr lang="en-US" sz="1400" dirty="0">
                <a:solidFill>
                  <a:schemeClr val="bg1">
                    <a:lumMod val="85000"/>
                  </a:schemeClr>
                </a:solidFill>
              </a:rPr>
              <a:t>.</a:t>
            </a:r>
          </a:p>
          <a:p>
            <a:pPr marL="285750" indent="-285750">
              <a:buFont typeface="Arial" panose="020B0604020202020204" pitchFamily="34" charset="0"/>
              <a:buChar char="•"/>
            </a:pPr>
            <a:endParaRPr lang="en-US" sz="1400" dirty="0">
              <a:solidFill>
                <a:schemeClr val="bg1">
                  <a:lumMod val="85000"/>
                </a:schemeClr>
              </a:solidFill>
            </a:endParaRPr>
          </a:p>
          <a:p>
            <a:pPr marL="285750" indent="-285750">
              <a:buFont typeface="Arial" panose="020B0604020202020204" pitchFamily="34" charset="0"/>
              <a:buChar char="•"/>
            </a:pPr>
            <a:endParaRPr lang="en-US" sz="1400" dirty="0">
              <a:solidFill>
                <a:schemeClr val="bg1">
                  <a:lumMod val="85000"/>
                </a:schemeClr>
              </a:solidFill>
            </a:endParaRPr>
          </a:p>
          <a:p>
            <a:pPr marL="285750" indent="-285750">
              <a:buFont typeface="Arial" panose="020B0604020202020204" pitchFamily="34" charset="0"/>
              <a:buChar char="•"/>
            </a:pPr>
            <a:r>
              <a:rPr lang="en-US" sz="1400" dirty="0">
                <a:solidFill>
                  <a:schemeClr val="bg1">
                    <a:lumMod val="85000"/>
                  </a:schemeClr>
                </a:solidFill>
              </a:rPr>
              <a:t>In contrast, </a:t>
            </a:r>
            <a:r>
              <a:rPr lang="en-US" sz="1400" b="1" dirty="0" err="1">
                <a:solidFill>
                  <a:schemeClr val="bg1">
                    <a:lumMod val="85000"/>
                  </a:schemeClr>
                </a:solidFill>
              </a:rPr>
              <a:t>Liocinema</a:t>
            </a:r>
            <a:r>
              <a:rPr lang="en-US" sz="1400" dirty="0">
                <a:solidFill>
                  <a:schemeClr val="bg1">
                    <a:lumMod val="85000"/>
                  </a:schemeClr>
                </a:solidFill>
              </a:rPr>
              <a:t> sees fewer upgrades compared to downgrades. The platform shows a steady increase in upgrades throughout the year, with a noticeable surge after </a:t>
            </a:r>
            <a:r>
              <a:rPr lang="en-US" sz="1400" b="1" dirty="0">
                <a:solidFill>
                  <a:schemeClr val="bg1">
                    <a:lumMod val="85000"/>
                  </a:schemeClr>
                </a:solidFill>
              </a:rPr>
              <a:t>October</a:t>
            </a:r>
            <a:r>
              <a:rPr lang="en-US" sz="1400" dirty="0">
                <a:solidFill>
                  <a:schemeClr val="bg1">
                    <a:lumMod val="85000"/>
                  </a:schemeClr>
                </a:solidFill>
              </a:rPr>
              <a:t>. </a:t>
            </a:r>
          </a:p>
          <a:p>
            <a:pPr marL="285750" indent="-285750">
              <a:buFont typeface="Arial" panose="020B0604020202020204" pitchFamily="34" charset="0"/>
              <a:buChar char="•"/>
            </a:pPr>
            <a:endParaRPr lang="en-US" sz="1400" dirty="0">
              <a:solidFill>
                <a:schemeClr val="bg1">
                  <a:lumMod val="85000"/>
                </a:schemeClr>
              </a:solidFill>
            </a:endParaRPr>
          </a:p>
          <a:p>
            <a:pPr marL="285750" indent="-285750">
              <a:buFont typeface="Arial" panose="020B0604020202020204" pitchFamily="34" charset="0"/>
              <a:buChar char="•"/>
            </a:pPr>
            <a:r>
              <a:rPr lang="en-US" sz="1400" dirty="0">
                <a:solidFill>
                  <a:schemeClr val="bg1">
                    <a:lumMod val="85000"/>
                  </a:schemeClr>
                </a:solidFill>
              </a:rPr>
              <a:t>The most frequent upgrade path is </a:t>
            </a:r>
            <a:r>
              <a:rPr lang="en-US" sz="1400" b="1" dirty="0">
                <a:solidFill>
                  <a:schemeClr val="bg1">
                    <a:lumMod val="85000"/>
                  </a:schemeClr>
                </a:solidFill>
              </a:rPr>
              <a:t>Free to Basic</a:t>
            </a:r>
            <a:r>
              <a:rPr lang="en-US" sz="1400" dirty="0">
                <a:solidFill>
                  <a:schemeClr val="bg1">
                    <a:lumMod val="85000"/>
                  </a:schemeClr>
                </a:solidFill>
              </a:rPr>
              <a:t>, then </a:t>
            </a:r>
            <a:r>
              <a:rPr lang="en-US" sz="1400" b="1" dirty="0">
                <a:solidFill>
                  <a:schemeClr val="bg1">
                    <a:lumMod val="85000"/>
                  </a:schemeClr>
                </a:solidFill>
              </a:rPr>
              <a:t>Basic to Premium</a:t>
            </a:r>
            <a:r>
              <a:rPr lang="en-US" sz="1400" dirty="0">
                <a:solidFill>
                  <a:schemeClr val="bg1">
                    <a:lumMod val="85000"/>
                  </a:schemeClr>
                </a:solidFill>
              </a:rPr>
              <a:t>, with only a minor portion of users directly upgrading from </a:t>
            </a:r>
            <a:r>
              <a:rPr lang="en-US" sz="1400" b="1" dirty="0">
                <a:solidFill>
                  <a:schemeClr val="bg1">
                    <a:lumMod val="85000"/>
                  </a:schemeClr>
                </a:solidFill>
              </a:rPr>
              <a:t>Free to Premium</a:t>
            </a:r>
            <a:r>
              <a:rPr lang="en-US" sz="1400" dirty="0">
                <a:solidFill>
                  <a:schemeClr val="bg1">
                    <a:lumMod val="85000"/>
                  </a:schemeClr>
                </a:solidFill>
              </a:rPr>
              <a:t>, reflecting incremental upgrade behavior on </a:t>
            </a:r>
            <a:r>
              <a:rPr lang="en-US" sz="1400" dirty="0" err="1">
                <a:solidFill>
                  <a:schemeClr val="bg1">
                    <a:lumMod val="85000"/>
                  </a:schemeClr>
                </a:solidFill>
              </a:rPr>
              <a:t>Liocinema</a:t>
            </a:r>
            <a:r>
              <a:rPr lang="en-US" sz="1400" dirty="0">
                <a:solidFill>
                  <a:schemeClr val="bg1">
                    <a:lumMod val="85000"/>
                  </a:schemeClr>
                </a:solidFill>
              </a:rPr>
              <a:t>.</a:t>
            </a:r>
          </a:p>
        </p:txBody>
      </p:sp>
      <p:cxnSp>
        <p:nvCxnSpPr>
          <p:cNvPr id="10" name="Straight Connector 9">
            <a:extLst>
              <a:ext uri="{FF2B5EF4-FFF2-40B4-BE49-F238E27FC236}">
                <a16:creationId xmlns:a16="http://schemas.microsoft.com/office/drawing/2014/main" id="{C153BF5C-FF05-7BB2-0627-A7CB662C69CA}"/>
              </a:ext>
            </a:extLst>
          </p:cNvPr>
          <p:cNvCxnSpPr>
            <a:cxnSpLocks/>
          </p:cNvCxnSpPr>
          <p:nvPr/>
        </p:nvCxnSpPr>
        <p:spPr>
          <a:xfrm>
            <a:off x="3943155" y="986629"/>
            <a:ext cx="0" cy="5668670"/>
          </a:xfrm>
          <a:prstGeom prst="line">
            <a:avLst/>
          </a:prstGeom>
          <a:ln>
            <a:solidFill>
              <a:srgbClr val="45458B">
                <a:alpha val="44000"/>
              </a:srgbClr>
            </a:solidFill>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FA1FBAAE-CF87-F264-1C13-6742EE2150E6}"/>
              </a:ext>
            </a:extLst>
          </p:cNvPr>
          <p:cNvGrpSpPr/>
          <p:nvPr/>
        </p:nvGrpSpPr>
        <p:grpSpPr>
          <a:xfrm>
            <a:off x="501092" y="1068796"/>
            <a:ext cx="3169246" cy="5249738"/>
            <a:chOff x="501092" y="1068796"/>
            <a:chExt cx="3169246" cy="5249738"/>
          </a:xfrm>
        </p:grpSpPr>
        <p:pic>
          <p:nvPicPr>
            <p:cNvPr id="7" name="Picture 6" descr="A white text on a black background&#10;&#10;AI-generated content may be incorrect.">
              <a:extLst>
                <a:ext uri="{FF2B5EF4-FFF2-40B4-BE49-F238E27FC236}">
                  <a16:creationId xmlns:a16="http://schemas.microsoft.com/office/drawing/2014/main" id="{DC03BFFF-0FC2-54A9-096B-13540734428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67151" y="1068796"/>
              <a:ext cx="1324829" cy="404404"/>
            </a:xfrm>
            <a:prstGeom prst="rect">
              <a:avLst/>
            </a:prstGeom>
          </p:spPr>
        </p:pic>
        <p:pic>
          <p:nvPicPr>
            <p:cNvPr id="13" name="Picture 12">
              <a:extLst>
                <a:ext uri="{FF2B5EF4-FFF2-40B4-BE49-F238E27FC236}">
                  <a16:creationId xmlns:a16="http://schemas.microsoft.com/office/drawing/2014/main" id="{0A50C677-F3C3-9B81-6302-F6EE50B818AA}"/>
                </a:ext>
              </a:extLst>
            </p:cNvPr>
            <p:cNvPicPr>
              <a:picLocks noChangeAspect="1"/>
            </p:cNvPicPr>
            <p:nvPr/>
          </p:nvPicPr>
          <p:blipFill>
            <a:blip r:embed="rId6"/>
            <a:srcRect r="50881"/>
            <a:stretch/>
          </p:blipFill>
          <p:spPr>
            <a:xfrm>
              <a:off x="501092" y="1493415"/>
              <a:ext cx="3169246" cy="4825119"/>
            </a:xfrm>
            <a:prstGeom prst="rect">
              <a:avLst/>
            </a:prstGeom>
          </p:spPr>
        </p:pic>
      </p:grpSp>
      <p:grpSp>
        <p:nvGrpSpPr>
          <p:cNvPr id="25" name="Group 24">
            <a:extLst>
              <a:ext uri="{FF2B5EF4-FFF2-40B4-BE49-F238E27FC236}">
                <a16:creationId xmlns:a16="http://schemas.microsoft.com/office/drawing/2014/main" id="{E4844F7A-2ED4-5BE3-6F1A-D3442F7816FF}"/>
              </a:ext>
            </a:extLst>
          </p:cNvPr>
          <p:cNvGrpSpPr/>
          <p:nvPr/>
        </p:nvGrpSpPr>
        <p:grpSpPr>
          <a:xfrm>
            <a:off x="4094399" y="1051201"/>
            <a:ext cx="3289785" cy="5267333"/>
            <a:chOff x="4094399" y="1051201"/>
            <a:chExt cx="3289785" cy="5267333"/>
          </a:xfrm>
        </p:grpSpPr>
        <p:pic>
          <p:nvPicPr>
            <p:cNvPr id="8" name="Picture 7" descr="A black and white logo&#10;&#10;AI-generated content may be incorrect.">
              <a:extLst>
                <a:ext uri="{FF2B5EF4-FFF2-40B4-BE49-F238E27FC236}">
                  <a16:creationId xmlns:a16="http://schemas.microsoft.com/office/drawing/2014/main" id="{5F9B47A6-C33D-4191-DAB7-5E5BDE9A3F6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920677" y="1051201"/>
              <a:ext cx="1550879" cy="378315"/>
            </a:xfrm>
            <a:prstGeom prst="rect">
              <a:avLst/>
            </a:prstGeom>
          </p:spPr>
        </p:pic>
        <p:pic>
          <p:nvPicPr>
            <p:cNvPr id="17" name="Picture 16">
              <a:extLst>
                <a:ext uri="{FF2B5EF4-FFF2-40B4-BE49-F238E27FC236}">
                  <a16:creationId xmlns:a16="http://schemas.microsoft.com/office/drawing/2014/main" id="{2B412CCF-8198-B1EF-FC58-6B6552BAB393}"/>
                </a:ext>
              </a:extLst>
            </p:cNvPr>
            <p:cNvPicPr>
              <a:picLocks noChangeAspect="1"/>
            </p:cNvPicPr>
            <p:nvPr/>
          </p:nvPicPr>
          <p:blipFill>
            <a:blip r:embed="rId6"/>
            <a:srcRect l="49013"/>
            <a:stretch/>
          </p:blipFill>
          <p:spPr>
            <a:xfrm>
              <a:off x="4094399" y="1493415"/>
              <a:ext cx="3289785" cy="4825119"/>
            </a:xfrm>
            <a:prstGeom prst="rect">
              <a:avLst/>
            </a:prstGeom>
          </p:spPr>
        </p:pic>
      </p:grpSp>
      <p:cxnSp>
        <p:nvCxnSpPr>
          <p:cNvPr id="20" name="Straight Connector 19">
            <a:extLst>
              <a:ext uri="{FF2B5EF4-FFF2-40B4-BE49-F238E27FC236}">
                <a16:creationId xmlns:a16="http://schemas.microsoft.com/office/drawing/2014/main" id="{27C25BE3-D07F-3E31-BD32-4D6AE9426070}"/>
              </a:ext>
            </a:extLst>
          </p:cNvPr>
          <p:cNvCxnSpPr>
            <a:cxnSpLocks/>
          </p:cNvCxnSpPr>
          <p:nvPr/>
        </p:nvCxnSpPr>
        <p:spPr>
          <a:xfrm flipH="1">
            <a:off x="8138078" y="3856037"/>
            <a:ext cx="3779482" cy="0"/>
          </a:xfrm>
          <a:prstGeom prst="line">
            <a:avLst/>
          </a:prstGeom>
          <a:ln>
            <a:solidFill>
              <a:srgbClr val="45458B">
                <a:alpha val="44000"/>
              </a:srgbClr>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4273801048"/>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wipe(up)">
                                      <p:cBhvr>
                                        <p:cTn id="20" dur="500"/>
                                        <p:tgtEl>
                                          <p:spTgt spid="10"/>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fade">
                                      <p:cBhvr>
                                        <p:cTn id="25" dur="500"/>
                                        <p:tgtEl>
                                          <p:spTgt spid="25"/>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wipe(left)">
                                      <p:cBhvr>
                                        <p:cTn id="30" dur="500"/>
                                        <p:tgtEl>
                                          <p:spTgt spid="20"/>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fade">
                                      <p:cBhvr>
                                        <p:cTn id="35" dur="500"/>
                                        <p:tgtEl>
                                          <p:spTgt spid="3">
                                            <p:txEl>
                                              <p:pRg st="5" end="5"/>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animEffect transition="in" filter="fade">
                                      <p:cBhvr>
                                        <p:cTn id="38"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F58D24B4-98C3-D3A5-DC14-6748D41B25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9D56FA-CBD8-F1EF-296B-32491F266B70}"/>
              </a:ext>
            </a:extLst>
          </p:cNvPr>
          <p:cNvSpPr>
            <a:spLocks noGrp="1"/>
          </p:cNvSpPr>
          <p:nvPr>
            <p:ph type="title"/>
          </p:nvPr>
        </p:nvSpPr>
        <p:spPr>
          <a:xfrm>
            <a:off x="407504" y="365126"/>
            <a:ext cx="11312642" cy="539336"/>
          </a:xfrm>
        </p:spPr>
        <p:txBody>
          <a:bodyPr>
            <a:normAutofit/>
          </a:bodyPr>
          <a:lstStyle/>
          <a:p>
            <a:pPr algn="ctr"/>
            <a:r>
              <a:rPr lang="en-US" sz="2400" b="1" u="none" strike="noStrike" kern="100" dirty="0">
                <a:effectLst/>
                <a:highlight>
                  <a:srgbClr val="C0C0C0"/>
                </a:highlight>
                <a:uFill>
                  <a:solidFill>
                    <a:srgbClr val="000000"/>
                  </a:solidFill>
                </a:uFill>
                <a:latin typeface="Aptos (Body)"/>
                <a:ea typeface="Calibri" panose="020F0502020204030204" pitchFamily="34" charset="0"/>
                <a:cs typeface="Calibri" panose="020F0502020204030204" pitchFamily="34" charset="0"/>
              </a:rPr>
              <a:t>Paid Users </a:t>
            </a:r>
            <a:r>
              <a:rPr lang="en-US" sz="2400" b="1" u="none" strike="noStrike" kern="100" dirty="0">
                <a:solidFill>
                  <a:schemeClr val="bg1">
                    <a:lumMod val="95000"/>
                  </a:schemeClr>
                </a:solidFill>
                <a:effectLst/>
                <a:uFill>
                  <a:solidFill>
                    <a:srgbClr val="000000"/>
                  </a:solidFill>
                </a:uFill>
                <a:latin typeface="Aptos (Body)"/>
                <a:ea typeface="Calibri" panose="020F0502020204030204" pitchFamily="34" charset="0"/>
                <a:cs typeface="Calibri" panose="020F0502020204030204" pitchFamily="34" charset="0"/>
              </a:rPr>
              <a:t>Distribution</a:t>
            </a:r>
            <a:endParaRPr lang="en-CA" sz="5400" b="1" dirty="0">
              <a:solidFill>
                <a:schemeClr val="bg1">
                  <a:lumMod val="95000"/>
                </a:schemeClr>
              </a:solidFill>
              <a:latin typeface="Aptos (Body)"/>
            </a:endParaRPr>
          </a:p>
        </p:txBody>
      </p:sp>
      <p:sp>
        <p:nvSpPr>
          <p:cNvPr id="3" name="TextBox 2">
            <a:extLst>
              <a:ext uri="{FF2B5EF4-FFF2-40B4-BE49-F238E27FC236}">
                <a16:creationId xmlns:a16="http://schemas.microsoft.com/office/drawing/2014/main" id="{94737A6D-B72D-378E-2A80-17D7FC3C8803}"/>
              </a:ext>
            </a:extLst>
          </p:cNvPr>
          <p:cNvSpPr txBox="1"/>
          <p:nvPr/>
        </p:nvSpPr>
        <p:spPr>
          <a:xfrm>
            <a:off x="7627055" y="1827670"/>
            <a:ext cx="4188088" cy="3754874"/>
          </a:xfrm>
          <a:prstGeom prst="rect">
            <a:avLst/>
          </a:prstGeom>
          <a:noFill/>
        </p:spPr>
        <p:txBody>
          <a:bodyPr wrap="square" rtlCol="0">
            <a:spAutoFit/>
          </a:bodyPr>
          <a:lstStyle/>
          <a:p>
            <a:pPr marL="285750" indent="-285750">
              <a:buFont typeface="Arial" panose="020B0604020202020204" pitchFamily="34" charset="0"/>
              <a:buChar char="•"/>
            </a:pPr>
            <a:r>
              <a:rPr lang="en-US" sz="1400" b="1" dirty="0" err="1">
                <a:solidFill>
                  <a:schemeClr val="bg1">
                    <a:lumMod val="85000"/>
                  </a:schemeClr>
                </a:solidFill>
              </a:rPr>
              <a:t>Jotstar</a:t>
            </a:r>
            <a:r>
              <a:rPr lang="en-US" sz="1400" dirty="0">
                <a:solidFill>
                  <a:schemeClr val="bg1">
                    <a:lumMod val="85000"/>
                  </a:schemeClr>
                </a:solidFill>
              </a:rPr>
              <a:t> strongly attracts paid subscribers, with </a:t>
            </a:r>
            <a:r>
              <a:rPr lang="en-US" sz="1400" b="1" dirty="0">
                <a:solidFill>
                  <a:schemeClr val="bg1">
                    <a:lumMod val="85000"/>
                  </a:schemeClr>
                </a:solidFill>
              </a:rPr>
              <a:t>67%</a:t>
            </a:r>
            <a:r>
              <a:rPr lang="en-US" sz="1400" dirty="0">
                <a:solidFill>
                  <a:schemeClr val="bg1">
                    <a:lumMod val="85000"/>
                  </a:schemeClr>
                </a:solidFill>
              </a:rPr>
              <a:t> of its user base actively subscribed to paid plans (</a:t>
            </a:r>
            <a:r>
              <a:rPr lang="en-US" sz="1400" b="1" dirty="0">
                <a:solidFill>
                  <a:schemeClr val="bg1">
                    <a:lumMod val="85000"/>
                  </a:schemeClr>
                </a:solidFill>
              </a:rPr>
              <a:t>43% VIP</a:t>
            </a:r>
            <a:r>
              <a:rPr lang="en-US" sz="1400" dirty="0">
                <a:solidFill>
                  <a:schemeClr val="bg1">
                    <a:lumMod val="85000"/>
                  </a:schemeClr>
                </a:solidFill>
              </a:rPr>
              <a:t>, </a:t>
            </a:r>
            <a:r>
              <a:rPr lang="en-US" sz="1400" b="1" dirty="0">
                <a:solidFill>
                  <a:schemeClr val="bg1">
                    <a:lumMod val="85000"/>
                  </a:schemeClr>
                </a:solidFill>
              </a:rPr>
              <a:t>30% Premium</a:t>
            </a:r>
            <a:r>
              <a:rPr lang="en-US" sz="1400" dirty="0">
                <a:solidFill>
                  <a:schemeClr val="bg1">
                    <a:lumMod val="85000"/>
                  </a:schemeClr>
                </a:solidFill>
              </a:rPr>
              <a:t>). Premium remains the leading paid plan on both platforms, particularly concentrated in </a:t>
            </a:r>
            <a:r>
              <a:rPr lang="en-US" sz="1400" b="1" dirty="0">
                <a:solidFill>
                  <a:schemeClr val="bg1">
                    <a:lumMod val="85000"/>
                  </a:schemeClr>
                </a:solidFill>
              </a:rPr>
              <a:t>Tier 1 cities (10,178 users)</a:t>
            </a:r>
            <a:r>
              <a:rPr lang="en-US" sz="1400" dirty="0">
                <a:solidFill>
                  <a:schemeClr val="bg1">
                    <a:lumMod val="85000"/>
                  </a:schemeClr>
                </a:solidFill>
              </a:rPr>
              <a:t>, significantly dropping in </a:t>
            </a:r>
            <a:r>
              <a:rPr lang="en-US" sz="1400" b="1" dirty="0">
                <a:solidFill>
                  <a:schemeClr val="bg1">
                    <a:lumMod val="85000"/>
                  </a:schemeClr>
                </a:solidFill>
              </a:rPr>
              <a:t>Tier 2 (2,566)</a:t>
            </a:r>
            <a:r>
              <a:rPr lang="en-US" sz="1400" dirty="0">
                <a:solidFill>
                  <a:schemeClr val="bg1">
                    <a:lumMod val="85000"/>
                  </a:schemeClr>
                </a:solidFill>
              </a:rPr>
              <a:t> and </a:t>
            </a:r>
            <a:r>
              <a:rPr lang="en-US" sz="1400" b="1" dirty="0">
                <a:solidFill>
                  <a:schemeClr val="bg1">
                    <a:lumMod val="85000"/>
                  </a:schemeClr>
                </a:solidFill>
              </a:rPr>
              <a:t>Tier 3 (623)</a:t>
            </a:r>
            <a:r>
              <a:rPr lang="en-US" sz="1400" dirty="0">
                <a:solidFill>
                  <a:schemeClr val="bg1">
                    <a:lumMod val="85000"/>
                  </a:schemeClr>
                </a:solidFill>
              </a:rPr>
              <a:t>.</a:t>
            </a:r>
          </a:p>
          <a:p>
            <a:pPr marL="285750" indent="-285750">
              <a:buFont typeface="Arial" panose="020B0604020202020204" pitchFamily="34" charset="0"/>
              <a:buChar char="•"/>
            </a:pPr>
            <a:endParaRPr lang="en-US" sz="1400" dirty="0">
              <a:solidFill>
                <a:schemeClr val="bg1">
                  <a:lumMod val="85000"/>
                </a:schemeClr>
              </a:solidFill>
            </a:endParaRPr>
          </a:p>
          <a:p>
            <a:pPr marL="285750" indent="-285750">
              <a:buFont typeface="Arial" panose="020B0604020202020204" pitchFamily="34" charset="0"/>
              <a:buChar char="•"/>
            </a:pPr>
            <a:r>
              <a:rPr lang="en-US" sz="1400" dirty="0">
                <a:solidFill>
                  <a:schemeClr val="bg1">
                    <a:lumMod val="85000"/>
                  </a:schemeClr>
                </a:solidFill>
              </a:rPr>
              <a:t>In contrast, </a:t>
            </a:r>
            <a:r>
              <a:rPr lang="en-US" sz="1400" b="1" dirty="0" err="1">
                <a:solidFill>
                  <a:schemeClr val="bg1">
                    <a:lumMod val="85000"/>
                  </a:schemeClr>
                </a:solidFill>
              </a:rPr>
              <a:t>Liocinema</a:t>
            </a:r>
            <a:r>
              <a:rPr lang="en-US" sz="1400" dirty="0">
                <a:solidFill>
                  <a:schemeClr val="bg1">
                    <a:lumMod val="85000"/>
                  </a:schemeClr>
                </a:solidFill>
              </a:rPr>
              <a:t> has fewer paid subscribers (</a:t>
            </a:r>
            <a:r>
              <a:rPr lang="en-US" sz="1400" b="1" dirty="0">
                <a:solidFill>
                  <a:schemeClr val="bg1">
                    <a:lumMod val="85000"/>
                  </a:schemeClr>
                </a:solidFill>
              </a:rPr>
              <a:t>43% total</a:t>
            </a:r>
            <a:r>
              <a:rPr lang="en-US" sz="1400" dirty="0">
                <a:solidFill>
                  <a:schemeClr val="bg1">
                    <a:lumMod val="85000"/>
                  </a:schemeClr>
                </a:solidFill>
              </a:rPr>
              <a:t>, comprising </a:t>
            </a:r>
            <a:r>
              <a:rPr lang="en-US" sz="1400" b="1" dirty="0">
                <a:solidFill>
                  <a:schemeClr val="bg1">
                    <a:lumMod val="85000"/>
                  </a:schemeClr>
                </a:solidFill>
              </a:rPr>
              <a:t>29% Basic</a:t>
            </a:r>
            <a:r>
              <a:rPr lang="en-US" sz="1400" dirty="0">
                <a:solidFill>
                  <a:schemeClr val="bg1">
                    <a:lumMod val="85000"/>
                  </a:schemeClr>
                </a:solidFill>
              </a:rPr>
              <a:t> and </a:t>
            </a:r>
            <a:r>
              <a:rPr lang="en-US" sz="1400" b="1" dirty="0">
                <a:solidFill>
                  <a:schemeClr val="bg1">
                    <a:lumMod val="85000"/>
                  </a:schemeClr>
                </a:solidFill>
              </a:rPr>
              <a:t>14% Premium</a:t>
            </a:r>
            <a:r>
              <a:rPr lang="en-US" sz="1400" dirty="0">
                <a:solidFill>
                  <a:schemeClr val="bg1">
                    <a:lumMod val="85000"/>
                  </a:schemeClr>
                </a:solidFill>
              </a:rPr>
              <a:t>), leaving </a:t>
            </a:r>
            <a:r>
              <a:rPr lang="en-US" sz="1400" b="1" dirty="0">
                <a:solidFill>
                  <a:schemeClr val="bg1">
                    <a:lumMod val="85000"/>
                  </a:schemeClr>
                </a:solidFill>
              </a:rPr>
              <a:t>57%</a:t>
            </a:r>
            <a:r>
              <a:rPr lang="en-US" sz="1400" dirty="0">
                <a:solidFill>
                  <a:schemeClr val="bg1">
                    <a:lumMod val="85000"/>
                  </a:schemeClr>
                </a:solidFill>
              </a:rPr>
              <a:t> on free plans. Premium users also peak in </a:t>
            </a:r>
            <a:r>
              <a:rPr lang="en-US" sz="1400" b="1" dirty="0">
                <a:solidFill>
                  <a:schemeClr val="bg1">
                    <a:lumMod val="85000"/>
                  </a:schemeClr>
                </a:solidFill>
              </a:rPr>
              <a:t>Tier 1 cities (10,306 users)</a:t>
            </a:r>
            <a:r>
              <a:rPr lang="en-US" sz="1400" dirty="0">
                <a:solidFill>
                  <a:schemeClr val="bg1">
                    <a:lumMod val="85000"/>
                  </a:schemeClr>
                </a:solidFill>
              </a:rPr>
              <a:t>, but unlike </a:t>
            </a:r>
            <a:r>
              <a:rPr lang="en-US" sz="1400" dirty="0" err="1">
                <a:solidFill>
                  <a:schemeClr val="bg1">
                    <a:lumMod val="85000"/>
                  </a:schemeClr>
                </a:solidFill>
              </a:rPr>
              <a:t>Jotstar</a:t>
            </a:r>
            <a:r>
              <a:rPr lang="en-US" sz="1400" dirty="0">
                <a:solidFill>
                  <a:schemeClr val="bg1">
                    <a:lumMod val="85000"/>
                  </a:schemeClr>
                </a:solidFill>
              </a:rPr>
              <a:t>, </a:t>
            </a:r>
            <a:r>
              <a:rPr lang="en-US" sz="1400" dirty="0" err="1">
                <a:solidFill>
                  <a:schemeClr val="bg1">
                    <a:lumMod val="85000"/>
                  </a:schemeClr>
                </a:solidFill>
              </a:rPr>
              <a:t>Liocinema</a:t>
            </a:r>
            <a:r>
              <a:rPr lang="en-US" sz="1400" dirty="0">
                <a:solidFill>
                  <a:schemeClr val="bg1">
                    <a:lumMod val="85000"/>
                  </a:schemeClr>
                </a:solidFill>
              </a:rPr>
              <a:t> maintains stronger Premium presence in lower tiers (</a:t>
            </a:r>
            <a:r>
              <a:rPr lang="en-US" sz="1400" b="1" dirty="0">
                <a:solidFill>
                  <a:schemeClr val="bg1">
                    <a:lumMod val="85000"/>
                  </a:schemeClr>
                </a:solidFill>
              </a:rPr>
              <a:t>Tier 2: 9,090; Tier 3: 5,696</a:t>
            </a:r>
            <a:r>
              <a:rPr lang="en-US" sz="1400" dirty="0">
                <a:solidFill>
                  <a:schemeClr val="bg1">
                    <a:lumMod val="85000"/>
                  </a:schemeClr>
                </a:solidFill>
              </a:rPr>
              <a:t>), highlighting broader reach across city tiers compared to </a:t>
            </a:r>
            <a:r>
              <a:rPr lang="en-US" sz="1400" dirty="0" err="1">
                <a:solidFill>
                  <a:schemeClr val="bg1">
                    <a:lumMod val="85000"/>
                  </a:schemeClr>
                </a:solidFill>
              </a:rPr>
              <a:t>Jotstar</a:t>
            </a:r>
            <a:r>
              <a:rPr lang="en-US" sz="1400" dirty="0">
                <a:solidFill>
                  <a:schemeClr val="bg1">
                    <a:lumMod val="85000"/>
                  </a:schemeClr>
                </a:solidFill>
              </a:rPr>
              <a:t>.</a:t>
            </a:r>
            <a:endParaRPr lang="en-CA" sz="1400" dirty="0">
              <a:solidFill>
                <a:schemeClr val="bg1">
                  <a:lumMod val="85000"/>
                </a:schemeClr>
              </a:solidFill>
            </a:endParaRPr>
          </a:p>
          <a:p>
            <a:pPr marL="285750" indent="-285750">
              <a:buFont typeface="Arial" panose="020B0604020202020204" pitchFamily="34" charset="0"/>
              <a:buChar char="•"/>
            </a:pPr>
            <a:endParaRPr lang="en-CA" sz="1400" dirty="0">
              <a:solidFill>
                <a:schemeClr val="bg1">
                  <a:lumMod val="85000"/>
                </a:schemeClr>
              </a:solidFill>
            </a:endParaRPr>
          </a:p>
        </p:txBody>
      </p:sp>
      <p:grpSp>
        <p:nvGrpSpPr>
          <p:cNvPr id="30" name="Group 29">
            <a:extLst>
              <a:ext uri="{FF2B5EF4-FFF2-40B4-BE49-F238E27FC236}">
                <a16:creationId xmlns:a16="http://schemas.microsoft.com/office/drawing/2014/main" id="{6F0A2146-1E1F-B3AB-FE74-482FA5C0A3AD}"/>
              </a:ext>
            </a:extLst>
          </p:cNvPr>
          <p:cNvGrpSpPr/>
          <p:nvPr/>
        </p:nvGrpSpPr>
        <p:grpSpPr>
          <a:xfrm>
            <a:off x="168577" y="1165196"/>
            <a:ext cx="7295085" cy="2242376"/>
            <a:chOff x="168577" y="1165196"/>
            <a:chExt cx="7295085" cy="2242376"/>
          </a:xfrm>
        </p:grpSpPr>
        <p:pic>
          <p:nvPicPr>
            <p:cNvPr id="15" name="Picture 14">
              <a:extLst>
                <a:ext uri="{FF2B5EF4-FFF2-40B4-BE49-F238E27FC236}">
                  <a16:creationId xmlns:a16="http://schemas.microsoft.com/office/drawing/2014/main" id="{FDB8121B-08C4-AE97-880C-5A5B7DEF3ED7}"/>
                </a:ext>
              </a:extLst>
            </p:cNvPr>
            <p:cNvPicPr>
              <a:picLocks noChangeAspect="1"/>
            </p:cNvPicPr>
            <p:nvPr/>
          </p:nvPicPr>
          <p:blipFill>
            <a:blip r:embed="rId5"/>
            <a:srcRect t="12539" b="51057"/>
            <a:stretch/>
          </p:blipFill>
          <p:spPr>
            <a:xfrm>
              <a:off x="168577" y="1458617"/>
              <a:ext cx="7295085" cy="1948955"/>
            </a:xfrm>
            <a:prstGeom prst="rect">
              <a:avLst/>
            </a:prstGeom>
          </p:spPr>
        </p:pic>
        <p:pic>
          <p:nvPicPr>
            <p:cNvPr id="23" name="Picture 22" descr="A white text on a black background&#10;&#10;AI-generated content may be incorrect.">
              <a:extLst>
                <a:ext uri="{FF2B5EF4-FFF2-40B4-BE49-F238E27FC236}">
                  <a16:creationId xmlns:a16="http://schemas.microsoft.com/office/drawing/2014/main" id="{03ECABB7-CB4C-AE69-2758-284EF821DC9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45866" y="1165196"/>
              <a:ext cx="1324829" cy="404404"/>
            </a:xfrm>
            <a:prstGeom prst="rect">
              <a:avLst/>
            </a:prstGeom>
          </p:spPr>
        </p:pic>
      </p:grpSp>
      <p:grpSp>
        <p:nvGrpSpPr>
          <p:cNvPr id="31" name="Group 30">
            <a:extLst>
              <a:ext uri="{FF2B5EF4-FFF2-40B4-BE49-F238E27FC236}">
                <a16:creationId xmlns:a16="http://schemas.microsoft.com/office/drawing/2014/main" id="{78AA1AEC-FA66-6BD3-9AAB-FF9C8A7DA1C6}"/>
              </a:ext>
            </a:extLst>
          </p:cNvPr>
          <p:cNvGrpSpPr/>
          <p:nvPr/>
        </p:nvGrpSpPr>
        <p:grpSpPr>
          <a:xfrm>
            <a:off x="168577" y="3511835"/>
            <a:ext cx="7293600" cy="2388490"/>
            <a:chOff x="168577" y="3511835"/>
            <a:chExt cx="7293600" cy="2388490"/>
          </a:xfrm>
        </p:grpSpPr>
        <p:pic>
          <p:nvPicPr>
            <p:cNvPr id="25" name="Picture 24">
              <a:extLst>
                <a:ext uri="{FF2B5EF4-FFF2-40B4-BE49-F238E27FC236}">
                  <a16:creationId xmlns:a16="http://schemas.microsoft.com/office/drawing/2014/main" id="{801C9B49-1465-832A-D892-BA12A5DA8628}"/>
                </a:ext>
              </a:extLst>
            </p:cNvPr>
            <p:cNvPicPr>
              <a:picLocks noChangeAspect="1"/>
            </p:cNvPicPr>
            <p:nvPr/>
          </p:nvPicPr>
          <p:blipFill>
            <a:blip r:embed="rId5">
              <a:alphaModFix/>
            </a:blip>
            <a:srcRect t="63408" b="199"/>
            <a:stretch/>
          </p:blipFill>
          <p:spPr>
            <a:xfrm>
              <a:off x="168577" y="3952397"/>
              <a:ext cx="7293600" cy="1947928"/>
            </a:xfrm>
            <a:prstGeom prst="rect">
              <a:avLst/>
            </a:prstGeom>
          </p:spPr>
        </p:pic>
        <p:pic>
          <p:nvPicPr>
            <p:cNvPr id="26" name="Picture 25" descr="A black and white logo&#10;&#10;AI-generated content may be incorrect.">
              <a:extLst>
                <a:ext uri="{FF2B5EF4-FFF2-40B4-BE49-F238E27FC236}">
                  <a16:creationId xmlns:a16="http://schemas.microsoft.com/office/drawing/2014/main" id="{8B27932A-DE73-1F15-2997-16C9D001D72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32840" y="3511835"/>
              <a:ext cx="1550879" cy="378315"/>
            </a:xfrm>
            <a:prstGeom prst="rect">
              <a:avLst/>
            </a:prstGeom>
          </p:spPr>
        </p:pic>
      </p:grpSp>
      <p:pic>
        <p:nvPicPr>
          <p:cNvPr id="28" name="Picture 27">
            <a:extLst>
              <a:ext uri="{FF2B5EF4-FFF2-40B4-BE49-F238E27FC236}">
                <a16:creationId xmlns:a16="http://schemas.microsoft.com/office/drawing/2014/main" id="{261093F8-3393-95C4-A9CF-E74C9FA4E818}"/>
              </a:ext>
            </a:extLst>
          </p:cNvPr>
          <p:cNvPicPr>
            <a:picLocks noChangeAspect="1"/>
          </p:cNvPicPr>
          <p:nvPr/>
        </p:nvPicPr>
        <p:blipFill>
          <a:blip r:embed="rId8"/>
          <a:srcRect l="5682" t="9388" r="9607" b="10262"/>
          <a:stretch/>
        </p:blipFill>
        <p:spPr>
          <a:xfrm>
            <a:off x="6351834" y="1024772"/>
            <a:ext cx="1110343" cy="1408322"/>
          </a:xfrm>
          <a:prstGeom prst="rect">
            <a:avLst/>
          </a:prstGeom>
        </p:spPr>
      </p:pic>
    </p:spTree>
    <p:custDataLst>
      <p:tags r:id="rId1"/>
    </p:custDataLst>
    <p:extLst>
      <p:ext uri="{BB962C8B-B14F-4D97-AF65-F5344CB8AC3E}">
        <p14:creationId xmlns:p14="http://schemas.microsoft.com/office/powerpoint/2010/main" val="3982316623"/>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childTnLst>
                                </p:cTn>
                              </p:par>
                              <p:par>
                                <p:cTn id="8" presetID="10" presetClass="entr" presetSubtype="0" fill="hold"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500"/>
                                        <p:tgtEl>
                                          <p:spTgt spid="2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Effect transition="in" filter="fade">
                                      <p:cBhvr>
                                        <p:cTn id="15" dur="500"/>
                                        <p:tgtEl>
                                          <p:spTgt spid="3">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1"/>
                                        </p:tgtEl>
                                        <p:attrNameLst>
                                          <p:attrName>style.visibility</p:attrName>
                                        </p:attrNameLst>
                                      </p:cBhvr>
                                      <p:to>
                                        <p:strVal val="visible"/>
                                      </p:to>
                                    </p:set>
                                    <p:animEffect transition="in" filter="fade">
                                      <p:cBhvr>
                                        <p:cTn id="20" dur="500"/>
                                        <p:tgtEl>
                                          <p:spTgt spid="31"/>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Effect transition="in" filter="fade">
                                      <p:cBhvr>
                                        <p:cTn id="25"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DA7558E5-CA76-546D-35BE-EBDF4C2EB6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D368E6-B4CB-1529-DC77-5EC0054C37E5}"/>
              </a:ext>
            </a:extLst>
          </p:cNvPr>
          <p:cNvSpPr>
            <a:spLocks noGrp="1"/>
          </p:cNvSpPr>
          <p:nvPr>
            <p:ph type="title"/>
          </p:nvPr>
        </p:nvSpPr>
        <p:spPr>
          <a:xfrm>
            <a:off x="407504" y="365126"/>
            <a:ext cx="11312642" cy="539336"/>
          </a:xfrm>
        </p:spPr>
        <p:txBody>
          <a:bodyPr>
            <a:normAutofit/>
          </a:bodyPr>
          <a:lstStyle/>
          <a:p>
            <a:pPr algn="ctr"/>
            <a:r>
              <a:rPr lang="en-US" sz="2400" b="1" u="none" strike="noStrike" kern="100" dirty="0">
                <a:effectLst/>
                <a:highlight>
                  <a:srgbClr val="C0C0C0"/>
                </a:highlight>
                <a:uFill>
                  <a:solidFill>
                    <a:srgbClr val="000000"/>
                  </a:solidFill>
                </a:uFill>
                <a:latin typeface="Aptos (Body)"/>
                <a:ea typeface="Calibri" panose="020F0502020204030204" pitchFamily="34" charset="0"/>
                <a:cs typeface="Calibri" panose="020F0502020204030204" pitchFamily="34" charset="0"/>
              </a:rPr>
              <a:t>Revenue</a:t>
            </a:r>
            <a:r>
              <a:rPr lang="en-US" sz="2400" b="1" u="none" strike="noStrike" kern="100" dirty="0">
                <a:solidFill>
                  <a:schemeClr val="bg1">
                    <a:lumMod val="95000"/>
                  </a:schemeClr>
                </a:solidFill>
                <a:effectLst/>
                <a:uFill>
                  <a:solidFill>
                    <a:srgbClr val="000000"/>
                  </a:solidFill>
                </a:uFill>
                <a:latin typeface="Aptos (Body)"/>
                <a:ea typeface="Calibri" panose="020F0502020204030204" pitchFamily="34" charset="0"/>
                <a:cs typeface="Calibri" panose="020F0502020204030204" pitchFamily="34" charset="0"/>
              </a:rPr>
              <a:t> Analysis</a:t>
            </a:r>
            <a:endParaRPr lang="en-CA" sz="5400" b="1" dirty="0">
              <a:solidFill>
                <a:schemeClr val="bg1">
                  <a:lumMod val="95000"/>
                </a:schemeClr>
              </a:solidFill>
              <a:latin typeface="Aptos (Body)"/>
            </a:endParaRPr>
          </a:p>
        </p:txBody>
      </p:sp>
      <p:sp>
        <p:nvSpPr>
          <p:cNvPr id="3" name="TextBox 2">
            <a:extLst>
              <a:ext uri="{FF2B5EF4-FFF2-40B4-BE49-F238E27FC236}">
                <a16:creationId xmlns:a16="http://schemas.microsoft.com/office/drawing/2014/main" id="{27FE837B-73C7-9B33-9811-57A5A5EA707C}"/>
              </a:ext>
            </a:extLst>
          </p:cNvPr>
          <p:cNvSpPr txBox="1"/>
          <p:nvPr/>
        </p:nvSpPr>
        <p:spPr>
          <a:xfrm>
            <a:off x="1170461" y="4999314"/>
            <a:ext cx="9764239" cy="1323439"/>
          </a:xfrm>
          <a:prstGeom prst="rect">
            <a:avLst/>
          </a:prstGeom>
          <a:noFill/>
        </p:spPr>
        <p:txBody>
          <a:bodyPr wrap="square" rtlCol="0">
            <a:spAutoFit/>
          </a:bodyPr>
          <a:lstStyle/>
          <a:p>
            <a:pPr algn="ctr"/>
            <a:r>
              <a:rPr lang="en-CA" sz="1600" b="1" dirty="0" err="1">
                <a:solidFill>
                  <a:schemeClr val="bg1">
                    <a:lumMod val="85000"/>
                  </a:schemeClr>
                </a:solidFill>
              </a:rPr>
              <a:t>Jotstar</a:t>
            </a:r>
            <a:r>
              <a:rPr lang="en-CA" sz="1600" dirty="0">
                <a:solidFill>
                  <a:schemeClr val="bg1">
                    <a:lumMod val="85000"/>
                  </a:schemeClr>
                </a:solidFill>
              </a:rPr>
              <a:t> generated a robust revenue of </a:t>
            </a:r>
            <a:r>
              <a:rPr lang="en-CA" sz="1600" b="1" dirty="0">
                <a:solidFill>
                  <a:schemeClr val="bg1">
                    <a:lumMod val="85000"/>
                  </a:schemeClr>
                </a:solidFill>
              </a:rPr>
              <a:t>₹7.8M</a:t>
            </a:r>
            <a:r>
              <a:rPr lang="en-CA" sz="1600" dirty="0">
                <a:solidFill>
                  <a:schemeClr val="bg1">
                    <a:lumMod val="85000"/>
                  </a:schemeClr>
                </a:solidFill>
              </a:rPr>
              <a:t>, with premium plans (</a:t>
            </a:r>
            <a:r>
              <a:rPr lang="en-CA" sz="1600" b="1" dirty="0">
                <a:solidFill>
                  <a:schemeClr val="bg1">
                    <a:lumMod val="85000"/>
                  </a:schemeClr>
                </a:solidFill>
              </a:rPr>
              <a:t>₹4.8M from 13,367 users, avg. 5.2 months active</a:t>
            </a:r>
            <a:r>
              <a:rPr lang="en-CA" sz="1600" dirty="0">
                <a:solidFill>
                  <a:schemeClr val="bg1">
                    <a:lumMod val="85000"/>
                  </a:schemeClr>
                </a:solidFill>
              </a:rPr>
              <a:t>) outperforming VIP plans (</a:t>
            </a:r>
            <a:r>
              <a:rPr lang="en-CA" sz="1600" b="1" dirty="0">
                <a:solidFill>
                  <a:schemeClr val="bg1">
                    <a:lumMod val="85000"/>
                  </a:schemeClr>
                </a:solidFill>
              </a:rPr>
              <a:t>₹3M from 19,157 users, avg. 4.2 months active</a:t>
            </a:r>
            <a:r>
              <a:rPr lang="en-CA" sz="1600" dirty="0">
                <a:solidFill>
                  <a:schemeClr val="bg1">
                    <a:lumMod val="85000"/>
                  </a:schemeClr>
                </a:solidFill>
              </a:rPr>
              <a:t>). </a:t>
            </a:r>
          </a:p>
          <a:p>
            <a:pPr algn="ctr"/>
            <a:endParaRPr lang="en-CA" sz="1600" dirty="0">
              <a:solidFill>
                <a:schemeClr val="bg1">
                  <a:lumMod val="85000"/>
                </a:schemeClr>
              </a:solidFill>
            </a:endParaRPr>
          </a:p>
          <a:p>
            <a:pPr algn="ctr"/>
            <a:r>
              <a:rPr lang="en-CA" sz="1600" dirty="0">
                <a:solidFill>
                  <a:schemeClr val="bg1">
                    <a:lumMod val="85000"/>
                  </a:schemeClr>
                </a:solidFill>
              </a:rPr>
              <a:t>Downgrades notably impacted revenue (</a:t>
            </a:r>
            <a:r>
              <a:rPr lang="en-CA" sz="1600" b="1" dirty="0">
                <a:solidFill>
                  <a:schemeClr val="bg1">
                    <a:lumMod val="85000"/>
                  </a:schemeClr>
                </a:solidFill>
              </a:rPr>
              <a:t>-₹372,311 total</a:t>
            </a:r>
            <a:r>
              <a:rPr lang="en-CA" sz="1600" dirty="0">
                <a:solidFill>
                  <a:schemeClr val="bg1">
                    <a:lumMod val="85000"/>
                  </a:schemeClr>
                </a:solidFill>
              </a:rPr>
              <a:t>), particularly VIP-to-Free transitions, but this was offset by significant gains (</a:t>
            </a:r>
            <a:r>
              <a:rPr lang="en-CA" sz="1600" b="1" dirty="0">
                <a:solidFill>
                  <a:schemeClr val="bg1">
                    <a:lumMod val="85000"/>
                  </a:schemeClr>
                </a:solidFill>
              </a:rPr>
              <a:t>₹762,793</a:t>
            </a:r>
            <a:r>
              <a:rPr lang="en-CA" sz="1600" dirty="0">
                <a:solidFill>
                  <a:schemeClr val="bg1">
                    <a:lumMod val="85000"/>
                  </a:schemeClr>
                </a:solidFill>
              </a:rPr>
              <a:t>) from user upgrades.</a:t>
            </a:r>
          </a:p>
        </p:txBody>
      </p:sp>
      <p:pic>
        <p:nvPicPr>
          <p:cNvPr id="17" name="Picture 16">
            <a:extLst>
              <a:ext uri="{FF2B5EF4-FFF2-40B4-BE49-F238E27FC236}">
                <a16:creationId xmlns:a16="http://schemas.microsoft.com/office/drawing/2014/main" id="{D1E92709-E488-6FD6-DB87-E4492BBB09AF}"/>
              </a:ext>
            </a:extLst>
          </p:cNvPr>
          <p:cNvPicPr>
            <a:picLocks noChangeAspect="1"/>
          </p:cNvPicPr>
          <p:nvPr/>
        </p:nvPicPr>
        <p:blipFill>
          <a:blip r:embed="rId5"/>
          <a:srcRect b="52821"/>
          <a:stretch/>
        </p:blipFill>
        <p:spPr>
          <a:xfrm>
            <a:off x="1170461" y="1303948"/>
            <a:ext cx="9851077" cy="3295879"/>
          </a:xfrm>
          <a:prstGeom prst="rect">
            <a:avLst/>
          </a:prstGeom>
        </p:spPr>
      </p:pic>
      <p:pic>
        <p:nvPicPr>
          <p:cNvPr id="18" name="Picture 17" descr="A white text on a black background&#10;&#10;AI-generated content may be incorrect.">
            <a:extLst>
              <a:ext uri="{FF2B5EF4-FFF2-40B4-BE49-F238E27FC236}">
                <a16:creationId xmlns:a16="http://schemas.microsoft.com/office/drawing/2014/main" id="{57FE29AD-C64A-7E41-E9FC-3588D3C51BE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97274" y="1478222"/>
            <a:ext cx="1324829" cy="404404"/>
          </a:xfrm>
          <a:prstGeom prst="rect">
            <a:avLst/>
          </a:prstGeom>
        </p:spPr>
      </p:pic>
    </p:spTree>
    <p:custDataLst>
      <p:tags r:id="rId1"/>
    </p:custDataLst>
    <p:extLst>
      <p:ext uri="{BB962C8B-B14F-4D97-AF65-F5344CB8AC3E}">
        <p14:creationId xmlns:p14="http://schemas.microsoft.com/office/powerpoint/2010/main" val="3568700321"/>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F3B20E03-39C8-B12D-6958-5A9558C9BC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3F762B-6A7E-6A03-5EA3-47B0A27C618D}"/>
              </a:ext>
            </a:extLst>
          </p:cNvPr>
          <p:cNvSpPr>
            <a:spLocks noGrp="1"/>
          </p:cNvSpPr>
          <p:nvPr>
            <p:ph type="title"/>
          </p:nvPr>
        </p:nvSpPr>
        <p:spPr>
          <a:xfrm>
            <a:off x="407504" y="365126"/>
            <a:ext cx="11312642" cy="539336"/>
          </a:xfrm>
        </p:spPr>
        <p:txBody>
          <a:bodyPr>
            <a:normAutofit/>
          </a:bodyPr>
          <a:lstStyle/>
          <a:p>
            <a:pPr algn="ctr"/>
            <a:r>
              <a:rPr lang="en-US" sz="2400" b="1" u="none" strike="noStrike" kern="100" dirty="0">
                <a:effectLst/>
                <a:highlight>
                  <a:srgbClr val="C0C0C0"/>
                </a:highlight>
                <a:uFill>
                  <a:solidFill>
                    <a:srgbClr val="000000"/>
                  </a:solidFill>
                </a:uFill>
                <a:latin typeface="Aptos (Body)"/>
                <a:ea typeface="Calibri" panose="020F0502020204030204" pitchFamily="34" charset="0"/>
                <a:cs typeface="Calibri" panose="020F0502020204030204" pitchFamily="34" charset="0"/>
              </a:rPr>
              <a:t>Revenue</a:t>
            </a:r>
            <a:r>
              <a:rPr lang="en-US" sz="2400" b="1" u="none" strike="noStrike" kern="100" dirty="0">
                <a:solidFill>
                  <a:schemeClr val="bg1">
                    <a:lumMod val="95000"/>
                  </a:schemeClr>
                </a:solidFill>
                <a:effectLst/>
                <a:uFill>
                  <a:solidFill>
                    <a:srgbClr val="000000"/>
                  </a:solidFill>
                </a:uFill>
                <a:latin typeface="Aptos (Body)"/>
                <a:ea typeface="Calibri" panose="020F0502020204030204" pitchFamily="34" charset="0"/>
                <a:cs typeface="Calibri" panose="020F0502020204030204" pitchFamily="34" charset="0"/>
              </a:rPr>
              <a:t> Analysis</a:t>
            </a:r>
            <a:endParaRPr lang="en-CA" sz="5400" b="1" dirty="0">
              <a:solidFill>
                <a:schemeClr val="bg1">
                  <a:lumMod val="95000"/>
                </a:schemeClr>
              </a:solidFill>
              <a:latin typeface="Aptos (Body)"/>
            </a:endParaRPr>
          </a:p>
        </p:txBody>
      </p:sp>
      <p:pic>
        <p:nvPicPr>
          <p:cNvPr id="15" name="Picture 14">
            <a:extLst>
              <a:ext uri="{FF2B5EF4-FFF2-40B4-BE49-F238E27FC236}">
                <a16:creationId xmlns:a16="http://schemas.microsoft.com/office/drawing/2014/main" id="{F3734EA1-CB69-3FE7-59BD-ED8327936415}"/>
              </a:ext>
            </a:extLst>
          </p:cNvPr>
          <p:cNvPicPr>
            <a:picLocks noChangeAspect="1"/>
          </p:cNvPicPr>
          <p:nvPr/>
        </p:nvPicPr>
        <p:blipFill>
          <a:blip r:embed="rId5"/>
          <a:srcRect t="47180" b="327"/>
          <a:stretch/>
        </p:blipFill>
        <p:spPr>
          <a:xfrm>
            <a:off x="1170461" y="1332189"/>
            <a:ext cx="9851077" cy="3667125"/>
          </a:xfrm>
          <a:prstGeom prst="rect">
            <a:avLst/>
          </a:prstGeom>
        </p:spPr>
      </p:pic>
      <p:pic>
        <p:nvPicPr>
          <p:cNvPr id="16" name="Picture 15" descr="A black and white logo&#10;&#10;AI-generated content may be incorrect.">
            <a:extLst>
              <a:ext uri="{FF2B5EF4-FFF2-40B4-BE49-F238E27FC236}">
                <a16:creationId xmlns:a16="http://schemas.microsoft.com/office/drawing/2014/main" id="{61C351D1-9F24-D416-7567-91D2BDA67E4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25623" y="1580137"/>
            <a:ext cx="1550879" cy="378315"/>
          </a:xfrm>
          <a:prstGeom prst="rect">
            <a:avLst/>
          </a:prstGeom>
        </p:spPr>
      </p:pic>
      <p:sp>
        <p:nvSpPr>
          <p:cNvPr id="17" name="TextBox 16">
            <a:extLst>
              <a:ext uri="{FF2B5EF4-FFF2-40B4-BE49-F238E27FC236}">
                <a16:creationId xmlns:a16="http://schemas.microsoft.com/office/drawing/2014/main" id="{5176AF5A-AA6C-85AD-6C52-9FE2A4F08EB7}"/>
              </a:ext>
            </a:extLst>
          </p:cNvPr>
          <p:cNvSpPr txBox="1"/>
          <p:nvPr/>
        </p:nvSpPr>
        <p:spPr>
          <a:xfrm>
            <a:off x="1170461" y="4999314"/>
            <a:ext cx="9707089" cy="1569660"/>
          </a:xfrm>
          <a:prstGeom prst="rect">
            <a:avLst/>
          </a:prstGeom>
          <a:noFill/>
        </p:spPr>
        <p:txBody>
          <a:bodyPr wrap="square" rtlCol="0">
            <a:spAutoFit/>
          </a:bodyPr>
          <a:lstStyle/>
          <a:p>
            <a:pPr algn="ctr"/>
            <a:r>
              <a:rPr lang="en-US" sz="1600" dirty="0">
                <a:solidFill>
                  <a:schemeClr val="bg1">
                    <a:lumMod val="85000"/>
                  </a:schemeClr>
                </a:solidFill>
              </a:rPr>
              <a:t>In comparison, </a:t>
            </a:r>
            <a:r>
              <a:rPr lang="en-US" sz="1600" b="1" dirty="0" err="1">
                <a:solidFill>
                  <a:schemeClr val="bg1">
                    <a:lumMod val="85000"/>
                  </a:schemeClr>
                </a:solidFill>
              </a:rPr>
              <a:t>Liocinema</a:t>
            </a:r>
            <a:r>
              <a:rPr lang="en-US" sz="1600" dirty="0">
                <a:solidFill>
                  <a:schemeClr val="bg1">
                    <a:lumMod val="85000"/>
                  </a:schemeClr>
                </a:solidFill>
              </a:rPr>
              <a:t> achieved </a:t>
            </a:r>
            <a:r>
              <a:rPr lang="en-US" sz="1600" b="1" dirty="0">
                <a:solidFill>
                  <a:schemeClr val="bg1">
                    <a:lumMod val="85000"/>
                  </a:schemeClr>
                </a:solidFill>
              </a:rPr>
              <a:t>₹6.8M</a:t>
            </a:r>
            <a:r>
              <a:rPr lang="en-US" sz="1600" dirty="0">
                <a:solidFill>
                  <a:schemeClr val="bg1">
                    <a:lumMod val="85000"/>
                  </a:schemeClr>
                </a:solidFill>
              </a:rPr>
              <a:t> in revenue, primarily driven by Basic plans (</a:t>
            </a:r>
            <a:r>
              <a:rPr lang="en-US" sz="1600" b="1" dirty="0">
                <a:solidFill>
                  <a:schemeClr val="bg1">
                    <a:lumMod val="85000"/>
                  </a:schemeClr>
                </a:solidFill>
              </a:rPr>
              <a:t>₹3.6M from 53,362 users, avg. 2.4 months active</a:t>
            </a:r>
            <a:r>
              <a:rPr lang="en-US" sz="1600" dirty="0">
                <a:solidFill>
                  <a:schemeClr val="bg1">
                    <a:lumMod val="85000"/>
                  </a:schemeClr>
                </a:solidFill>
              </a:rPr>
              <a:t>) and Premium plans (</a:t>
            </a:r>
            <a:r>
              <a:rPr lang="en-US" sz="1600" b="1" dirty="0">
                <a:solidFill>
                  <a:schemeClr val="bg1">
                    <a:lumMod val="85000"/>
                  </a:schemeClr>
                </a:solidFill>
              </a:rPr>
              <a:t>₹3.2M from 25,092 users, avg. 2.1 months active</a:t>
            </a:r>
            <a:r>
              <a:rPr lang="en-US" sz="1600" dirty="0">
                <a:solidFill>
                  <a:schemeClr val="bg1">
                    <a:lumMod val="85000"/>
                  </a:schemeClr>
                </a:solidFill>
              </a:rPr>
              <a:t>). </a:t>
            </a:r>
          </a:p>
          <a:p>
            <a:pPr algn="ctr"/>
            <a:endParaRPr lang="en-US" sz="1600" dirty="0">
              <a:solidFill>
                <a:schemeClr val="bg1">
                  <a:lumMod val="85000"/>
                </a:schemeClr>
              </a:solidFill>
            </a:endParaRPr>
          </a:p>
          <a:p>
            <a:pPr algn="ctr"/>
            <a:r>
              <a:rPr lang="en-US" sz="1600" dirty="0">
                <a:solidFill>
                  <a:schemeClr val="bg1">
                    <a:lumMod val="85000"/>
                  </a:schemeClr>
                </a:solidFill>
              </a:rPr>
              <a:t>Downgrades severely affected earnings (</a:t>
            </a:r>
            <a:r>
              <a:rPr lang="en-US" sz="1600" b="1" dirty="0">
                <a:solidFill>
                  <a:schemeClr val="bg1">
                    <a:lumMod val="85000"/>
                  </a:schemeClr>
                </a:solidFill>
              </a:rPr>
              <a:t>-₹1.68M total</a:t>
            </a:r>
            <a:r>
              <a:rPr lang="en-US" sz="1600" dirty="0">
                <a:solidFill>
                  <a:schemeClr val="bg1">
                    <a:lumMod val="85000"/>
                  </a:schemeClr>
                </a:solidFill>
              </a:rPr>
              <a:t>), particularly Premium-to-Free transitions. Upgrades contributed modestly (</a:t>
            </a:r>
            <a:r>
              <a:rPr lang="en-US" sz="1600" b="1" dirty="0">
                <a:solidFill>
                  <a:schemeClr val="bg1">
                    <a:lumMod val="85000"/>
                  </a:schemeClr>
                </a:solidFill>
              </a:rPr>
              <a:t>₹289,407</a:t>
            </a:r>
            <a:r>
              <a:rPr lang="en-US" sz="1600" dirty="0">
                <a:solidFill>
                  <a:schemeClr val="bg1">
                    <a:lumMod val="85000"/>
                  </a:schemeClr>
                </a:solidFill>
              </a:rPr>
              <a:t>), highlighting potential to improve user retention and revenue optimization strategies.</a:t>
            </a:r>
            <a:endParaRPr lang="en-CA" sz="1600" dirty="0">
              <a:solidFill>
                <a:schemeClr val="bg1">
                  <a:lumMod val="85000"/>
                </a:schemeClr>
              </a:solidFill>
            </a:endParaRPr>
          </a:p>
        </p:txBody>
      </p:sp>
    </p:spTree>
    <p:custDataLst>
      <p:tags r:id="rId1"/>
    </p:custDataLst>
    <p:extLst>
      <p:ext uri="{BB962C8B-B14F-4D97-AF65-F5344CB8AC3E}">
        <p14:creationId xmlns:p14="http://schemas.microsoft.com/office/powerpoint/2010/main" val="1847509697"/>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fade">
                                      <p:cBhvr>
                                        <p:cTn id="7" dur="500"/>
                                        <p:tgtEl>
                                          <p:spTgt spid="1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xEl>
                                              <p:pRg st="2" end="2"/>
                                            </p:txEl>
                                          </p:spTgt>
                                        </p:tgtEl>
                                        <p:attrNameLst>
                                          <p:attrName>style.visibility</p:attrName>
                                        </p:attrNameLst>
                                      </p:cBhvr>
                                      <p:to>
                                        <p:strVal val="visible"/>
                                      </p:to>
                                    </p:set>
                                    <p:animEffect transition="in" filter="fade">
                                      <p:cBhvr>
                                        <p:cTn id="12" dur="500"/>
                                        <p:tgtEl>
                                          <p:spTgt spid="1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E0CC4C-F09C-457A-2FCC-B92BF2F8924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3E07CC4-5725-B41B-5AF9-246182F74544}"/>
              </a:ext>
            </a:extLst>
          </p:cNvPr>
          <p:cNvSpPr txBox="1"/>
          <p:nvPr/>
        </p:nvSpPr>
        <p:spPr>
          <a:xfrm>
            <a:off x="0" y="3167390"/>
            <a:ext cx="12192000" cy="523220"/>
          </a:xfrm>
          <a:prstGeom prst="rect">
            <a:avLst/>
          </a:prstGeom>
          <a:noFill/>
        </p:spPr>
        <p:txBody>
          <a:bodyPr wrap="square">
            <a:spAutoFit/>
          </a:bodyPr>
          <a:lstStyle/>
          <a:p>
            <a:pPr algn="ctr"/>
            <a:r>
              <a:rPr lang="en-CA" sz="2800" b="1" dirty="0">
                <a:solidFill>
                  <a:schemeClr val="bg1"/>
                </a:solidFill>
              </a:rPr>
              <a:t>Further analysis &amp; Recommendations</a:t>
            </a:r>
          </a:p>
        </p:txBody>
      </p:sp>
    </p:spTree>
    <p:extLst>
      <p:ext uri="{BB962C8B-B14F-4D97-AF65-F5344CB8AC3E}">
        <p14:creationId xmlns:p14="http://schemas.microsoft.com/office/powerpoint/2010/main" val="1952190827"/>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FC1B05-78B8-1140-CBFF-B6616085A274}"/>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BD39930B-9812-6F0B-2BDA-F880270CB727}"/>
              </a:ext>
            </a:extLst>
          </p:cNvPr>
          <p:cNvSpPr txBox="1"/>
          <p:nvPr/>
        </p:nvSpPr>
        <p:spPr>
          <a:xfrm>
            <a:off x="638174" y="1224000"/>
            <a:ext cx="10479405" cy="4721742"/>
          </a:xfrm>
          <a:prstGeom prst="rect">
            <a:avLst/>
          </a:prstGeom>
          <a:noFill/>
        </p:spPr>
        <p:txBody>
          <a:bodyPr wrap="square">
            <a:spAutoFit/>
          </a:bodyPr>
          <a:lstStyle/>
          <a:p>
            <a:pPr marL="228600" indent="-228600">
              <a:lnSpc>
                <a:spcPct val="150000"/>
              </a:lnSpc>
              <a:buFont typeface="+mj-lt"/>
              <a:buAutoNum type="arabicPeriod"/>
            </a:pPr>
            <a:r>
              <a:rPr lang="en-CA" sz="1600" b="1" dirty="0">
                <a:solidFill>
                  <a:schemeClr val="bg1">
                    <a:lumMod val="85000"/>
                  </a:schemeClr>
                </a:solidFill>
              </a:rPr>
              <a:t>Personalized Campaigns:</a:t>
            </a:r>
          </a:p>
          <a:p>
            <a:pPr marL="800100" lvl="1" indent="-342900">
              <a:lnSpc>
                <a:spcPct val="150000"/>
              </a:lnSpc>
              <a:buFont typeface="Arial" panose="020B0604020202020204" pitchFamily="34" charset="0"/>
              <a:buChar char="•"/>
            </a:pPr>
            <a:r>
              <a:rPr lang="en-CA" sz="1400" dirty="0">
                <a:solidFill>
                  <a:schemeClr val="bg1">
                    <a:lumMod val="85000"/>
                  </a:schemeClr>
                </a:solidFill>
              </a:rPr>
              <a:t>Segment users by age, city tier, and language preferences.</a:t>
            </a:r>
          </a:p>
          <a:p>
            <a:pPr marL="800100" lvl="1" indent="-342900">
              <a:lnSpc>
                <a:spcPct val="150000"/>
              </a:lnSpc>
              <a:buFont typeface="Arial" panose="020B0604020202020204" pitchFamily="34" charset="0"/>
              <a:buChar char="•"/>
            </a:pPr>
            <a:r>
              <a:rPr lang="en-CA" sz="1400" dirty="0">
                <a:solidFill>
                  <a:schemeClr val="bg1">
                    <a:lumMod val="85000"/>
                  </a:schemeClr>
                </a:solidFill>
              </a:rPr>
              <a:t>Send personalized recommendations, promotions, and event-based notifications.</a:t>
            </a:r>
          </a:p>
          <a:p>
            <a:pPr marL="228600" indent="-228600">
              <a:lnSpc>
                <a:spcPct val="150000"/>
              </a:lnSpc>
              <a:buFont typeface="+mj-lt"/>
              <a:buAutoNum type="arabicPeriod"/>
            </a:pPr>
            <a:endParaRPr lang="en-CA" sz="1400" dirty="0">
              <a:solidFill>
                <a:schemeClr val="bg1">
                  <a:lumMod val="85000"/>
                </a:schemeClr>
              </a:solidFill>
            </a:endParaRPr>
          </a:p>
          <a:p>
            <a:pPr marL="228600" indent="-228600">
              <a:lnSpc>
                <a:spcPct val="150000"/>
              </a:lnSpc>
              <a:buFont typeface="+mj-lt"/>
              <a:buAutoNum type="arabicPeriod"/>
            </a:pPr>
            <a:r>
              <a:rPr lang="en-CA" sz="1600" b="1" dirty="0">
                <a:solidFill>
                  <a:schemeClr val="bg1">
                    <a:lumMod val="85000"/>
                  </a:schemeClr>
                </a:solidFill>
              </a:rPr>
              <a:t>Content Diversification:</a:t>
            </a:r>
          </a:p>
          <a:p>
            <a:pPr marL="800100" lvl="1" indent="-342900">
              <a:lnSpc>
                <a:spcPct val="150000"/>
              </a:lnSpc>
              <a:buFont typeface="Arial" panose="020B0604020202020204" pitchFamily="34" charset="0"/>
              <a:buChar char="•"/>
            </a:pPr>
            <a:r>
              <a:rPr lang="en-CA" sz="1400" dirty="0">
                <a:solidFill>
                  <a:schemeClr val="bg1">
                    <a:lumMod val="85000"/>
                  </a:schemeClr>
                </a:solidFill>
              </a:rPr>
              <a:t>Expand content in underserved languages (e.g., Bengali, Gujarati, Punjabi).</a:t>
            </a:r>
          </a:p>
          <a:p>
            <a:pPr marL="800100" lvl="1" indent="-342900">
              <a:lnSpc>
                <a:spcPct val="150000"/>
              </a:lnSpc>
              <a:buFont typeface="Arial" panose="020B0604020202020204" pitchFamily="34" charset="0"/>
              <a:buChar char="•"/>
            </a:pPr>
            <a:r>
              <a:rPr lang="en-CA" sz="1400" dirty="0">
                <a:solidFill>
                  <a:schemeClr val="bg1">
                    <a:lumMod val="85000"/>
                  </a:schemeClr>
                </a:solidFill>
              </a:rPr>
              <a:t>Localized content for Tier 2 and Tier 3 cities.</a:t>
            </a:r>
          </a:p>
          <a:p>
            <a:pPr marL="800100" lvl="1" indent="-342900">
              <a:lnSpc>
                <a:spcPct val="150000"/>
              </a:lnSpc>
              <a:buFont typeface="Arial" panose="020B0604020202020204" pitchFamily="34" charset="0"/>
              <a:buChar char="•"/>
            </a:pPr>
            <a:r>
              <a:rPr lang="en-CA" sz="1400" dirty="0">
                <a:solidFill>
                  <a:schemeClr val="bg1">
                    <a:lumMod val="85000"/>
                  </a:schemeClr>
                </a:solidFill>
              </a:rPr>
              <a:t>Bundle popular content to enhance watch time.</a:t>
            </a:r>
          </a:p>
          <a:p>
            <a:pPr marL="228600" indent="-228600">
              <a:lnSpc>
                <a:spcPct val="150000"/>
              </a:lnSpc>
              <a:buFont typeface="+mj-lt"/>
              <a:buAutoNum type="arabicPeriod"/>
            </a:pPr>
            <a:endParaRPr lang="en-CA" sz="1400" dirty="0">
              <a:solidFill>
                <a:schemeClr val="bg1">
                  <a:lumMod val="85000"/>
                </a:schemeClr>
              </a:solidFill>
            </a:endParaRPr>
          </a:p>
          <a:p>
            <a:pPr marL="228600" indent="-228600">
              <a:lnSpc>
                <a:spcPct val="150000"/>
              </a:lnSpc>
              <a:buFont typeface="+mj-lt"/>
              <a:buAutoNum type="arabicPeriod"/>
            </a:pPr>
            <a:r>
              <a:rPr lang="en-CA" sz="1600" b="1" dirty="0">
                <a:solidFill>
                  <a:schemeClr val="bg1">
                    <a:lumMod val="85000"/>
                  </a:schemeClr>
                </a:solidFill>
              </a:rPr>
              <a:t>Flexible Pricing &amp; Promotions:</a:t>
            </a:r>
          </a:p>
          <a:p>
            <a:pPr marL="800100" lvl="1" indent="-342900">
              <a:lnSpc>
                <a:spcPct val="150000"/>
              </a:lnSpc>
              <a:buFont typeface="Arial" panose="020B0604020202020204" pitchFamily="34" charset="0"/>
              <a:buChar char="•"/>
            </a:pPr>
            <a:r>
              <a:rPr lang="en-CA" sz="1400" dirty="0">
                <a:solidFill>
                  <a:schemeClr val="bg1">
                    <a:lumMod val="85000"/>
                  </a:schemeClr>
                </a:solidFill>
              </a:rPr>
              <a:t>Introduce micro-plans or pay-per-view options.</a:t>
            </a:r>
          </a:p>
          <a:p>
            <a:pPr marL="800100" lvl="1" indent="-342900">
              <a:lnSpc>
                <a:spcPct val="150000"/>
              </a:lnSpc>
              <a:buFont typeface="Arial" panose="020B0604020202020204" pitchFamily="34" charset="0"/>
              <a:buChar char="•"/>
            </a:pPr>
            <a:r>
              <a:rPr lang="en-CA" sz="1400" dirty="0">
                <a:solidFill>
                  <a:schemeClr val="bg1">
                    <a:lumMod val="85000"/>
                  </a:schemeClr>
                </a:solidFill>
              </a:rPr>
              <a:t>Offer time-limited discounts and free trials.</a:t>
            </a:r>
          </a:p>
          <a:p>
            <a:pPr marL="800100" lvl="1" indent="-342900">
              <a:lnSpc>
                <a:spcPct val="150000"/>
              </a:lnSpc>
              <a:buFont typeface="Arial" panose="020B0604020202020204" pitchFamily="34" charset="0"/>
              <a:buChar char="•"/>
            </a:pPr>
            <a:r>
              <a:rPr lang="en-CA" sz="1400" dirty="0">
                <a:solidFill>
                  <a:schemeClr val="bg1">
                    <a:lumMod val="85000"/>
                  </a:schemeClr>
                </a:solidFill>
              </a:rPr>
              <a:t>Implement loyalty programs to reward activity.</a:t>
            </a:r>
          </a:p>
          <a:p>
            <a:pPr marL="228600" indent="-228600">
              <a:lnSpc>
                <a:spcPct val="150000"/>
              </a:lnSpc>
              <a:buFont typeface="+mj-lt"/>
              <a:buAutoNum type="arabicPeriod"/>
            </a:pPr>
            <a:endParaRPr lang="en-CA" sz="1400" dirty="0">
              <a:solidFill>
                <a:schemeClr val="bg1">
                  <a:lumMod val="85000"/>
                </a:schemeClr>
              </a:solidFill>
            </a:endParaRPr>
          </a:p>
        </p:txBody>
      </p:sp>
      <p:sp>
        <p:nvSpPr>
          <p:cNvPr id="16" name="Title 1">
            <a:extLst>
              <a:ext uri="{FF2B5EF4-FFF2-40B4-BE49-F238E27FC236}">
                <a16:creationId xmlns:a16="http://schemas.microsoft.com/office/drawing/2014/main" id="{C0C0B051-8E34-6918-9A54-8D726ACB400D}"/>
              </a:ext>
            </a:extLst>
          </p:cNvPr>
          <p:cNvSpPr txBox="1">
            <a:spLocks/>
          </p:cNvSpPr>
          <p:nvPr/>
        </p:nvSpPr>
        <p:spPr>
          <a:xfrm>
            <a:off x="1029970" y="313784"/>
            <a:ext cx="10087610" cy="83375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600" b="1" kern="100" dirty="0">
                <a:solidFill>
                  <a:schemeClr val="bg1">
                    <a:lumMod val="95000"/>
                  </a:schemeClr>
                </a:solidFill>
                <a:uFill>
                  <a:solidFill>
                    <a:srgbClr val="000000"/>
                  </a:solidFill>
                </a:uFill>
                <a:latin typeface="Aptos (Body)"/>
                <a:ea typeface="Calibri" panose="020F0502020204030204" pitchFamily="34" charset="0"/>
                <a:cs typeface="Calibri" panose="020F0502020204030204" pitchFamily="34" charset="0"/>
              </a:rPr>
              <a:t>1. What strategies can the merged platform implement to increase engagement among inactive users and convert them into active users?</a:t>
            </a:r>
            <a:endParaRPr lang="en-CA" sz="5400" b="1" dirty="0">
              <a:solidFill>
                <a:schemeClr val="bg1">
                  <a:lumMod val="95000"/>
                </a:schemeClr>
              </a:solidFill>
              <a:latin typeface="Aptos (Body)"/>
            </a:endParaRPr>
          </a:p>
        </p:txBody>
      </p:sp>
    </p:spTree>
    <p:custDataLst>
      <p:tags r:id="rId1"/>
    </p:custDataLst>
    <p:extLst>
      <p:ext uri="{BB962C8B-B14F-4D97-AF65-F5344CB8AC3E}">
        <p14:creationId xmlns:p14="http://schemas.microsoft.com/office/powerpoint/2010/main" val="3033563739"/>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up)">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71ABE-591E-CE86-F97E-71A15010FE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4E2529-B210-FF4C-BC08-F57B7EAD4EF7}"/>
              </a:ext>
            </a:extLst>
          </p:cNvPr>
          <p:cNvSpPr>
            <a:spLocks noGrp="1"/>
          </p:cNvSpPr>
          <p:nvPr>
            <p:ph type="title"/>
          </p:nvPr>
        </p:nvSpPr>
        <p:spPr>
          <a:xfrm>
            <a:off x="1029970" y="313784"/>
            <a:ext cx="10087610" cy="833754"/>
          </a:xfrm>
        </p:spPr>
        <p:txBody>
          <a:bodyPr>
            <a:normAutofit/>
          </a:bodyPr>
          <a:lstStyle/>
          <a:p>
            <a:pPr algn="ctr"/>
            <a:r>
              <a:rPr lang="en-US" sz="1600" b="1" kern="100" dirty="0">
                <a:solidFill>
                  <a:schemeClr val="bg1">
                    <a:lumMod val="95000"/>
                  </a:schemeClr>
                </a:solidFill>
                <a:uFill>
                  <a:solidFill>
                    <a:srgbClr val="000000"/>
                  </a:solidFill>
                </a:uFill>
                <a:latin typeface="Aptos (Body)"/>
                <a:ea typeface="Calibri" panose="020F0502020204030204" pitchFamily="34" charset="0"/>
                <a:cs typeface="Calibri" panose="020F0502020204030204" pitchFamily="34" charset="0"/>
              </a:rPr>
              <a:t>1. What strategies can the merged platform implement to increase engagement among inactive users and convert them into active users?</a:t>
            </a:r>
            <a:endParaRPr lang="en-CA" sz="5400" b="1" dirty="0">
              <a:solidFill>
                <a:schemeClr val="bg1">
                  <a:lumMod val="95000"/>
                </a:schemeClr>
              </a:solidFill>
              <a:latin typeface="Aptos (Body)"/>
            </a:endParaRPr>
          </a:p>
        </p:txBody>
      </p:sp>
      <p:sp>
        <p:nvSpPr>
          <p:cNvPr id="10" name="TextBox 9">
            <a:extLst>
              <a:ext uri="{FF2B5EF4-FFF2-40B4-BE49-F238E27FC236}">
                <a16:creationId xmlns:a16="http://schemas.microsoft.com/office/drawing/2014/main" id="{3C54307C-0021-91D6-1CAD-AAB7EE3FF4A7}"/>
              </a:ext>
            </a:extLst>
          </p:cNvPr>
          <p:cNvSpPr txBox="1"/>
          <p:nvPr/>
        </p:nvSpPr>
        <p:spPr>
          <a:xfrm>
            <a:off x="638174" y="1224000"/>
            <a:ext cx="10479405" cy="4721742"/>
          </a:xfrm>
          <a:prstGeom prst="rect">
            <a:avLst/>
          </a:prstGeom>
          <a:noFill/>
        </p:spPr>
        <p:txBody>
          <a:bodyPr wrap="square">
            <a:spAutoFit/>
          </a:bodyPr>
          <a:lstStyle/>
          <a:p>
            <a:pPr marL="342900" indent="-342900">
              <a:lnSpc>
                <a:spcPct val="150000"/>
              </a:lnSpc>
              <a:buFont typeface="+mj-lt"/>
              <a:buAutoNum type="arabicPeriod" startAt="4"/>
            </a:pPr>
            <a:r>
              <a:rPr lang="en-CA" sz="1600" b="1" dirty="0">
                <a:solidFill>
                  <a:schemeClr val="bg1">
                    <a:lumMod val="85000"/>
                  </a:schemeClr>
                </a:solidFill>
              </a:rPr>
              <a:t>Mobile Experience Optimization:</a:t>
            </a:r>
          </a:p>
          <a:p>
            <a:pPr marL="800100" lvl="1" indent="-342900">
              <a:lnSpc>
                <a:spcPct val="150000"/>
              </a:lnSpc>
              <a:buFont typeface="Arial" panose="020B0604020202020204" pitchFamily="34" charset="0"/>
              <a:buChar char="•"/>
            </a:pPr>
            <a:r>
              <a:rPr lang="en-CA" sz="1400" dirty="0">
                <a:solidFill>
                  <a:schemeClr val="bg1">
                    <a:lumMod val="85000"/>
                  </a:schemeClr>
                </a:solidFill>
              </a:rPr>
              <a:t>Enhance mobile app UI/UX and streaming quality.</a:t>
            </a:r>
          </a:p>
          <a:p>
            <a:pPr marL="800100" lvl="1" indent="-342900">
              <a:lnSpc>
                <a:spcPct val="150000"/>
              </a:lnSpc>
              <a:buFont typeface="Arial" panose="020B0604020202020204" pitchFamily="34" charset="0"/>
              <a:buChar char="•"/>
            </a:pPr>
            <a:r>
              <a:rPr lang="en-CA" sz="1400" dirty="0">
                <a:solidFill>
                  <a:schemeClr val="bg1">
                    <a:lumMod val="85000"/>
                  </a:schemeClr>
                </a:solidFill>
              </a:rPr>
              <a:t>Promote download-and-watch-later features.</a:t>
            </a:r>
          </a:p>
          <a:p>
            <a:pPr marL="800100" lvl="1" indent="-342900">
              <a:lnSpc>
                <a:spcPct val="150000"/>
              </a:lnSpc>
              <a:buFont typeface="Arial" panose="020B0604020202020204" pitchFamily="34" charset="0"/>
              <a:buChar char="•"/>
            </a:pPr>
            <a:r>
              <a:rPr lang="en-CA" sz="1400" dirty="0">
                <a:solidFill>
                  <a:schemeClr val="bg1">
                    <a:lumMod val="85000"/>
                  </a:schemeClr>
                </a:solidFill>
              </a:rPr>
              <a:t>Use push notifications for personalized recommendations.</a:t>
            </a:r>
          </a:p>
          <a:p>
            <a:pPr marL="342900" indent="-342900">
              <a:lnSpc>
                <a:spcPct val="150000"/>
              </a:lnSpc>
              <a:buFont typeface="+mj-lt"/>
              <a:buAutoNum type="arabicPeriod" startAt="4"/>
            </a:pPr>
            <a:endParaRPr lang="en-CA" sz="1400" dirty="0">
              <a:solidFill>
                <a:schemeClr val="bg1">
                  <a:lumMod val="85000"/>
                </a:schemeClr>
              </a:solidFill>
            </a:endParaRPr>
          </a:p>
          <a:p>
            <a:pPr marL="342900" indent="-342900">
              <a:lnSpc>
                <a:spcPct val="150000"/>
              </a:lnSpc>
              <a:buFont typeface="+mj-lt"/>
              <a:buAutoNum type="arabicPeriod" startAt="4"/>
            </a:pPr>
            <a:r>
              <a:rPr lang="en-CA" sz="1600" b="1" dirty="0">
                <a:solidFill>
                  <a:schemeClr val="bg1">
                    <a:lumMod val="85000"/>
                  </a:schemeClr>
                </a:solidFill>
              </a:rPr>
              <a:t>Sports &amp; Cross-Promotion:</a:t>
            </a:r>
          </a:p>
          <a:p>
            <a:pPr marL="800100" lvl="1" indent="-342900">
              <a:lnSpc>
                <a:spcPct val="150000"/>
              </a:lnSpc>
              <a:buFont typeface="Arial" panose="020B0604020202020204" pitchFamily="34" charset="0"/>
              <a:buChar char="•"/>
            </a:pPr>
            <a:r>
              <a:rPr lang="en-CA" sz="1400" dirty="0">
                <a:solidFill>
                  <a:schemeClr val="bg1">
                    <a:lumMod val="85000"/>
                  </a:schemeClr>
                </a:solidFill>
              </a:rPr>
              <a:t>Leverage sports content with regional promotions.</a:t>
            </a:r>
          </a:p>
          <a:p>
            <a:pPr marL="800100" lvl="1" indent="-342900">
              <a:lnSpc>
                <a:spcPct val="150000"/>
              </a:lnSpc>
              <a:buFont typeface="Arial" panose="020B0604020202020204" pitchFamily="34" charset="0"/>
              <a:buChar char="•"/>
            </a:pPr>
            <a:r>
              <a:rPr lang="en-CA" sz="1400" dirty="0">
                <a:solidFill>
                  <a:schemeClr val="bg1">
                    <a:lumMod val="85000"/>
                  </a:schemeClr>
                </a:solidFill>
              </a:rPr>
              <a:t>Collaborate with sports leagues for exclusive streaming rights.</a:t>
            </a:r>
          </a:p>
          <a:p>
            <a:pPr marL="800100" lvl="1" indent="-342900">
              <a:lnSpc>
                <a:spcPct val="150000"/>
              </a:lnSpc>
              <a:buFont typeface="Arial" panose="020B0604020202020204" pitchFamily="34" charset="0"/>
              <a:buChar char="•"/>
            </a:pPr>
            <a:r>
              <a:rPr lang="en-CA" sz="1400" dirty="0">
                <a:solidFill>
                  <a:schemeClr val="bg1">
                    <a:lumMod val="85000"/>
                  </a:schemeClr>
                </a:solidFill>
              </a:rPr>
              <a:t>Cross-promote content between </a:t>
            </a:r>
            <a:r>
              <a:rPr lang="en-CA" sz="1400" dirty="0" err="1">
                <a:solidFill>
                  <a:schemeClr val="bg1">
                    <a:lumMod val="85000"/>
                  </a:schemeClr>
                </a:solidFill>
              </a:rPr>
              <a:t>LioCinema</a:t>
            </a:r>
            <a:r>
              <a:rPr lang="en-CA" sz="1400" dirty="0">
                <a:solidFill>
                  <a:schemeClr val="bg1">
                    <a:lumMod val="85000"/>
                  </a:schemeClr>
                </a:solidFill>
              </a:rPr>
              <a:t> and </a:t>
            </a:r>
            <a:r>
              <a:rPr lang="en-CA" sz="1400" dirty="0" err="1">
                <a:solidFill>
                  <a:schemeClr val="bg1">
                    <a:lumMod val="85000"/>
                  </a:schemeClr>
                </a:solidFill>
              </a:rPr>
              <a:t>Jotstar</a:t>
            </a:r>
            <a:r>
              <a:rPr lang="en-CA" sz="1400" dirty="0">
                <a:solidFill>
                  <a:schemeClr val="bg1">
                    <a:lumMod val="85000"/>
                  </a:schemeClr>
                </a:solidFill>
              </a:rPr>
              <a:t>.</a:t>
            </a:r>
          </a:p>
          <a:p>
            <a:pPr marL="342900" indent="-342900">
              <a:lnSpc>
                <a:spcPct val="150000"/>
              </a:lnSpc>
              <a:buFont typeface="+mj-lt"/>
              <a:buAutoNum type="arabicPeriod" startAt="4"/>
            </a:pPr>
            <a:endParaRPr lang="en-CA" sz="1400" dirty="0">
              <a:solidFill>
                <a:schemeClr val="bg1">
                  <a:lumMod val="85000"/>
                </a:schemeClr>
              </a:solidFill>
            </a:endParaRPr>
          </a:p>
          <a:p>
            <a:pPr marL="342900" indent="-342900">
              <a:lnSpc>
                <a:spcPct val="150000"/>
              </a:lnSpc>
              <a:buFont typeface="+mj-lt"/>
              <a:buAutoNum type="arabicPeriod" startAt="4"/>
            </a:pPr>
            <a:r>
              <a:rPr lang="en-CA" sz="1600" b="1" dirty="0">
                <a:solidFill>
                  <a:schemeClr val="bg1">
                    <a:lumMod val="85000"/>
                  </a:schemeClr>
                </a:solidFill>
              </a:rPr>
              <a:t>Retention &amp; Upgrade Paths:</a:t>
            </a:r>
          </a:p>
          <a:p>
            <a:pPr marL="800100" lvl="1" indent="-342900">
              <a:lnSpc>
                <a:spcPct val="150000"/>
              </a:lnSpc>
              <a:buFont typeface="Arial" panose="020B0604020202020204" pitchFamily="34" charset="0"/>
              <a:buChar char="•"/>
            </a:pPr>
            <a:r>
              <a:rPr lang="en-CA" sz="1400" dirty="0">
                <a:solidFill>
                  <a:schemeClr val="bg1">
                    <a:lumMod val="85000"/>
                  </a:schemeClr>
                </a:solidFill>
              </a:rPr>
              <a:t>Offer affordable mid-tier plans to prevent downgrades.</a:t>
            </a:r>
          </a:p>
          <a:p>
            <a:pPr marL="800100" lvl="1" indent="-342900">
              <a:lnSpc>
                <a:spcPct val="150000"/>
              </a:lnSpc>
              <a:buFont typeface="Arial" panose="020B0604020202020204" pitchFamily="34" charset="0"/>
              <a:buChar char="•"/>
            </a:pPr>
            <a:r>
              <a:rPr lang="en-CA" sz="1400" dirty="0">
                <a:solidFill>
                  <a:schemeClr val="bg1">
                    <a:lumMod val="85000"/>
                  </a:schemeClr>
                </a:solidFill>
              </a:rPr>
              <a:t>Provide discounts before users downgrade.</a:t>
            </a:r>
          </a:p>
          <a:p>
            <a:pPr marL="800100" lvl="1" indent="-342900">
              <a:lnSpc>
                <a:spcPct val="150000"/>
              </a:lnSpc>
              <a:buFont typeface="Arial" panose="020B0604020202020204" pitchFamily="34" charset="0"/>
              <a:buChar char="•"/>
            </a:pPr>
            <a:r>
              <a:rPr lang="en-CA" sz="1400" dirty="0">
                <a:solidFill>
                  <a:schemeClr val="bg1">
                    <a:lumMod val="85000"/>
                  </a:schemeClr>
                </a:solidFill>
              </a:rPr>
              <a:t>Enhance user journey from Free to Premium.</a:t>
            </a:r>
          </a:p>
        </p:txBody>
      </p:sp>
    </p:spTree>
    <p:custDataLst>
      <p:tags r:id="rId1"/>
    </p:custDataLst>
    <p:extLst>
      <p:ext uri="{BB962C8B-B14F-4D97-AF65-F5344CB8AC3E}">
        <p14:creationId xmlns:p14="http://schemas.microsoft.com/office/powerpoint/2010/main" val="1214580363"/>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up)">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A984A-DC1F-3A03-F379-0F4AFE5656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71414B-9560-CE69-EFC8-C6777884E0BE}"/>
              </a:ext>
            </a:extLst>
          </p:cNvPr>
          <p:cNvSpPr>
            <a:spLocks noGrp="1"/>
          </p:cNvSpPr>
          <p:nvPr>
            <p:ph type="title"/>
          </p:nvPr>
        </p:nvSpPr>
        <p:spPr>
          <a:xfrm>
            <a:off x="1029970" y="313784"/>
            <a:ext cx="10087610" cy="833754"/>
          </a:xfrm>
        </p:spPr>
        <p:txBody>
          <a:bodyPr>
            <a:normAutofit/>
          </a:bodyPr>
          <a:lstStyle/>
          <a:p>
            <a:pPr algn="ctr"/>
            <a:r>
              <a:rPr lang="en-US" sz="1600" b="1" kern="100" dirty="0">
                <a:solidFill>
                  <a:schemeClr val="bg1">
                    <a:lumMod val="95000"/>
                  </a:schemeClr>
                </a:solidFill>
                <a:uFill>
                  <a:solidFill>
                    <a:srgbClr val="000000"/>
                  </a:solidFill>
                </a:uFill>
                <a:latin typeface="Aptos (Body)"/>
                <a:ea typeface="Calibri" panose="020F0502020204030204" pitchFamily="34" charset="0"/>
                <a:cs typeface="Calibri" panose="020F0502020204030204" pitchFamily="34" charset="0"/>
              </a:rPr>
              <a:t>2. What type of brand campaigns should the merged platform launch to establish itself as the go-to OTT platform in India?</a:t>
            </a:r>
            <a:endParaRPr lang="en-CA" sz="5400" b="1" dirty="0">
              <a:solidFill>
                <a:schemeClr val="bg1">
                  <a:lumMod val="95000"/>
                </a:schemeClr>
              </a:solidFill>
              <a:latin typeface="Aptos (Body)"/>
            </a:endParaRPr>
          </a:p>
        </p:txBody>
      </p:sp>
      <p:sp>
        <p:nvSpPr>
          <p:cNvPr id="3" name="TextBox 2">
            <a:extLst>
              <a:ext uri="{FF2B5EF4-FFF2-40B4-BE49-F238E27FC236}">
                <a16:creationId xmlns:a16="http://schemas.microsoft.com/office/drawing/2014/main" id="{0580A2AD-95BA-102E-4469-3584A8D585ED}"/>
              </a:ext>
            </a:extLst>
          </p:cNvPr>
          <p:cNvSpPr txBox="1"/>
          <p:nvPr/>
        </p:nvSpPr>
        <p:spPr>
          <a:xfrm>
            <a:off x="638174" y="1224000"/>
            <a:ext cx="10479405" cy="4998741"/>
          </a:xfrm>
          <a:prstGeom prst="rect">
            <a:avLst/>
          </a:prstGeom>
          <a:noFill/>
        </p:spPr>
        <p:txBody>
          <a:bodyPr wrap="square">
            <a:spAutoFit/>
          </a:bodyPr>
          <a:lstStyle/>
          <a:p>
            <a:pPr marL="342900" indent="-342900">
              <a:lnSpc>
                <a:spcPct val="150000"/>
              </a:lnSpc>
              <a:buFont typeface="+mj-lt"/>
              <a:buAutoNum type="arabicPeriod"/>
            </a:pPr>
            <a:r>
              <a:rPr lang="en-US" sz="1600" b="1" dirty="0">
                <a:solidFill>
                  <a:schemeClr val="accent5"/>
                </a:solidFill>
              </a:rPr>
              <a:t>“Cinema of the People” </a:t>
            </a:r>
            <a:r>
              <a:rPr lang="en-US" sz="1600" b="1" dirty="0">
                <a:solidFill>
                  <a:schemeClr val="bg1">
                    <a:lumMod val="85000"/>
                  </a:schemeClr>
                </a:solidFill>
              </a:rPr>
              <a:t>(User-Curated Content Playlists)</a:t>
            </a:r>
          </a:p>
          <a:p>
            <a:pPr marL="800100" lvl="1" indent="-342900">
              <a:lnSpc>
                <a:spcPct val="150000"/>
              </a:lnSpc>
              <a:buFont typeface="Arial" panose="020B0604020202020204" pitchFamily="34" charset="0"/>
              <a:buChar char="•"/>
            </a:pPr>
            <a:r>
              <a:rPr lang="en-US" sz="1400" dirty="0">
                <a:solidFill>
                  <a:schemeClr val="bg1">
                    <a:lumMod val="85000"/>
                  </a:schemeClr>
                </a:solidFill>
              </a:rPr>
              <a:t>Allow users to create and share their own playlists (e.g., “Best of 2024,” “Top Regional Hits,” “Underrated Gems”).</a:t>
            </a:r>
          </a:p>
          <a:p>
            <a:pPr marL="800100" lvl="1" indent="-342900">
              <a:lnSpc>
                <a:spcPct val="150000"/>
              </a:lnSpc>
              <a:buFont typeface="Arial" panose="020B0604020202020204" pitchFamily="34" charset="0"/>
              <a:buChar char="•"/>
            </a:pPr>
            <a:r>
              <a:rPr lang="en-US" sz="1400" dirty="0">
                <a:solidFill>
                  <a:schemeClr val="bg1">
                    <a:lumMod val="85000"/>
                  </a:schemeClr>
                </a:solidFill>
              </a:rPr>
              <a:t>Feature the most popular user-generated playlists on the homepage.</a:t>
            </a:r>
          </a:p>
          <a:p>
            <a:pPr marL="800100" lvl="1" indent="-342900">
              <a:lnSpc>
                <a:spcPct val="150000"/>
              </a:lnSpc>
              <a:buFont typeface="Arial" panose="020B0604020202020204" pitchFamily="34" charset="0"/>
              <a:buChar char="•"/>
            </a:pPr>
            <a:r>
              <a:rPr lang="en-US" sz="1400" dirty="0">
                <a:solidFill>
                  <a:schemeClr val="bg1">
                    <a:lumMod val="85000"/>
                  </a:schemeClr>
                </a:solidFill>
              </a:rPr>
              <a:t>Monthly contests for “Best Curator” with rewards like Premium subscriptions or merchandise.</a:t>
            </a:r>
          </a:p>
          <a:p>
            <a:pPr marL="342900" indent="-342900">
              <a:lnSpc>
                <a:spcPct val="150000"/>
              </a:lnSpc>
              <a:buFont typeface="+mj-lt"/>
              <a:buAutoNum type="arabicPeriod"/>
            </a:pPr>
            <a:endParaRPr lang="en-US" sz="1400" dirty="0">
              <a:solidFill>
                <a:schemeClr val="bg1">
                  <a:lumMod val="85000"/>
                </a:schemeClr>
              </a:solidFill>
            </a:endParaRPr>
          </a:p>
          <a:p>
            <a:pPr marL="342900" indent="-342900">
              <a:lnSpc>
                <a:spcPct val="150000"/>
              </a:lnSpc>
              <a:buFont typeface="+mj-lt"/>
              <a:buAutoNum type="arabicPeriod"/>
            </a:pPr>
            <a:r>
              <a:rPr lang="en-US" sz="1600" b="1" dirty="0">
                <a:solidFill>
                  <a:schemeClr val="accent5"/>
                </a:solidFill>
              </a:rPr>
              <a:t>“Hustle &amp; Shine” </a:t>
            </a:r>
            <a:r>
              <a:rPr lang="en-US" sz="1600" b="1" dirty="0">
                <a:solidFill>
                  <a:schemeClr val="bg1">
                    <a:lumMod val="85000"/>
                  </a:schemeClr>
                </a:solidFill>
              </a:rPr>
              <a:t>(Small Creator Partnerships)</a:t>
            </a:r>
          </a:p>
          <a:p>
            <a:pPr marL="800100" lvl="1" indent="-342900">
              <a:lnSpc>
                <a:spcPct val="150000"/>
              </a:lnSpc>
              <a:buFont typeface="Arial" panose="020B0604020202020204" pitchFamily="34" charset="0"/>
              <a:buChar char="•"/>
            </a:pPr>
            <a:r>
              <a:rPr lang="en-US" sz="1400" dirty="0">
                <a:solidFill>
                  <a:schemeClr val="bg1">
                    <a:lumMod val="85000"/>
                  </a:schemeClr>
                </a:solidFill>
              </a:rPr>
              <a:t>Collaborate with YouTube and Instagram micro-influencers from Tier 2 &amp; Tier 3 cities.</a:t>
            </a:r>
          </a:p>
          <a:p>
            <a:pPr marL="800100" lvl="1" indent="-342900">
              <a:lnSpc>
                <a:spcPct val="150000"/>
              </a:lnSpc>
              <a:buFont typeface="Arial" panose="020B0604020202020204" pitchFamily="34" charset="0"/>
              <a:buChar char="•"/>
            </a:pPr>
            <a:r>
              <a:rPr lang="en-US" sz="1400" dirty="0">
                <a:solidFill>
                  <a:schemeClr val="bg1">
                    <a:lumMod val="85000"/>
                  </a:schemeClr>
                </a:solidFill>
              </a:rPr>
              <a:t>Create content series where influencers showcase their hometowns or cultural uniqueness.</a:t>
            </a:r>
          </a:p>
          <a:p>
            <a:pPr marL="800100" lvl="1" indent="-342900">
              <a:lnSpc>
                <a:spcPct val="150000"/>
              </a:lnSpc>
              <a:buFont typeface="Arial" panose="020B0604020202020204" pitchFamily="34" charset="0"/>
              <a:buChar char="•"/>
            </a:pPr>
            <a:r>
              <a:rPr lang="en-US" sz="1400" dirty="0">
                <a:solidFill>
                  <a:schemeClr val="bg1">
                    <a:lumMod val="85000"/>
                  </a:schemeClr>
                </a:solidFill>
              </a:rPr>
              <a:t>Promote their content through special pages or playlists on the platform.</a:t>
            </a:r>
          </a:p>
          <a:p>
            <a:pPr marL="342900" indent="-342900">
              <a:lnSpc>
                <a:spcPct val="150000"/>
              </a:lnSpc>
              <a:buFont typeface="+mj-lt"/>
              <a:buAutoNum type="arabicPeriod"/>
            </a:pPr>
            <a:endParaRPr lang="en-US" sz="1400" dirty="0">
              <a:solidFill>
                <a:schemeClr val="bg1">
                  <a:lumMod val="85000"/>
                </a:schemeClr>
              </a:solidFill>
            </a:endParaRPr>
          </a:p>
          <a:p>
            <a:pPr marL="342900" indent="-342900">
              <a:lnSpc>
                <a:spcPct val="150000"/>
              </a:lnSpc>
              <a:buFont typeface="+mj-lt"/>
              <a:buAutoNum type="arabicPeriod"/>
            </a:pPr>
            <a:r>
              <a:rPr lang="en-US" sz="1600" b="1" dirty="0">
                <a:solidFill>
                  <a:schemeClr val="accent5"/>
                </a:solidFill>
              </a:rPr>
              <a:t>“Festival Fever” </a:t>
            </a:r>
            <a:r>
              <a:rPr lang="en-US" sz="1600" b="1" dirty="0">
                <a:solidFill>
                  <a:schemeClr val="bg1">
                    <a:lumMod val="85000"/>
                  </a:schemeClr>
                </a:solidFill>
              </a:rPr>
              <a:t>(Regional Festival Content Drives)</a:t>
            </a:r>
          </a:p>
          <a:p>
            <a:pPr marL="800100" lvl="1" indent="-342900">
              <a:lnSpc>
                <a:spcPct val="150000"/>
              </a:lnSpc>
              <a:buFont typeface="Arial" panose="020B0604020202020204" pitchFamily="34" charset="0"/>
              <a:buChar char="•"/>
            </a:pPr>
            <a:r>
              <a:rPr lang="en-US" sz="1400" dirty="0">
                <a:solidFill>
                  <a:schemeClr val="bg1">
                    <a:lumMod val="85000"/>
                  </a:schemeClr>
                </a:solidFill>
              </a:rPr>
              <a:t>During major regional festivals, launch exclusive series or movie marathons celebrating those events.</a:t>
            </a:r>
          </a:p>
          <a:p>
            <a:pPr marL="800100" lvl="1" indent="-342900">
              <a:lnSpc>
                <a:spcPct val="150000"/>
              </a:lnSpc>
              <a:buFont typeface="Arial" panose="020B0604020202020204" pitchFamily="34" charset="0"/>
              <a:buChar char="•"/>
            </a:pPr>
            <a:r>
              <a:rPr lang="en-US" sz="1400" dirty="0">
                <a:solidFill>
                  <a:schemeClr val="bg1">
                    <a:lumMod val="85000"/>
                  </a:schemeClr>
                </a:solidFill>
              </a:rPr>
              <a:t>Collaborate with creators to produce festival-related documentaries, series, or even short live-streamed events.</a:t>
            </a:r>
          </a:p>
          <a:p>
            <a:pPr marL="800100" lvl="1" indent="-342900">
              <a:lnSpc>
                <a:spcPct val="150000"/>
              </a:lnSpc>
              <a:buFont typeface="Arial" panose="020B0604020202020204" pitchFamily="34" charset="0"/>
              <a:buChar char="•"/>
            </a:pPr>
            <a:r>
              <a:rPr lang="en-US" sz="1400" dirty="0">
                <a:solidFill>
                  <a:schemeClr val="bg1">
                    <a:lumMod val="85000"/>
                  </a:schemeClr>
                </a:solidFill>
              </a:rPr>
              <a:t>Promote offers targeting regional festivals (e.g., Diwali Binge Pack, Onam Special, Durga Puja Premium Access).</a:t>
            </a:r>
          </a:p>
          <a:p>
            <a:pPr marL="342900" indent="-342900">
              <a:lnSpc>
                <a:spcPct val="150000"/>
              </a:lnSpc>
              <a:buFont typeface="+mj-lt"/>
              <a:buAutoNum type="arabicPeriod"/>
            </a:pPr>
            <a:endParaRPr lang="en-US" sz="1400" dirty="0">
              <a:solidFill>
                <a:schemeClr val="bg1">
                  <a:lumMod val="85000"/>
                </a:schemeClr>
              </a:solidFill>
            </a:endParaRPr>
          </a:p>
        </p:txBody>
      </p:sp>
    </p:spTree>
    <p:custDataLst>
      <p:tags r:id="rId1"/>
    </p:custDataLst>
    <p:extLst>
      <p:ext uri="{BB962C8B-B14F-4D97-AF65-F5344CB8AC3E}">
        <p14:creationId xmlns:p14="http://schemas.microsoft.com/office/powerpoint/2010/main" val="3013846371"/>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9D68A-5BB6-0CEF-827F-2753D4943C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7AC2CC-6051-1468-27EA-CDC0BCBD7DF6}"/>
              </a:ext>
            </a:extLst>
          </p:cNvPr>
          <p:cNvSpPr>
            <a:spLocks noGrp="1"/>
          </p:cNvSpPr>
          <p:nvPr>
            <p:ph type="title"/>
          </p:nvPr>
        </p:nvSpPr>
        <p:spPr>
          <a:xfrm>
            <a:off x="1029970" y="313784"/>
            <a:ext cx="10087610" cy="833754"/>
          </a:xfrm>
        </p:spPr>
        <p:txBody>
          <a:bodyPr>
            <a:normAutofit/>
          </a:bodyPr>
          <a:lstStyle/>
          <a:p>
            <a:pPr algn="ctr"/>
            <a:r>
              <a:rPr lang="en-US" sz="1600" b="1" kern="100" dirty="0">
                <a:solidFill>
                  <a:schemeClr val="bg1">
                    <a:lumMod val="95000"/>
                  </a:schemeClr>
                </a:solidFill>
                <a:uFill>
                  <a:solidFill>
                    <a:srgbClr val="000000"/>
                  </a:solidFill>
                </a:uFill>
                <a:latin typeface="Aptos (Body)"/>
                <a:ea typeface="Calibri" panose="020F0502020204030204" pitchFamily="34" charset="0"/>
                <a:cs typeface="Calibri" panose="020F0502020204030204" pitchFamily="34" charset="0"/>
              </a:rPr>
              <a:t>2. What type of brand campaigns should the merged platform launch to establish itself as the go-to OTT platform in India?</a:t>
            </a:r>
            <a:endParaRPr lang="en-CA" sz="5400" b="1" dirty="0">
              <a:solidFill>
                <a:schemeClr val="bg1">
                  <a:lumMod val="95000"/>
                </a:schemeClr>
              </a:solidFill>
              <a:latin typeface="Aptos (Body)"/>
            </a:endParaRPr>
          </a:p>
        </p:txBody>
      </p:sp>
      <p:sp>
        <p:nvSpPr>
          <p:cNvPr id="3" name="TextBox 2">
            <a:extLst>
              <a:ext uri="{FF2B5EF4-FFF2-40B4-BE49-F238E27FC236}">
                <a16:creationId xmlns:a16="http://schemas.microsoft.com/office/drawing/2014/main" id="{EF27AFA4-8833-BE77-6977-AEF6C35CBFD5}"/>
              </a:ext>
            </a:extLst>
          </p:cNvPr>
          <p:cNvSpPr txBox="1"/>
          <p:nvPr/>
        </p:nvSpPr>
        <p:spPr>
          <a:xfrm>
            <a:off x="630000" y="1224000"/>
            <a:ext cx="10479405" cy="3382914"/>
          </a:xfrm>
          <a:prstGeom prst="rect">
            <a:avLst/>
          </a:prstGeom>
          <a:noFill/>
        </p:spPr>
        <p:txBody>
          <a:bodyPr wrap="square">
            <a:spAutoFit/>
          </a:bodyPr>
          <a:lstStyle/>
          <a:p>
            <a:pPr marL="342900" indent="-342900">
              <a:lnSpc>
                <a:spcPct val="150000"/>
              </a:lnSpc>
              <a:buFont typeface="+mj-lt"/>
              <a:buAutoNum type="arabicPeriod" startAt="4"/>
            </a:pPr>
            <a:r>
              <a:rPr lang="en-US" sz="1600" b="1" dirty="0">
                <a:solidFill>
                  <a:schemeClr val="accent5"/>
                </a:solidFill>
              </a:rPr>
              <a:t>“Flashback Fridays” </a:t>
            </a:r>
            <a:r>
              <a:rPr lang="en-US" sz="1600" b="1" dirty="0">
                <a:solidFill>
                  <a:schemeClr val="bg1">
                    <a:lumMod val="85000"/>
                  </a:schemeClr>
                </a:solidFill>
              </a:rPr>
              <a:t>(Nostalgia-Driven Engagement)</a:t>
            </a:r>
          </a:p>
          <a:p>
            <a:pPr marL="800100" lvl="1" indent="-342900">
              <a:lnSpc>
                <a:spcPct val="150000"/>
              </a:lnSpc>
              <a:buFont typeface="Arial" panose="020B0604020202020204" pitchFamily="34" charset="0"/>
              <a:buChar char="•"/>
            </a:pPr>
            <a:r>
              <a:rPr lang="en-US" sz="1400" dirty="0">
                <a:solidFill>
                  <a:schemeClr val="bg1">
                    <a:lumMod val="85000"/>
                  </a:schemeClr>
                </a:solidFill>
              </a:rPr>
              <a:t>Release classic movies and shows from different regions every Friday.</a:t>
            </a:r>
          </a:p>
          <a:p>
            <a:pPr marL="800100" lvl="1" indent="-342900">
              <a:lnSpc>
                <a:spcPct val="150000"/>
              </a:lnSpc>
              <a:buFont typeface="Arial" panose="020B0604020202020204" pitchFamily="34" charset="0"/>
              <a:buChar char="•"/>
            </a:pPr>
            <a:r>
              <a:rPr lang="en-US" sz="1400" dirty="0">
                <a:solidFill>
                  <a:schemeClr val="bg1">
                    <a:lumMod val="85000"/>
                  </a:schemeClr>
                </a:solidFill>
              </a:rPr>
              <a:t>Host watch parties with creators or actors from those classics.</a:t>
            </a:r>
          </a:p>
          <a:p>
            <a:pPr marL="800100" lvl="1" indent="-342900">
              <a:lnSpc>
                <a:spcPct val="150000"/>
              </a:lnSpc>
              <a:buFont typeface="Arial" panose="020B0604020202020204" pitchFamily="34" charset="0"/>
              <a:buChar char="•"/>
            </a:pPr>
            <a:r>
              <a:rPr lang="en-US" sz="1400" dirty="0">
                <a:solidFill>
                  <a:schemeClr val="bg1">
                    <a:lumMod val="85000"/>
                  </a:schemeClr>
                </a:solidFill>
              </a:rPr>
              <a:t>Run nostalgia-themed social media challenges (e.g., “Guess the Dialogue”).</a:t>
            </a:r>
          </a:p>
          <a:p>
            <a:pPr marL="800100" lvl="1" indent="-342900">
              <a:lnSpc>
                <a:spcPct val="150000"/>
              </a:lnSpc>
              <a:buFont typeface="+mj-lt"/>
              <a:buAutoNum type="arabicPeriod"/>
            </a:pPr>
            <a:endParaRPr lang="en-US" sz="1400" b="1" dirty="0">
              <a:solidFill>
                <a:schemeClr val="accent5"/>
              </a:solidFill>
            </a:endParaRPr>
          </a:p>
          <a:p>
            <a:pPr marL="342900" indent="-342900">
              <a:lnSpc>
                <a:spcPct val="150000"/>
              </a:lnSpc>
              <a:buFont typeface="+mj-lt"/>
              <a:buAutoNum type="arabicPeriod" startAt="4"/>
            </a:pPr>
            <a:r>
              <a:rPr lang="en-US" sz="1600" b="1" dirty="0">
                <a:solidFill>
                  <a:schemeClr val="accent5"/>
                </a:solidFill>
              </a:rPr>
              <a:t>“The Marathon Challenge” </a:t>
            </a:r>
            <a:r>
              <a:rPr lang="en-US" sz="1600" b="1" dirty="0">
                <a:solidFill>
                  <a:schemeClr val="bg1">
                    <a:lumMod val="85000"/>
                  </a:schemeClr>
                </a:solidFill>
              </a:rPr>
              <a:t>(Gamified Viewing Experience)</a:t>
            </a:r>
            <a:endParaRPr lang="en-US" sz="1600" dirty="0">
              <a:solidFill>
                <a:schemeClr val="bg1">
                  <a:lumMod val="85000"/>
                </a:schemeClr>
              </a:solidFill>
            </a:endParaRPr>
          </a:p>
          <a:p>
            <a:pPr marL="742950" lvl="1" indent="-285750">
              <a:lnSpc>
                <a:spcPct val="150000"/>
              </a:lnSpc>
              <a:buFont typeface="Arial" panose="020B0604020202020204" pitchFamily="34" charset="0"/>
              <a:buChar char="•"/>
            </a:pPr>
            <a:r>
              <a:rPr lang="en-US" sz="1400" dirty="0">
                <a:solidFill>
                  <a:schemeClr val="bg1">
                    <a:lumMod val="85000"/>
                  </a:schemeClr>
                </a:solidFill>
              </a:rPr>
              <a:t>Introduce gamification by setting up </a:t>
            </a:r>
            <a:r>
              <a:rPr lang="en-US" sz="1400" b="1" dirty="0">
                <a:solidFill>
                  <a:schemeClr val="bg1">
                    <a:lumMod val="85000"/>
                  </a:schemeClr>
                </a:solidFill>
              </a:rPr>
              <a:t>watch challenges</a:t>
            </a:r>
            <a:r>
              <a:rPr lang="en-US" sz="1400" dirty="0">
                <a:solidFill>
                  <a:schemeClr val="bg1">
                    <a:lumMod val="85000"/>
                  </a:schemeClr>
                </a:solidFill>
              </a:rPr>
              <a:t> (e.g., </a:t>
            </a:r>
            <a:r>
              <a:rPr lang="en-US" sz="1400" i="1" dirty="0">
                <a:solidFill>
                  <a:schemeClr val="bg1">
                    <a:lumMod val="85000"/>
                  </a:schemeClr>
                </a:solidFill>
              </a:rPr>
              <a:t>“Complete 3 Movies in 24 Hours”</a:t>
            </a:r>
            <a:r>
              <a:rPr lang="en-US" sz="1400" dirty="0">
                <a:solidFill>
                  <a:schemeClr val="bg1">
                    <a:lumMod val="85000"/>
                  </a:schemeClr>
                </a:solidFill>
              </a:rPr>
              <a:t>).</a:t>
            </a:r>
          </a:p>
          <a:p>
            <a:pPr marL="742950" lvl="1" indent="-285750">
              <a:lnSpc>
                <a:spcPct val="150000"/>
              </a:lnSpc>
              <a:buFont typeface="Arial" panose="020B0604020202020204" pitchFamily="34" charset="0"/>
              <a:buChar char="•"/>
            </a:pPr>
            <a:r>
              <a:rPr lang="en-US" sz="1400" dirty="0">
                <a:solidFill>
                  <a:schemeClr val="bg1">
                    <a:lumMod val="85000"/>
                  </a:schemeClr>
                </a:solidFill>
              </a:rPr>
              <a:t>Users earn badges, discounts, or exclusive previews upon completion.</a:t>
            </a:r>
          </a:p>
          <a:p>
            <a:pPr marL="742950" lvl="1" indent="-285750">
              <a:lnSpc>
                <a:spcPct val="150000"/>
              </a:lnSpc>
              <a:buFont typeface="Arial" panose="020B0604020202020204" pitchFamily="34" charset="0"/>
              <a:buChar char="•"/>
            </a:pPr>
            <a:r>
              <a:rPr lang="en-US" sz="1400" dirty="0">
                <a:solidFill>
                  <a:schemeClr val="bg1">
                    <a:lumMod val="85000"/>
                  </a:schemeClr>
                </a:solidFill>
              </a:rPr>
              <a:t>Make challenges theme-based (</a:t>
            </a:r>
            <a:r>
              <a:rPr lang="en-US" sz="1400" i="1" dirty="0">
                <a:solidFill>
                  <a:schemeClr val="bg1">
                    <a:lumMod val="85000"/>
                  </a:schemeClr>
                </a:solidFill>
              </a:rPr>
              <a:t>“Horror Week,” “Romantic Week,” “Regional Hits Week”</a:t>
            </a:r>
            <a:r>
              <a:rPr lang="en-US" sz="1400" dirty="0">
                <a:solidFill>
                  <a:schemeClr val="bg1">
                    <a:lumMod val="85000"/>
                  </a:schemeClr>
                </a:solidFill>
              </a:rPr>
              <a:t>).</a:t>
            </a:r>
          </a:p>
          <a:p>
            <a:pPr marL="800100" lvl="1" indent="-342900">
              <a:lnSpc>
                <a:spcPct val="150000"/>
              </a:lnSpc>
              <a:buFont typeface="+mj-lt"/>
              <a:buAutoNum type="arabicPeriod"/>
            </a:pPr>
            <a:endParaRPr lang="en-US" sz="1400" dirty="0">
              <a:solidFill>
                <a:schemeClr val="bg1">
                  <a:lumMod val="85000"/>
                </a:schemeClr>
              </a:solidFill>
            </a:endParaRPr>
          </a:p>
        </p:txBody>
      </p:sp>
    </p:spTree>
    <p:custDataLst>
      <p:tags r:id="rId1"/>
    </p:custDataLst>
    <p:extLst>
      <p:ext uri="{BB962C8B-B14F-4D97-AF65-F5344CB8AC3E}">
        <p14:creationId xmlns:p14="http://schemas.microsoft.com/office/powerpoint/2010/main" val="1662714904"/>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41A9F8-BA9B-6CC1-D2DF-AF1251EC48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D5178D-1E4B-7DE0-4252-9E5CB28A83CB}"/>
              </a:ext>
            </a:extLst>
          </p:cNvPr>
          <p:cNvSpPr>
            <a:spLocks noGrp="1"/>
          </p:cNvSpPr>
          <p:nvPr>
            <p:ph type="title"/>
          </p:nvPr>
        </p:nvSpPr>
        <p:spPr>
          <a:xfrm>
            <a:off x="1029970" y="313784"/>
            <a:ext cx="10087610" cy="833754"/>
          </a:xfrm>
        </p:spPr>
        <p:txBody>
          <a:bodyPr>
            <a:normAutofit/>
          </a:bodyPr>
          <a:lstStyle/>
          <a:p>
            <a:pPr algn="ctr"/>
            <a:r>
              <a:rPr lang="en-US" sz="1600" b="1" kern="100" dirty="0">
                <a:solidFill>
                  <a:schemeClr val="bg1">
                    <a:lumMod val="95000"/>
                  </a:schemeClr>
                </a:solidFill>
                <a:uFill>
                  <a:solidFill>
                    <a:srgbClr val="000000"/>
                  </a:solidFill>
                </a:uFill>
                <a:latin typeface="Aptos (Body)"/>
                <a:ea typeface="Calibri" panose="020F0502020204030204" pitchFamily="34" charset="0"/>
                <a:cs typeface="Calibri" panose="020F0502020204030204" pitchFamily="34" charset="0"/>
              </a:rPr>
              <a:t>3. How should the merged platform price its subscription plans to compete effectively while maintaining profitability?</a:t>
            </a:r>
            <a:endParaRPr lang="en-CA" sz="5400" b="1" dirty="0">
              <a:solidFill>
                <a:schemeClr val="bg1">
                  <a:lumMod val="95000"/>
                </a:schemeClr>
              </a:solidFill>
              <a:latin typeface="Aptos (Body)"/>
            </a:endParaRPr>
          </a:p>
        </p:txBody>
      </p:sp>
      <p:sp>
        <p:nvSpPr>
          <p:cNvPr id="12" name="TextBox 11">
            <a:extLst>
              <a:ext uri="{FF2B5EF4-FFF2-40B4-BE49-F238E27FC236}">
                <a16:creationId xmlns:a16="http://schemas.microsoft.com/office/drawing/2014/main" id="{C3220ADD-022E-81BE-32A6-9A3A6303190A}"/>
              </a:ext>
            </a:extLst>
          </p:cNvPr>
          <p:cNvSpPr txBox="1"/>
          <p:nvPr/>
        </p:nvSpPr>
        <p:spPr>
          <a:xfrm>
            <a:off x="628649" y="1222310"/>
            <a:ext cx="10934701" cy="4398576"/>
          </a:xfrm>
          <a:prstGeom prst="rect">
            <a:avLst/>
          </a:prstGeom>
          <a:noFill/>
        </p:spPr>
        <p:txBody>
          <a:bodyPr wrap="square">
            <a:spAutoFit/>
          </a:bodyPr>
          <a:lstStyle/>
          <a:p>
            <a:pPr marL="342900" indent="-342900">
              <a:lnSpc>
                <a:spcPct val="150000"/>
              </a:lnSpc>
              <a:buFont typeface="+mj-lt"/>
              <a:buAutoNum type="arabicPeriod"/>
            </a:pPr>
            <a:r>
              <a:rPr lang="en-US" sz="1600" b="1" dirty="0">
                <a:solidFill>
                  <a:schemeClr val="bg1">
                    <a:lumMod val="85000"/>
                  </a:schemeClr>
                </a:solidFill>
              </a:rPr>
              <a:t>Freemium Model (Ad-Supported Tier)</a:t>
            </a:r>
          </a:p>
          <a:p>
            <a:pPr marL="800100" lvl="1" indent="-342900">
              <a:lnSpc>
                <a:spcPct val="150000"/>
              </a:lnSpc>
              <a:buFont typeface="Arial" panose="020B0604020202020204" pitchFamily="34" charset="0"/>
              <a:buChar char="•"/>
            </a:pPr>
            <a:r>
              <a:rPr lang="en-US" sz="1400" b="1" dirty="0">
                <a:solidFill>
                  <a:schemeClr val="accent5"/>
                </a:solidFill>
              </a:rPr>
              <a:t>Offer a Free Tier: </a:t>
            </a:r>
            <a:r>
              <a:rPr lang="en-US" sz="1400" dirty="0">
                <a:solidFill>
                  <a:schemeClr val="bg1">
                    <a:lumMod val="85000"/>
                  </a:schemeClr>
                </a:solidFill>
              </a:rPr>
              <a:t>Provide access to limited content with ads, particularly regional content that appeals to Tier 3 cities and budget-conscious users.</a:t>
            </a:r>
          </a:p>
          <a:p>
            <a:pPr marL="800100" lvl="1" indent="-342900">
              <a:lnSpc>
                <a:spcPct val="150000"/>
              </a:lnSpc>
              <a:buFont typeface="Arial" panose="020B0604020202020204" pitchFamily="34" charset="0"/>
              <a:buChar char="•"/>
            </a:pPr>
            <a:r>
              <a:rPr lang="en-US" sz="1400" b="1" dirty="0">
                <a:solidFill>
                  <a:schemeClr val="accent5"/>
                </a:solidFill>
              </a:rPr>
              <a:t>Purpose: </a:t>
            </a:r>
            <a:r>
              <a:rPr lang="en-US" sz="1400" dirty="0">
                <a:solidFill>
                  <a:schemeClr val="bg1">
                    <a:lumMod val="85000"/>
                  </a:schemeClr>
                </a:solidFill>
              </a:rPr>
              <a:t>Build a large user base quickly and monetize through ads while providing a gateway to convert free users to paid plans.</a:t>
            </a:r>
          </a:p>
          <a:p>
            <a:pPr marL="800100" lvl="1" indent="-342900">
              <a:lnSpc>
                <a:spcPct val="150000"/>
              </a:lnSpc>
              <a:buFont typeface="Arial" panose="020B0604020202020204" pitchFamily="34" charset="0"/>
              <a:buChar char="•"/>
            </a:pPr>
            <a:r>
              <a:rPr lang="en-US" sz="1400" b="1" dirty="0">
                <a:solidFill>
                  <a:schemeClr val="accent5"/>
                </a:solidFill>
              </a:rPr>
              <a:t>Revenue Source: </a:t>
            </a:r>
            <a:r>
              <a:rPr lang="en-US" sz="1400" dirty="0">
                <a:solidFill>
                  <a:schemeClr val="bg1">
                    <a:lumMod val="85000"/>
                  </a:schemeClr>
                </a:solidFill>
              </a:rPr>
              <a:t>Advertisement revenue.</a:t>
            </a:r>
          </a:p>
          <a:p>
            <a:pPr marL="342900" indent="-342900">
              <a:lnSpc>
                <a:spcPct val="150000"/>
              </a:lnSpc>
              <a:buFont typeface="+mj-lt"/>
              <a:buAutoNum type="arabicPeriod"/>
            </a:pPr>
            <a:endParaRPr lang="en-US" sz="1600" b="1" dirty="0">
              <a:solidFill>
                <a:schemeClr val="bg1">
                  <a:lumMod val="85000"/>
                </a:schemeClr>
              </a:solidFill>
            </a:endParaRPr>
          </a:p>
          <a:p>
            <a:pPr marL="342900" indent="-342900">
              <a:lnSpc>
                <a:spcPct val="150000"/>
              </a:lnSpc>
              <a:buFont typeface="+mj-lt"/>
              <a:buAutoNum type="arabicPeriod"/>
            </a:pPr>
            <a:r>
              <a:rPr lang="en-US" sz="1600" b="1" dirty="0">
                <a:solidFill>
                  <a:schemeClr val="bg1">
                    <a:lumMod val="85000"/>
                  </a:schemeClr>
                </a:solidFill>
              </a:rPr>
              <a:t>Multi-Tiered SVOD Model (Subscription Video on Demand)</a:t>
            </a:r>
          </a:p>
          <a:p>
            <a:pPr lvl="1">
              <a:lnSpc>
                <a:spcPct val="150000"/>
              </a:lnSpc>
            </a:pPr>
            <a:r>
              <a:rPr lang="en-US" sz="1400" dirty="0">
                <a:solidFill>
                  <a:schemeClr val="bg1">
                    <a:lumMod val="85000"/>
                  </a:schemeClr>
                </a:solidFill>
              </a:rPr>
              <a:t>Three Subscription Plans:</a:t>
            </a:r>
          </a:p>
          <a:p>
            <a:pPr marL="1314450" lvl="2" indent="-400050">
              <a:lnSpc>
                <a:spcPct val="150000"/>
              </a:lnSpc>
              <a:buFont typeface="+mj-lt"/>
              <a:buAutoNum type="romanUcPeriod"/>
            </a:pPr>
            <a:r>
              <a:rPr lang="en-US" sz="1400" b="1" dirty="0">
                <a:solidFill>
                  <a:schemeClr val="accent5"/>
                </a:solidFill>
              </a:rPr>
              <a:t>Basic Plan: </a:t>
            </a:r>
            <a:r>
              <a:rPr lang="en-US" sz="1400" dirty="0">
                <a:solidFill>
                  <a:schemeClr val="bg1">
                    <a:lumMod val="85000"/>
                  </a:schemeClr>
                </a:solidFill>
              </a:rPr>
              <a:t>₹69/month - SD streaming, 1 device. Targeted at Tier 2 &amp; 3 users.</a:t>
            </a:r>
          </a:p>
          <a:p>
            <a:pPr marL="1314450" lvl="2" indent="-400050">
              <a:lnSpc>
                <a:spcPct val="150000"/>
              </a:lnSpc>
              <a:buFont typeface="+mj-lt"/>
              <a:buAutoNum type="romanUcPeriod"/>
            </a:pPr>
            <a:r>
              <a:rPr lang="en-US" sz="1400" b="1" dirty="0">
                <a:solidFill>
                  <a:schemeClr val="accent5"/>
                </a:solidFill>
              </a:rPr>
              <a:t>Standard Plan: </a:t>
            </a:r>
            <a:r>
              <a:rPr lang="en-US" sz="1400" dirty="0">
                <a:solidFill>
                  <a:schemeClr val="bg1">
                    <a:lumMod val="85000"/>
                  </a:schemeClr>
                </a:solidFill>
              </a:rPr>
              <a:t>₹129/month - HD streaming, 2 devices, Download &amp; Watch Later. Popular plan for families.</a:t>
            </a:r>
          </a:p>
          <a:p>
            <a:pPr marL="1314450" lvl="2" indent="-400050">
              <a:lnSpc>
                <a:spcPct val="150000"/>
              </a:lnSpc>
              <a:buFont typeface="+mj-lt"/>
              <a:buAutoNum type="romanUcPeriod"/>
            </a:pPr>
            <a:r>
              <a:rPr lang="en-US" sz="1400" b="1" dirty="0">
                <a:solidFill>
                  <a:schemeClr val="accent5"/>
                </a:solidFill>
              </a:rPr>
              <a:t>Premium Plan: </a:t>
            </a:r>
            <a:r>
              <a:rPr lang="en-US" sz="1400" dirty="0">
                <a:solidFill>
                  <a:schemeClr val="bg1">
                    <a:lumMod val="85000"/>
                  </a:schemeClr>
                </a:solidFill>
              </a:rPr>
              <a:t>₹359/month - 4K streaming, 4 devices, exclusive content access. Targeted at sports enthusiasts and urban viewers.</a:t>
            </a:r>
          </a:p>
          <a:p>
            <a:pPr marL="742950" lvl="1" indent="-285750">
              <a:lnSpc>
                <a:spcPct val="150000"/>
              </a:lnSpc>
              <a:buFont typeface="Arial" panose="020B0604020202020204" pitchFamily="34" charset="0"/>
              <a:buChar char="•"/>
            </a:pPr>
            <a:r>
              <a:rPr lang="en-US" sz="1400" b="1" dirty="0">
                <a:solidFill>
                  <a:schemeClr val="accent5"/>
                </a:solidFill>
              </a:rPr>
              <a:t>Purpose: </a:t>
            </a:r>
            <a:r>
              <a:rPr lang="en-US" sz="1400" dirty="0">
                <a:solidFill>
                  <a:schemeClr val="bg1">
                    <a:lumMod val="85000"/>
                  </a:schemeClr>
                </a:solidFill>
              </a:rPr>
              <a:t>Appeal to different economic demographics while maximizing revenue through premium content offerings.</a:t>
            </a:r>
          </a:p>
          <a:p>
            <a:pPr marL="342900" indent="-342900">
              <a:lnSpc>
                <a:spcPct val="150000"/>
              </a:lnSpc>
              <a:buFont typeface="+mj-lt"/>
              <a:buAutoNum type="arabicPeriod"/>
            </a:pPr>
            <a:endParaRPr lang="en-US" sz="1400" dirty="0">
              <a:solidFill>
                <a:schemeClr val="bg1">
                  <a:lumMod val="85000"/>
                </a:schemeClr>
              </a:solidFill>
            </a:endParaRPr>
          </a:p>
        </p:txBody>
      </p:sp>
    </p:spTree>
    <p:custDataLst>
      <p:tags r:id="rId1"/>
    </p:custDataLst>
    <p:extLst>
      <p:ext uri="{BB962C8B-B14F-4D97-AF65-F5344CB8AC3E}">
        <p14:creationId xmlns:p14="http://schemas.microsoft.com/office/powerpoint/2010/main" val="3974793045"/>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38D6D-863B-1284-6041-D53D3DBC8F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8563EF-B252-A675-D2AD-FFDD762AFAA7}"/>
              </a:ext>
            </a:extLst>
          </p:cNvPr>
          <p:cNvSpPr>
            <a:spLocks noGrp="1"/>
          </p:cNvSpPr>
          <p:nvPr>
            <p:ph type="title"/>
          </p:nvPr>
        </p:nvSpPr>
        <p:spPr>
          <a:xfrm>
            <a:off x="1029970" y="313784"/>
            <a:ext cx="10087610" cy="833754"/>
          </a:xfrm>
        </p:spPr>
        <p:txBody>
          <a:bodyPr>
            <a:normAutofit/>
          </a:bodyPr>
          <a:lstStyle/>
          <a:p>
            <a:pPr algn="ctr"/>
            <a:r>
              <a:rPr lang="en-US" sz="1600" b="1" kern="100" dirty="0">
                <a:solidFill>
                  <a:schemeClr val="bg1">
                    <a:lumMod val="95000"/>
                  </a:schemeClr>
                </a:solidFill>
                <a:uFill>
                  <a:solidFill>
                    <a:srgbClr val="000000"/>
                  </a:solidFill>
                </a:uFill>
                <a:latin typeface="Aptos (Body)"/>
                <a:ea typeface="Calibri" panose="020F0502020204030204" pitchFamily="34" charset="0"/>
                <a:cs typeface="Calibri" panose="020F0502020204030204" pitchFamily="34" charset="0"/>
              </a:rPr>
              <a:t>3. How should the merged platform price its subscription plans to compete effectively while maintaining profitability?</a:t>
            </a:r>
            <a:endParaRPr lang="en-CA" sz="5400" b="1" dirty="0">
              <a:solidFill>
                <a:schemeClr val="bg1">
                  <a:lumMod val="95000"/>
                </a:schemeClr>
              </a:solidFill>
              <a:latin typeface="Aptos (Body)"/>
            </a:endParaRPr>
          </a:p>
        </p:txBody>
      </p:sp>
      <p:sp>
        <p:nvSpPr>
          <p:cNvPr id="3" name="TextBox 2">
            <a:extLst>
              <a:ext uri="{FF2B5EF4-FFF2-40B4-BE49-F238E27FC236}">
                <a16:creationId xmlns:a16="http://schemas.microsoft.com/office/drawing/2014/main" id="{F595ED40-3F72-6598-7631-95B4882A1DDC}"/>
              </a:ext>
            </a:extLst>
          </p:cNvPr>
          <p:cNvSpPr txBox="1"/>
          <p:nvPr/>
        </p:nvSpPr>
        <p:spPr>
          <a:xfrm>
            <a:off x="628649" y="1222310"/>
            <a:ext cx="10934701" cy="5321906"/>
          </a:xfrm>
          <a:prstGeom prst="rect">
            <a:avLst/>
          </a:prstGeom>
          <a:noFill/>
        </p:spPr>
        <p:txBody>
          <a:bodyPr wrap="square">
            <a:spAutoFit/>
          </a:bodyPr>
          <a:lstStyle/>
          <a:p>
            <a:pPr marL="342900" indent="-342900">
              <a:lnSpc>
                <a:spcPct val="150000"/>
              </a:lnSpc>
              <a:buFont typeface="+mj-lt"/>
              <a:buAutoNum type="arabicPeriod" startAt="3"/>
            </a:pPr>
            <a:r>
              <a:rPr lang="en-US" sz="1600" b="1" dirty="0">
                <a:solidFill>
                  <a:schemeClr val="bg1">
                    <a:lumMod val="85000"/>
                  </a:schemeClr>
                </a:solidFill>
              </a:rPr>
              <a:t>Regional Pricing &amp; Flexible Payment Options</a:t>
            </a:r>
          </a:p>
          <a:p>
            <a:pPr marL="800100" lvl="1" indent="-342900">
              <a:lnSpc>
                <a:spcPct val="150000"/>
              </a:lnSpc>
              <a:buFont typeface="Arial" panose="020B0604020202020204" pitchFamily="34" charset="0"/>
              <a:buChar char="•"/>
            </a:pPr>
            <a:r>
              <a:rPr lang="en-US" sz="1400" b="1" dirty="0">
                <a:solidFill>
                  <a:schemeClr val="accent5"/>
                </a:solidFill>
              </a:rPr>
              <a:t>Localized Pricing: </a:t>
            </a:r>
            <a:r>
              <a:rPr lang="en-US" sz="1400" dirty="0">
                <a:solidFill>
                  <a:schemeClr val="bg1">
                    <a:lumMod val="85000"/>
                  </a:schemeClr>
                </a:solidFill>
              </a:rPr>
              <a:t>Reduced prices for Tier 2 &amp; Tier 3 cities to attract subscribers from low-income areas.</a:t>
            </a:r>
          </a:p>
          <a:p>
            <a:pPr marL="800100" lvl="1" indent="-342900">
              <a:lnSpc>
                <a:spcPct val="150000"/>
              </a:lnSpc>
              <a:buFont typeface="Arial" panose="020B0604020202020204" pitchFamily="34" charset="0"/>
              <a:buChar char="•"/>
            </a:pPr>
            <a:r>
              <a:rPr lang="en-US" sz="1400" b="1" dirty="0">
                <a:solidFill>
                  <a:schemeClr val="accent5"/>
                </a:solidFill>
              </a:rPr>
              <a:t>Flexible Payment Plans: </a:t>
            </a:r>
            <a:r>
              <a:rPr lang="en-US" sz="1400" dirty="0">
                <a:solidFill>
                  <a:schemeClr val="bg1">
                    <a:lumMod val="85000"/>
                  </a:schemeClr>
                </a:solidFill>
              </a:rPr>
              <a:t>Offer monthly, quarterly, and annual subscriptions. Annual plans receive discounted pricing to encourage long-term commitment.</a:t>
            </a:r>
          </a:p>
          <a:p>
            <a:pPr marL="800100" lvl="1" indent="-342900">
              <a:lnSpc>
                <a:spcPct val="150000"/>
              </a:lnSpc>
              <a:buFont typeface="Arial" panose="020B0604020202020204" pitchFamily="34" charset="0"/>
              <a:buChar char="•"/>
            </a:pPr>
            <a:r>
              <a:rPr lang="en-US" sz="1400" b="1" dirty="0">
                <a:solidFill>
                  <a:schemeClr val="accent5"/>
                </a:solidFill>
              </a:rPr>
              <a:t>Purpose: </a:t>
            </a:r>
            <a:r>
              <a:rPr lang="en-US" sz="1400" dirty="0">
                <a:solidFill>
                  <a:schemeClr val="bg1">
                    <a:lumMod val="85000"/>
                  </a:schemeClr>
                </a:solidFill>
              </a:rPr>
              <a:t>Boosts affordability, improves retention, and taps into broader market segments.</a:t>
            </a:r>
            <a:endParaRPr lang="en-US" sz="1200" dirty="0">
              <a:solidFill>
                <a:schemeClr val="bg1">
                  <a:lumMod val="85000"/>
                </a:schemeClr>
              </a:solidFill>
            </a:endParaRPr>
          </a:p>
          <a:p>
            <a:pPr marL="800100" lvl="1" indent="-342900">
              <a:lnSpc>
                <a:spcPct val="150000"/>
              </a:lnSpc>
              <a:buFont typeface="Arial" panose="020B0604020202020204" pitchFamily="34" charset="0"/>
              <a:buChar char="•"/>
            </a:pPr>
            <a:endParaRPr lang="en-US" sz="1400" b="1" dirty="0">
              <a:solidFill>
                <a:schemeClr val="bg1">
                  <a:lumMod val="85000"/>
                </a:schemeClr>
              </a:solidFill>
            </a:endParaRPr>
          </a:p>
          <a:p>
            <a:pPr marL="342900" indent="-342900">
              <a:lnSpc>
                <a:spcPct val="150000"/>
              </a:lnSpc>
              <a:buFont typeface="+mj-lt"/>
              <a:buAutoNum type="arabicPeriod" startAt="5"/>
            </a:pPr>
            <a:r>
              <a:rPr lang="en-US" sz="1600" b="1" dirty="0">
                <a:solidFill>
                  <a:schemeClr val="bg1">
                    <a:lumMod val="85000"/>
                  </a:schemeClr>
                </a:solidFill>
              </a:rPr>
              <a:t>Telecom Partnerships &amp; Bundling</a:t>
            </a:r>
          </a:p>
          <a:p>
            <a:pPr marL="742950" lvl="1" indent="-285750">
              <a:lnSpc>
                <a:spcPct val="150000"/>
              </a:lnSpc>
              <a:buFont typeface="Arial" panose="020B0604020202020204" pitchFamily="34" charset="0"/>
              <a:buChar char="•"/>
            </a:pPr>
            <a:r>
              <a:rPr lang="en-US" sz="1400" b="1" dirty="0">
                <a:solidFill>
                  <a:schemeClr val="accent5"/>
                </a:solidFill>
              </a:rPr>
              <a:t>Collaborate with telecom providers: </a:t>
            </a:r>
            <a:r>
              <a:rPr lang="en-US" sz="1400" dirty="0">
                <a:solidFill>
                  <a:schemeClr val="bg1">
                    <a:lumMod val="85000"/>
                  </a:schemeClr>
                </a:solidFill>
              </a:rPr>
              <a:t>Integrate subscription offers with data and broadband plans (e.g., Jio, Airtel, VI).</a:t>
            </a:r>
          </a:p>
          <a:p>
            <a:pPr marL="742950" lvl="1" indent="-285750">
              <a:lnSpc>
                <a:spcPct val="150000"/>
              </a:lnSpc>
              <a:buFont typeface="Arial" panose="020B0604020202020204" pitchFamily="34" charset="0"/>
              <a:buChar char="•"/>
            </a:pPr>
            <a:r>
              <a:rPr lang="en-US" sz="1400" b="1" dirty="0">
                <a:solidFill>
                  <a:schemeClr val="accent5"/>
                </a:solidFill>
              </a:rPr>
              <a:t>Bundled Offers: </a:t>
            </a:r>
            <a:r>
              <a:rPr lang="en-US" sz="1400" dirty="0">
                <a:solidFill>
                  <a:schemeClr val="bg1">
                    <a:lumMod val="85000"/>
                  </a:schemeClr>
                </a:solidFill>
              </a:rPr>
              <a:t>Combine sports content with movies or series at attractive rates (e.g., “VIP Sports Pack” or “Weekend Movie Pack”).</a:t>
            </a:r>
          </a:p>
          <a:p>
            <a:pPr marL="742950" lvl="1" indent="-285750">
              <a:lnSpc>
                <a:spcPct val="150000"/>
              </a:lnSpc>
              <a:buFont typeface="Arial" panose="020B0604020202020204" pitchFamily="34" charset="0"/>
              <a:buChar char="•"/>
            </a:pPr>
            <a:r>
              <a:rPr lang="en-US" sz="1400" b="1" dirty="0">
                <a:solidFill>
                  <a:schemeClr val="accent5"/>
                </a:solidFill>
              </a:rPr>
              <a:t>Purpose: </a:t>
            </a:r>
            <a:r>
              <a:rPr lang="en-US" sz="1400" dirty="0">
                <a:solidFill>
                  <a:schemeClr val="bg1">
                    <a:lumMod val="85000"/>
                  </a:schemeClr>
                </a:solidFill>
              </a:rPr>
              <a:t>Leverage existing telecom user bases and provide high-value bundled experiences.</a:t>
            </a:r>
          </a:p>
          <a:p>
            <a:pPr>
              <a:lnSpc>
                <a:spcPct val="150000"/>
              </a:lnSpc>
            </a:pPr>
            <a:endParaRPr lang="en-US" sz="1400" dirty="0">
              <a:solidFill>
                <a:schemeClr val="bg1">
                  <a:lumMod val="85000"/>
                </a:schemeClr>
              </a:solidFill>
            </a:endParaRPr>
          </a:p>
          <a:p>
            <a:pPr marL="342900" indent="-342900">
              <a:lnSpc>
                <a:spcPct val="150000"/>
              </a:lnSpc>
              <a:buFont typeface="+mj-lt"/>
              <a:buAutoNum type="arabicPeriod" startAt="6"/>
            </a:pPr>
            <a:r>
              <a:rPr lang="en-US" sz="1600" b="1" dirty="0">
                <a:solidFill>
                  <a:schemeClr val="bg1">
                    <a:lumMod val="85000"/>
                  </a:schemeClr>
                </a:solidFill>
              </a:rPr>
              <a:t>Promotional Pricing &amp; Upgrade Incentives</a:t>
            </a:r>
          </a:p>
          <a:p>
            <a:pPr marL="742950" lvl="1" indent="-285750">
              <a:lnSpc>
                <a:spcPct val="150000"/>
              </a:lnSpc>
              <a:buFont typeface="Arial" panose="020B0604020202020204" pitchFamily="34" charset="0"/>
              <a:buChar char="•"/>
            </a:pPr>
            <a:r>
              <a:rPr lang="en-US" sz="1400" b="1" dirty="0">
                <a:solidFill>
                  <a:schemeClr val="accent5"/>
                </a:solidFill>
              </a:rPr>
              <a:t>Introductory Offers: </a:t>
            </a:r>
            <a:r>
              <a:rPr lang="en-US" sz="1400" dirty="0">
                <a:solidFill>
                  <a:schemeClr val="bg1">
                    <a:lumMod val="85000"/>
                  </a:schemeClr>
                </a:solidFill>
              </a:rPr>
              <a:t>Offer discounts for first-time subscribers (e.g., ₹49 for the first month of the Basic Plan).</a:t>
            </a:r>
          </a:p>
          <a:p>
            <a:pPr marL="742950" lvl="1" indent="-285750">
              <a:lnSpc>
                <a:spcPct val="150000"/>
              </a:lnSpc>
              <a:buFont typeface="Arial" panose="020B0604020202020204" pitchFamily="34" charset="0"/>
              <a:buChar char="•"/>
            </a:pPr>
            <a:r>
              <a:rPr lang="en-US" sz="1400" b="1" dirty="0">
                <a:solidFill>
                  <a:schemeClr val="accent5"/>
                </a:solidFill>
              </a:rPr>
              <a:t>Upgrade Offers: </a:t>
            </a:r>
            <a:r>
              <a:rPr lang="en-US" sz="1400" dirty="0">
                <a:solidFill>
                  <a:schemeClr val="bg1">
                    <a:lumMod val="85000"/>
                  </a:schemeClr>
                </a:solidFill>
              </a:rPr>
              <a:t>Provide temporary access to Premium features for Basic and Standard users to encourage upgrading.</a:t>
            </a:r>
          </a:p>
          <a:p>
            <a:pPr marL="742950" lvl="1" indent="-285750">
              <a:lnSpc>
                <a:spcPct val="150000"/>
              </a:lnSpc>
              <a:buFont typeface="Arial" panose="020B0604020202020204" pitchFamily="34" charset="0"/>
              <a:buChar char="•"/>
            </a:pPr>
            <a:r>
              <a:rPr lang="en-US" sz="1400" b="1" dirty="0">
                <a:solidFill>
                  <a:schemeClr val="accent5"/>
                </a:solidFill>
              </a:rPr>
              <a:t>Loyalty Discounts: </a:t>
            </a:r>
            <a:r>
              <a:rPr lang="en-US" sz="1400" dirty="0">
                <a:solidFill>
                  <a:schemeClr val="bg1">
                    <a:lumMod val="85000"/>
                  </a:schemeClr>
                </a:solidFill>
              </a:rPr>
              <a:t>Reward long-term subscribers with discounted annual plans or exclusive content access.</a:t>
            </a:r>
          </a:p>
          <a:p>
            <a:pPr marL="742950" lvl="1" indent="-285750">
              <a:lnSpc>
                <a:spcPct val="150000"/>
              </a:lnSpc>
              <a:buFont typeface="Arial" panose="020B0604020202020204" pitchFamily="34" charset="0"/>
              <a:buChar char="•"/>
            </a:pPr>
            <a:r>
              <a:rPr lang="en-US" sz="1400" b="1" dirty="0">
                <a:solidFill>
                  <a:schemeClr val="accent5"/>
                </a:solidFill>
              </a:rPr>
              <a:t>Purpose: </a:t>
            </a:r>
            <a:r>
              <a:rPr lang="en-US" sz="1400" dirty="0">
                <a:solidFill>
                  <a:schemeClr val="bg1">
                    <a:lumMod val="85000"/>
                  </a:schemeClr>
                </a:solidFill>
              </a:rPr>
              <a:t>Reduce churn, attract new users, and encourage users to move up the subscription ladder.</a:t>
            </a:r>
          </a:p>
        </p:txBody>
      </p:sp>
    </p:spTree>
    <p:custDataLst>
      <p:tags r:id="rId1"/>
    </p:custDataLst>
    <p:extLst>
      <p:ext uri="{BB962C8B-B14F-4D97-AF65-F5344CB8AC3E}">
        <p14:creationId xmlns:p14="http://schemas.microsoft.com/office/powerpoint/2010/main" val="745696104"/>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F88C4-F3CF-7013-34FE-5D3BBDD626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238BE5-F9B6-EF0D-B490-876BFABD0C71}"/>
              </a:ext>
            </a:extLst>
          </p:cNvPr>
          <p:cNvSpPr>
            <a:spLocks noGrp="1"/>
          </p:cNvSpPr>
          <p:nvPr>
            <p:ph type="title"/>
          </p:nvPr>
        </p:nvSpPr>
        <p:spPr>
          <a:xfrm>
            <a:off x="1029970" y="313784"/>
            <a:ext cx="10087610" cy="833754"/>
          </a:xfrm>
        </p:spPr>
        <p:txBody>
          <a:bodyPr>
            <a:normAutofit/>
          </a:bodyPr>
          <a:lstStyle/>
          <a:p>
            <a:pPr algn="ctr"/>
            <a:r>
              <a:rPr lang="en-US" sz="1600" b="1" kern="100" dirty="0">
                <a:solidFill>
                  <a:schemeClr val="bg1">
                    <a:lumMod val="95000"/>
                  </a:schemeClr>
                </a:solidFill>
                <a:uFill>
                  <a:solidFill>
                    <a:srgbClr val="000000"/>
                  </a:solidFill>
                </a:uFill>
                <a:latin typeface="Aptos (Body)"/>
                <a:ea typeface="Calibri" panose="020F0502020204030204" pitchFamily="34" charset="0"/>
                <a:cs typeface="Calibri" panose="020F0502020204030204" pitchFamily="34" charset="0"/>
              </a:rPr>
              <a:t>4. How can the platform leverage partnerships with telecom companies to expand its subscriber base?</a:t>
            </a:r>
            <a:endParaRPr lang="en-CA" sz="5400" b="1" dirty="0">
              <a:solidFill>
                <a:schemeClr val="bg1">
                  <a:lumMod val="95000"/>
                </a:schemeClr>
              </a:solidFill>
              <a:latin typeface="Aptos (Body)"/>
            </a:endParaRPr>
          </a:p>
        </p:txBody>
      </p:sp>
      <p:sp>
        <p:nvSpPr>
          <p:cNvPr id="13" name="TextBox 12">
            <a:extLst>
              <a:ext uri="{FF2B5EF4-FFF2-40B4-BE49-F238E27FC236}">
                <a16:creationId xmlns:a16="http://schemas.microsoft.com/office/drawing/2014/main" id="{A50E751D-7D88-29A8-1803-53FCC48EAE48}"/>
              </a:ext>
            </a:extLst>
          </p:cNvPr>
          <p:cNvSpPr txBox="1"/>
          <p:nvPr/>
        </p:nvSpPr>
        <p:spPr>
          <a:xfrm>
            <a:off x="630000" y="1224000"/>
            <a:ext cx="11353800" cy="4398576"/>
          </a:xfrm>
          <a:prstGeom prst="rect">
            <a:avLst/>
          </a:prstGeom>
          <a:noFill/>
        </p:spPr>
        <p:txBody>
          <a:bodyPr wrap="square">
            <a:spAutoFit/>
          </a:bodyPr>
          <a:lstStyle/>
          <a:p>
            <a:pPr marL="342900" indent="-342900">
              <a:lnSpc>
                <a:spcPct val="150000"/>
              </a:lnSpc>
              <a:buFont typeface="+mj-lt"/>
              <a:buAutoNum type="arabicPeriod"/>
            </a:pPr>
            <a:r>
              <a:rPr lang="en-CA" sz="1600" b="1" dirty="0">
                <a:solidFill>
                  <a:schemeClr val="bg1">
                    <a:lumMod val="85000"/>
                  </a:schemeClr>
                </a:solidFill>
              </a:rPr>
              <a:t>Bundled Subscription Offers</a:t>
            </a:r>
          </a:p>
          <a:p>
            <a:pPr marL="800100" lvl="1" indent="-342900">
              <a:lnSpc>
                <a:spcPct val="150000"/>
              </a:lnSpc>
              <a:buFont typeface="Arial" panose="020B0604020202020204" pitchFamily="34" charset="0"/>
              <a:buChar char="•"/>
            </a:pPr>
            <a:r>
              <a:rPr lang="en-CA" sz="1400" b="1" dirty="0">
                <a:solidFill>
                  <a:schemeClr val="accent5"/>
                </a:solidFill>
              </a:rPr>
              <a:t>Strategy: </a:t>
            </a:r>
            <a:r>
              <a:rPr lang="en-CA" sz="1400" dirty="0">
                <a:solidFill>
                  <a:schemeClr val="bg1">
                    <a:lumMod val="85000"/>
                  </a:schemeClr>
                </a:solidFill>
              </a:rPr>
              <a:t>Integrate OTT subscriptions into mobile or broadband data plans (e.g., </a:t>
            </a:r>
            <a:r>
              <a:rPr lang="en-CA" sz="1400" dirty="0" err="1">
                <a:solidFill>
                  <a:schemeClr val="bg1">
                    <a:lumMod val="85000"/>
                  </a:schemeClr>
                </a:solidFill>
              </a:rPr>
              <a:t>LioCinema</a:t>
            </a:r>
            <a:r>
              <a:rPr lang="en-CA" sz="1400" dirty="0">
                <a:solidFill>
                  <a:schemeClr val="bg1">
                    <a:lumMod val="85000"/>
                  </a:schemeClr>
                </a:solidFill>
              </a:rPr>
              <a:t> bundled with Lio’s mobile plans).</a:t>
            </a:r>
          </a:p>
          <a:p>
            <a:pPr marL="800100" lvl="1" indent="-342900">
              <a:lnSpc>
                <a:spcPct val="150000"/>
              </a:lnSpc>
              <a:buFont typeface="Arial" panose="020B0604020202020204" pitchFamily="34" charset="0"/>
              <a:buChar char="•"/>
            </a:pPr>
            <a:r>
              <a:rPr lang="en-CA" sz="1400" b="1" dirty="0">
                <a:solidFill>
                  <a:schemeClr val="accent5"/>
                </a:solidFill>
              </a:rPr>
              <a:t>Benefit: </a:t>
            </a:r>
            <a:r>
              <a:rPr lang="en-CA" sz="1400" dirty="0">
                <a:solidFill>
                  <a:schemeClr val="bg1">
                    <a:lumMod val="85000"/>
                  </a:schemeClr>
                </a:solidFill>
              </a:rPr>
              <a:t>Immediate access to millions of telecom subscribers, enhancing visibility and convenience.</a:t>
            </a:r>
          </a:p>
          <a:p>
            <a:pPr marL="342900" indent="-342900">
              <a:lnSpc>
                <a:spcPct val="150000"/>
              </a:lnSpc>
              <a:buFont typeface="+mj-lt"/>
              <a:buAutoNum type="arabicPeriod"/>
            </a:pPr>
            <a:endParaRPr lang="en-CA" sz="1400" dirty="0">
              <a:solidFill>
                <a:schemeClr val="bg1">
                  <a:lumMod val="85000"/>
                </a:schemeClr>
              </a:solidFill>
            </a:endParaRPr>
          </a:p>
          <a:p>
            <a:pPr marL="342900" indent="-342900">
              <a:lnSpc>
                <a:spcPct val="150000"/>
              </a:lnSpc>
              <a:buFont typeface="+mj-lt"/>
              <a:buAutoNum type="arabicPeriod"/>
            </a:pPr>
            <a:r>
              <a:rPr lang="en-CA" sz="1600" b="1" dirty="0">
                <a:solidFill>
                  <a:schemeClr val="bg1">
                    <a:lumMod val="85000"/>
                  </a:schemeClr>
                </a:solidFill>
              </a:rPr>
              <a:t>Data Incentives &amp; Zero-Rating</a:t>
            </a:r>
          </a:p>
          <a:p>
            <a:pPr marL="800100" lvl="1" indent="-342900">
              <a:lnSpc>
                <a:spcPct val="150000"/>
              </a:lnSpc>
              <a:buFont typeface="Arial" panose="020B0604020202020204" pitchFamily="34" charset="0"/>
              <a:buChar char="•"/>
            </a:pPr>
            <a:r>
              <a:rPr lang="en-CA" sz="1400" b="1" dirty="0">
                <a:solidFill>
                  <a:schemeClr val="accent5"/>
                </a:solidFill>
              </a:rPr>
              <a:t>Strategy: </a:t>
            </a:r>
            <a:r>
              <a:rPr lang="en-CA" sz="1400" dirty="0">
                <a:solidFill>
                  <a:schemeClr val="bg1">
                    <a:lumMod val="85000"/>
                  </a:schemeClr>
                </a:solidFill>
              </a:rPr>
              <a:t>Offer zero-data charges or additional data incentives when subscribers stream content through partner telecom services.</a:t>
            </a:r>
          </a:p>
          <a:p>
            <a:pPr marL="800100" lvl="1" indent="-342900">
              <a:lnSpc>
                <a:spcPct val="150000"/>
              </a:lnSpc>
              <a:buFont typeface="Arial" panose="020B0604020202020204" pitchFamily="34" charset="0"/>
              <a:buChar char="•"/>
            </a:pPr>
            <a:r>
              <a:rPr lang="en-CA" sz="1400" b="1" dirty="0">
                <a:solidFill>
                  <a:schemeClr val="accent5"/>
                </a:solidFill>
              </a:rPr>
              <a:t>Benefit: </a:t>
            </a:r>
            <a:r>
              <a:rPr lang="en-CA" sz="1400" dirty="0">
                <a:solidFill>
                  <a:schemeClr val="bg1">
                    <a:lumMod val="85000"/>
                  </a:schemeClr>
                </a:solidFill>
              </a:rPr>
              <a:t>Encourages more viewing time, boosts engagement, and increases the perceived value of both services.</a:t>
            </a:r>
          </a:p>
          <a:p>
            <a:pPr marL="342900" indent="-342900">
              <a:lnSpc>
                <a:spcPct val="150000"/>
              </a:lnSpc>
              <a:buFont typeface="+mj-lt"/>
              <a:buAutoNum type="arabicPeriod"/>
            </a:pPr>
            <a:endParaRPr lang="en-CA" sz="1400" dirty="0">
              <a:solidFill>
                <a:schemeClr val="bg1">
                  <a:lumMod val="85000"/>
                </a:schemeClr>
              </a:solidFill>
            </a:endParaRPr>
          </a:p>
          <a:p>
            <a:pPr marL="342900" indent="-342900">
              <a:lnSpc>
                <a:spcPct val="150000"/>
              </a:lnSpc>
              <a:buFont typeface="+mj-lt"/>
              <a:buAutoNum type="arabicPeriod"/>
            </a:pPr>
            <a:r>
              <a:rPr lang="en-CA" sz="1600" b="1" dirty="0">
                <a:solidFill>
                  <a:schemeClr val="bg1">
                    <a:lumMod val="85000"/>
                  </a:schemeClr>
                </a:solidFill>
              </a:rPr>
              <a:t>Exclusive Content Collaborations</a:t>
            </a:r>
          </a:p>
          <a:p>
            <a:pPr marL="800100" lvl="1" indent="-342900">
              <a:lnSpc>
                <a:spcPct val="150000"/>
              </a:lnSpc>
              <a:buFont typeface="Arial" panose="020B0604020202020204" pitchFamily="34" charset="0"/>
              <a:buChar char="•"/>
            </a:pPr>
            <a:r>
              <a:rPr lang="en-CA" sz="1400" b="1" dirty="0">
                <a:solidFill>
                  <a:schemeClr val="accent5"/>
                </a:solidFill>
              </a:rPr>
              <a:t>Strategy: </a:t>
            </a:r>
            <a:r>
              <a:rPr lang="en-CA" sz="1400" dirty="0">
                <a:solidFill>
                  <a:schemeClr val="bg1">
                    <a:lumMod val="85000"/>
                  </a:schemeClr>
                </a:solidFill>
              </a:rPr>
              <a:t>Develop telecom-exclusive content packages, premieres, or early-access content, similar to </a:t>
            </a:r>
            <a:r>
              <a:rPr lang="en-CA" sz="1400" dirty="0" err="1">
                <a:solidFill>
                  <a:schemeClr val="bg1">
                    <a:lumMod val="85000"/>
                  </a:schemeClr>
                </a:solidFill>
              </a:rPr>
              <a:t>Jotstar’s</a:t>
            </a:r>
            <a:r>
              <a:rPr lang="en-CA" sz="1400" dirty="0">
                <a:solidFill>
                  <a:schemeClr val="bg1">
                    <a:lumMod val="85000"/>
                  </a:schemeClr>
                </a:solidFill>
              </a:rPr>
              <a:t> exclusive sports content offerings.</a:t>
            </a:r>
          </a:p>
          <a:p>
            <a:pPr marL="800100" lvl="1" indent="-342900">
              <a:lnSpc>
                <a:spcPct val="150000"/>
              </a:lnSpc>
              <a:buFont typeface="Arial" panose="020B0604020202020204" pitchFamily="34" charset="0"/>
              <a:buChar char="•"/>
            </a:pPr>
            <a:r>
              <a:rPr lang="en-CA" sz="1400" b="1" dirty="0">
                <a:solidFill>
                  <a:schemeClr val="accent5"/>
                </a:solidFill>
              </a:rPr>
              <a:t>Benefit: </a:t>
            </a:r>
            <a:r>
              <a:rPr lang="en-CA" sz="1400" dirty="0">
                <a:solidFill>
                  <a:schemeClr val="bg1">
                    <a:lumMod val="85000"/>
                  </a:schemeClr>
                </a:solidFill>
              </a:rPr>
              <a:t>Drives telecom users to adopt or upgrade their subscription plans to access exclusive offerings.</a:t>
            </a:r>
          </a:p>
          <a:p>
            <a:pPr marL="342900" indent="-342900">
              <a:lnSpc>
                <a:spcPct val="150000"/>
              </a:lnSpc>
              <a:buFont typeface="+mj-lt"/>
              <a:buAutoNum type="arabicPeriod"/>
            </a:pPr>
            <a:endParaRPr lang="en-CA" sz="1400" dirty="0">
              <a:solidFill>
                <a:schemeClr val="bg1">
                  <a:lumMod val="85000"/>
                </a:schemeClr>
              </a:solidFill>
            </a:endParaRPr>
          </a:p>
        </p:txBody>
      </p:sp>
    </p:spTree>
    <p:custDataLst>
      <p:tags r:id="rId1"/>
    </p:custDataLst>
    <p:extLst>
      <p:ext uri="{BB962C8B-B14F-4D97-AF65-F5344CB8AC3E}">
        <p14:creationId xmlns:p14="http://schemas.microsoft.com/office/powerpoint/2010/main" val="2558423501"/>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up)">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9E5A42-056D-CD78-5A97-81C98C4FA1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BB783C-032E-CC87-D05C-7269A84A511E}"/>
              </a:ext>
            </a:extLst>
          </p:cNvPr>
          <p:cNvSpPr>
            <a:spLocks noGrp="1"/>
          </p:cNvSpPr>
          <p:nvPr>
            <p:ph type="title"/>
          </p:nvPr>
        </p:nvSpPr>
        <p:spPr>
          <a:xfrm>
            <a:off x="1029970" y="313784"/>
            <a:ext cx="10087610" cy="833754"/>
          </a:xfrm>
        </p:spPr>
        <p:txBody>
          <a:bodyPr>
            <a:normAutofit/>
          </a:bodyPr>
          <a:lstStyle/>
          <a:p>
            <a:pPr algn="ctr"/>
            <a:r>
              <a:rPr lang="en-US" sz="1600" b="1" kern="100" dirty="0">
                <a:solidFill>
                  <a:schemeClr val="bg1">
                    <a:lumMod val="95000"/>
                  </a:schemeClr>
                </a:solidFill>
                <a:uFill>
                  <a:solidFill>
                    <a:srgbClr val="000000"/>
                  </a:solidFill>
                </a:uFill>
                <a:latin typeface="Aptos (Body)"/>
                <a:ea typeface="Calibri" panose="020F0502020204030204" pitchFamily="34" charset="0"/>
                <a:cs typeface="Calibri" panose="020F0502020204030204" pitchFamily="34" charset="0"/>
              </a:rPr>
              <a:t>4. How can the platform leverage partnerships with telecom companies to expand its subscriber base?</a:t>
            </a:r>
            <a:endParaRPr lang="en-CA" sz="5400" b="1" dirty="0">
              <a:solidFill>
                <a:schemeClr val="bg1">
                  <a:lumMod val="95000"/>
                </a:schemeClr>
              </a:solidFill>
              <a:latin typeface="Aptos (Body)"/>
            </a:endParaRPr>
          </a:p>
        </p:txBody>
      </p:sp>
      <p:sp>
        <p:nvSpPr>
          <p:cNvPr id="13" name="TextBox 12">
            <a:extLst>
              <a:ext uri="{FF2B5EF4-FFF2-40B4-BE49-F238E27FC236}">
                <a16:creationId xmlns:a16="http://schemas.microsoft.com/office/drawing/2014/main" id="{5943396A-BDAC-1442-7F2F-5F7CFE76A1DB}"/>
              </a:ext>
            </a:extLst>
          </p:cNvPr>
          <p:cNvSpPr txBox="1"/>
          <p:nvPr/>
        </p:nvSpPr>
        <p:spPr>
          <a:xfrm>
            <a:off x="630000" y="1224000"/>
            <a:ext cx="11353800" cy="2413418"/>
          </a:xfrm>
          <a:prstGeom prst="rect">
            <a:avLst/>
          </a:prstGeom>
          <a:noFill/>
        </p:spPr>
        <p:txBody>
          <a:bodyPr wrap="square">
            <a:spAutoFit/>
          </a:bodyPr>
          <a:lstStyle/>
          <a:p>
            <a:pPr marL="342900" indent="-342900">
              <a:lnSpc>
                <a:spcPct val="150000"/>
              </a:lnSpc>
              <a:buFont typeface="+mj-lt"/>
              <a:buAutoNum type="arabicPeriod" startAt="4"/>
            </a:pPr>
            <a:r>
              <a:rPr lang="en-CA" sz="1600" b="1" dirty="0">
                <a:solidFill>
                  <a:schemeClr val="bg1">
                    <a:lumMod val="85000"/>
                  </a:schemeClr>
                </a:solidFill>
              </a:rPr>
              <a:t>Joint Marketing and Promotions</a:t>
            </a:r>
          </a:p>
          <a:p>
            <a:pPr marL="800100" lvl="1" indent="-342900">
              <a:lnSpc>
                <a:spcPct val="150000"/>
              </a:lnSpc>
              <a:buFont typeface="Arial" panose="020B0604020202020204" pitchFamily="34" charset="0"/>
              <a:buChar char="•"/>
            </a:pPr>
            <a:r>
              <a:rPr lang="en-CA" sz="1400" b="1" dirty="0">
                <a:solidFill>
                  <a:schemeClr val="accent5"/>
                </a:solidFill>
              </a:rPr>
              <a:t>Strategy: </a:t>
            </a:r>
            <a:r>
              <a:rPr lang="en-CA" sz="1400" dirty="0">
                <a:solidFill>
                  <a:schemeClr val="bg1">
                    <a:lumMod val="85000"/>
                  </a:schemeClr>
                </a:solidFill>
              </a:rPr>
              <a:t>Collaborate on marketing campaigns through telecom channels—SMS marketing, telecom apps, physical stores, and websites.</a:t>
            </a:r>
          </a:p>
          <a:p>
            <a:pPr marL="800100" lvl="1" indent="-342900">
              <a:lnSpc>
                <a:spcPct val="150000"/>
              </a:lnSpc>
              <a:buFont typeface="Arial" panose="020B0604020202020204" pitchFamily="34" charset="0"/>
              <a:buChar char="•"/>
            </a:pPr>
            <a:r>
              <a:rPr lang="en-CA" sz="1400" b="1" dirty="0">
                <a:solidFill>
                  <a:schemeClr val="accent5"/>
                </a:solidFill>
              </a:rPr>
              <a:t>Benefit: </a:t>
            </a:r>
            <a:r>
              <a:rPr lang="en-CA" sz="1400" dirty="0">
                <a:solidFill>
                  <a:schemeClr val="bg1">
                    <a:lumMod val="85000"/>
                  </a:schemeClr>
                </a:solidFill>
              </a:rPr>
              <a:t>Increased visibility, consumer trust, and faster user acquisition.</a:t>
            </a:r>
          </a:p>
          <a:p>
            <a:pPr marL="342900" indent="-342900">
              <a:lnSpc>
                <a:spcPct val="150000"/>
              </a:lnSpc>
              <a:buFont typeface="+mj-lt"/>
              <a:buAutoNum type="arabicPeriod" startAt="4"/>
            </a:pPr>
            <a:endParaRPr lang="en-CA" sz="1400" dirty="0">
              <a:solidFill>
                <a:schemeClr val="bg1">
                  <a:lumMod val="85000"/>
                </a:schemeClr>
              </a:solidFill>
            </a:endParaRPr>
          </a:p>
          <a:p>
            <a:pPr marL="342900" indent="-342900">
              <a:lnSpc>
                <a:spcPct val="150000"/>
              </a:lnSpc>
              <a:buFont typeface="+mj-lt"/>
              <a:buAutoNum type="arabicPeriod" startAt="4"/>
            </a:pPr>
            <a:r>
              <a:rPr lang="en-CA" sz="1600" b="1" dirty="0">
                <a:solidFill>
                  <a:schemeClr val="bg1">
                    <a:lumMod val="85000"/>
                  </a:schemeClr>
                </a:solidFill>
              </a:rPr>
              <a:t>Flexible Payment Integration</a:t>
            </a:r>
          </a:p>
          <a:p>
            <a:pPr marL="800100" lvl="1" indent="-342900">
              <a:lnSpc>
                <a:spcPct val="150000"/>
              </a:lnSpc>
              <a:buFont typeface="Arial" panose="020B0604020202020204" pitchFamily="34" charset="0"/>
              <a:buChar char="•"/>
            </a:pPr>
            <a:r>
              <a:rPr lang="en-CA" sz="1400" b="1" dirty="0">
                <a:solidFill>
                  <a:schemeClr val="accent5"/>
                </a:solidFill>
              </a:rPr>
              <a:t>Strategy: </a:t>
            </a:r>
            <a:r>
              <a:rPr lang="en-CA" sz="1400" dirty="0">
                <a:solidFill>
                  <a:schemeClr val="bg1">
                    <a:lumMod val="85000"/>
                  </a:schemeClr>
                </a:solidFill>
              </a:rPr>
              <a:t>Facilitate payments directly via telecom billing or prepaid mobile balance deductions.</a:t>
            </a:r>
          </a:p>
          <a:p>
            <a:pPr marL="800100" lvl="1" indent="-342900">
              <a:lnSpc>
                <a:spcPct val="150000"/>
              </a:lnSpc>
              <a:buFont typeface="Arial" panose="020B0604020202020204" pitchFamily="34" charset="0"/>
              <a:buChar char="•"/>
            </a:pPr>
            <a:r>
              <a:rPr lang="en-CA" sz="1400" b="1" dirty="0">
                <a:solidFill>
                  <a:schemeClr val="accent5"/>
                </a:solidFill>
              </a:rPr>
              <a:t>Benefit: </a:t>
            </a:r>
            <a:r>
              <a:rPr lang="en-CA" sz="1400" dirty="0">
                <a:solidFill>
                  <a:schemeClr val="bg1">
                    <a:lumMod val="85000"/>
                  </a:schemeClr>
                </a:solidFill>
              </a:rPr>
              <a:t>Simplifies the subscription process, improving conversion rates especially among Tier 2 and Tier 3 audiences.</a:t>
            </a:r>
          </a:p>
        </p:txBody>
      </p:sp>
    </p:spTree>
    <p:custDataLst>
      <p:tags r:id="rId1"/>
    </p:custDataLst>
    <p:extLst>
      <p:ext uri="{BB962C8B-B14F-4D97-AF65-F5344CB8AC3E}">
        <p14:creationId xmlns:p14="http://schemas.microsoft.com/office/powerpoint/2010/main" val="1239177348"/>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up)">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13469-9A5D-7334-8E77-A3722FF331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4E4307-25B1-F344-B5CB-913C91ECEB41}"/>
              </a:ext>
            </a:extLst>
          </p:cNvPr>
          <p:cNvSpPr>
            <a:spLocks noGrp="1"/>
          </p:cNvSpPr>
          <p:nvPr>
            <p:ph type="title"/>
          </p:nvPr>
        </p:nvSpPr>
        <p:spPr>
          <a:xfrm>
            <a:off x="1029970" y="313784"/>
            <a:ext cx="10087610" cy="833754"/>
          </a:xfrm>
        </p:spPr>
        <p:txBody>
          <a:bodyPr>
            <a:normAutofit/>
          </a:bodyPr>
          <a:lstStyle/>
          <a:p>
            <a:pPr algn="ctr"/>
            <a:r>
              <a:rPr lang="en-US" sz="1600" b="1" kern="100" dirty="0">
                <a:solidFill>
                  <a:schemeClr val="bg1">
                    <a:lumMod val="95000"/>
                  </a:schemeClr>
                </a:solidFill>
                <a:uFill>
                  <a:solidFill>
                    <a:srgbClr val="000000"/>
                  </a:solidFill>
                </a:uFill>
                <a:latin typeface="Aptos (Body)"/>
                <a:ea typeface="Calibri" panose="020F0502020204030204" pitchFamily="34" charset="0"/>
                <a:cs typeface="Calibri" panose="020F0502020204030204" pitchFamily="34" charset="0"/>
              </a:rPr>
              <a:t>5. What role can AI and machine learning play in personalizing the user experience and improving content discovery?</a:t>
            </a:r>
            <a:endParaRPr lang="en-CA" sz="5400" b="1" dirty="0">
              <a:solidFill>
                <a:schemeClr val="bg1">
                  <a:lumMod val="95000"/>
                </a:schemeClr>
              </a:solidFill>
              <a:latin typeface="Aptos (Body)"/>
            </a:endParaRPr>
          </a:p>
        </p:txBody>
      </p:sp>
      <p:sp>
        <p:nvSpPr>
          <p:cNvPr id="13" name="TextBox 12">
            <a:extLst>
              <a:ext uri="{FF2B5EF4-FFF2-40B4-BE49-F238E27FC236}">
                <a16:creationId xmlns:a16="http://schemas.microsoft.com/office/drawing/2014/main" id="{900ED81A-436E-279B-9EA7-C05770F31D1C}"/>
              </a:ext>
            </a:extLst>
          </p:cNvPr>
          <p:cNvSpPr txBox="1"/>
          <p:nvPr/>
        </p:nvSpPr>
        <p:spPr>
          <a:xfrm>
            <a:off x="626400" y="1224000"/>
            <a:ext cx="11439525" cy="4075411"/>
          </a:xfrm>
          <a:prstGeom prst="rect">
            <a:avLst/>
          </a:prstGeom>
          <a:noFill/>
        </p:spPr>
        <p:txBody>
          <a:bodyPr wrap="square">
            <a:spAutoFit/>
          </a:bodyPr>
          <a:lstStyle/>
          <a:p>
            <a:pPr marL="342900" indent="-342900">
              <a:lnSpc>
                <a:spcPct val="150000"/>
              </a:lnSpc>
              <a:buFont typeface="+mj-lt"/>
              <a:buAutoNum type="arabicPeriod"/>
            </a:pPr>
            <a:r>
              <a:rPr lang="en-CA" sz="1600" b="1" dirty="0">
                <a:solidFill>
                  <a:schemeClr val="bg1">
                    <a:lumMod val="85000"/>
                  </a:schemeClr>
                </a:solidFill>
              </a:rPr>
              <a:t>Personalized Recommendations</a:t>
            </a:r>
          </a:p>
          <a:p>
            <a:pPr marL="800100" lvl="1" indent="-342900">
              <a:lnSpc>
                <a:spcPct val="150000"/>
              </a:lnSpc>
              <a:buFont typeface="Arial" panose="020B0604020202020204" pitchFamily="34" charset="0"/>
              <a:buChar char="•"/>
            </a:pPr>
            <a:r>
              <a:rPr lang="en-CA" sz="1400" b="1" dirty="0">
                <a:solidFill>
                  <a:schemeClr val="accent5"/>
                </a:solidFill>
              </a:rPr>
              <a:t>AI Capability: </a:t>
            </a:r>
            <a:r>
              <a:rPr lang="en-CA" sz="1400" dirty="0">
                <a:solidFill>
                  <a:schemeClr val="bg1">
                    <a:lumMod val="85000"/>
                  </a:schemeClr>
                </a:solidFill>
              </a:rPr>
              <a:t>Analyze users' viewing history, preferences, and interactions.</a:t>
            </a:r>
          </a:p>
          <a:p>
            <a:pPr marL="800100" lvl="1" indent="-342900">
              <a:lnSpc>
                <a:spcPct val="150000"/>
              </a:lnSpc>
              <a:buFont typeface="Arial" panose="020B0604020202020204" pitchFamily="34" charset="0"/>
              <a:buChar char="•"/>
            </a:pPr>
            <a:r>
              <a:rPr lang="en-CA" sz="1400" b="1" dirty="0">
                <a:solidFill>
                  <a:schemeClr val="accent5"/>
                </a:solidFill>
              </a:rPr>
              <a:t>Benefit: </a:t>
            </a:r>
            <a:r>
              <a:rPr lang="en-CA" sz="1400" dirty="0">
                <a:solidFill>
                  <a:schemeClr val="bg1">
                    <a:lumMod val="85000"/>
                  </a:schemeClr>
                </a:solidFill>
              </a:rPr>
              <a:t>Deliver customized suggestions, increasing engagement and reducing churn.</a:t>
            </a:r>
          </a:p>
          <a:p>
            <a:pPr marL="342900" indent="-342900">
              <a:lnSpc>
                <a:spcPct val="150000"/>
              </a:lnSpc>
              <a:buFont typeface="+mj-lt"/>
              <a:buAutoNum type="arabicPeriod"/>
            </a:pPr>
            <a:endParaRPr lang="en-CA" sz="1400" dirty="0">
              <a:solidFill>
                <a:schemeClr val="bg1">
                  <a:lumMod val="85000"/>
                </a:schemeClr>
              </a:solidFill>
            </a:endParaRPr>
          </a:p>
          <a:p>
            <a:pPr marL="342900" indent="-342900">
              <a:lnSpc>
                <a:spcPct val="150000"/>
              </a:lnSpc>
              <a:buFont typeface="+mj-lt"/>
              <a:buAutoNum type="arabicPeriod"/>
            </a:pPr>
            <a:r>
              <a:rPr lang="en-CA" sz="1600" b="1" dirty="0">
                <a:solidFill>
                  <a:schemeClr val="bg1">
                    <a:lumMod val="85000"/>
                  </a:schemeClr>
                </a:solidFill>
              </a:rPr>
              <a:t>Dynamic Homepage &amp; Content Curation</a:t>
            </a:r>
          </a:p>
          <a:p>
            <a:pPr marL="800100" lvl="1" indent="-342900">
              <a:lnSpc>
                <a:spcPct val="150000"/>
              </a:lnSpc>
              <a:buFont typeface="Arial" panose="020B0604020202020204" pitchFamily="34" charset="0"/>
              <a:buChar char="•"/>
            </a:pPr>
            <a:r>
              <a:rPr lang="en-CA" sz="1400" b="1" dirty="0">
                <a:solidFill>
                  <a:schemeClr val="accent5"/>
                </a:solidFill>
              </a:rPr>
              <a:t>AI Capability: </a:t>
            </a:r>
            <a:r>
              <a:rPr lang="en-CA" sz="1400" dirty="0">
                <a:solidFill>
                  <a:schemeClr val="bg1">
                    <a:lumMod val="85000"/>
                  </a:schemeClr>
                </a:solidFill>
              </a:rPr>
              <a:t>Dynamically adjust the homepage layout based on individual user interests, trending content, or regional popularity.</a:t>
            </a:r>
          </a:p>
          <a:p>
            <a:pPr marL="800100" lvl="1" indent="-342900">
              <a:lnSpc>
                <a:spcPct val="150000"/>
              </a:lnSpc>
              <a:buFont typeface="Arial" panose="020B0604020202020204" pitchFamily="34" charset="0"/>
              <a:buChar char="•"/>
            </a:pPr>
            <a:r>
              <a:rPr lang="en-CA" sz="1400" b="1" dirty="0">
                <a:solidFill>
                  <a:schemeClr val="accent5"/>
                </a:solidFill>
              </a:rPr>
              <a:t>Benefit: </a:t>
            </a:r>
            <a:r>
              <a:rPr lang="en-CA" sz="1400" dirty="0">
                <a:solidFill>
                  <a:schemeClr val="bg1">
                    <a:lumMod val="85000"/>
                  </a:schemeClr>
                </a:solidFill>
              </a:rPr>
              <a:t>Faster content discovery and improved viewer satisfaction.</a:t>
            </a:r>
          </a:p>
          <a:p>
            <a:pPr marL="342900" indent="-342900">
              <a:lnSpc>
                <a:spcPct val="150000"/>
              </a:lnSpc>
              <a:buFont typeface="+mj-lt"/>
              <a:buAutoNum type="arabicPeriod"/>
            </a:pPr>
            <a:endParaRPr lang="en-CA" sz="1400" dirty="0">
              <a:solidFill>
                <a:schemeClr val="bg1">
                  <a:lumMod val="85000"/>
                </a:schemeClr>
              </a:solidFill>
            </a:endParaRPr>
          </a:p>
          <a:p>
            <a:pPr marL="342900" indent="-342900">
              <a:lnSpc>
                <a:spcPct val="150000"/>
              </a:lnSpc>
              <a:buFont typeface="+mj-lt"/>
              <a:buAutoNum type="arabicPeriod"/>
            </a:pPr>
            <a:r>
              <a:rPr lang="en-CA" sz="1600" b="1" dirty="0">
                <a:solidFill>
                  <a:schemeClr val="bg1">
                    <a:lumMod val="85000"/>
                  </a:schemeClr>
                </a:solidFill>
              </a:rPr>
              <a:t>Predictive Analytics for User Retention</a:t>
            </a:r>
          </a:p>
          <a:p>
            <a:pPr marL="800100" lvl="1" indent="-342900">
              <a:lnSpc>
                <a:spcPct val="150000"/>
              </a:lnSpc>
              <a:buFont typeface="Arial" panose="020B0604020202020204" pitchFamily="34" charset="0"/>
              <a:buChar char="•"/>
            </a:pPr>
            <a:r>
              <a:rPr lang="en-CA" sz="1400" b="1" dirty="0">
                <a:solidFill>
                  <a:schemeClr val="accent5"/>
                </a:solidFill>
              </a:rPr>
              <a:t>AI Capability: </a:t>
            </a:r>
            <a:r>
              <a:rPr lang="en-CA" sz="1400" dirty="0">
                <a:solidFill>
                  <a:schemeClr val="bg1">
                    <a:lumMod val="85000"/>
                  </a:schemeClr>
                </a:solidFill>
              </a:rPr>
              <a:t>Predict which users might become inactive or downgrade subscriptions.</a:t>
            </a:r>
          </a:p>
          <a:p>
            <a:pPr marL="800100" lvl="1" indent="-342900">
              <a:lnSpc>
                <a:spcPct val="150000"/>
              </a:lnSpc>
              <a:buFont typeface="Arial" panose="020B0604020202020204" pitchFamily="34" charset="0"/>
              <a:buChar char="•"/>
            </a:pPr>
            <a:r>
              <a:rPr lang="en-CA" sz="1400" b="1" dirty="0">
                <a:solidFill>
                  <a:schemeClr val="accent5"/>
                </a:solidFill>
              </a:rPr>
              <a:t>Benefit: </a:t>
            </a:r>
            <a:r>
              <a:rPr lang="en-CA" sz="1400" dirty="0">
                <a:solidFill>
                  <a:schemeClr val="bg1">
                    <a:lumMod val="85000"/>
                  </a:schemeClr>
                </a:solidFill>
              </a:rPr>
              <a:t>Implement proactive strategies (e.g., personalized offers or recommendations) to retain and re-engage these users.</a:t>
            </a:r>
          </a:p>
          <a:p>
            <a:pPr marL="342900" indent="-342900">
              <a:lnSpc>
                <a:spcPct val="150000"/>
              </a:lnSpc>
              <a:buFont typeface="+mj-lt"/>
              <a:buAutoNum type="arabicPeriod"/>
            </a:pPr>
            <a:endParaRPr lang="en-CA" sz="1400" dirty="0">
              <a:solidFill>
                <a:schemeClr val="bg1">
                  <a:lumMod val="85000"/>
                </a:schemeClr>
              </a:solidFill>
            </a:endParaRPr>
          </a:p>
        </p:txBody>
      </p:sp>
    </p:spTree>
    <p:custDataLst>
      <p:tags r:id="rId1"/>
    </p:custDataLst>
    <p:extLst>
      <p:ext uri="{BB962C8B-B14F-4D97-AF65-F5344CB8AC3E}">
        <p14:creationId xmlns:p14="http://schemas.microsoft.com/office/powerpoint/2010/main" val="75970880"/>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up)">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F3174-65A9-4913-8787-ECBF5126BF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2493AD-6CD0-86DA-92E3-2C8AA5A63F07}"/>
              </a:ext>
            </a:extLst>
          </p:cNvPr>
          <p:cNvSpPr>
            <a:spLocks noGrp="1"/>
          </p:cNvSpPr>
          <p:nvPr>
            <p:ph type="title"/>
          </p:nvPr>
        </p:nvSpPr>
        <p:spPr>
          <a:xfrm>
            <a:off x="1029970" y="313784"/>
            <a:ext cx="10087610" cy="833754"/>
          </a:xfrm>
        </p:spPr>
        <p:txBody>
          <a:bodyPr>
            <a:normAutofit/>
          </a:bodyPr>
          <a:lstStyle/>
          <a:p>
            <a:pPr algn="ctr"/>
            <a:r>
              <a:rPr lang="en-US" sz="1600" b="1" kern="100" dirty="0">
                <a:solidFill>
                  <a:schemeClr val="bg1">
                    <a:lumMod val="95000"/>
                  </a:schemeClr>
                </a:solidFill>
                <a:uFill>
                  <a:solidFill>
                    <a:srgbClr val="000000"/>
                  </a:solidFill>
                </a:uFill>
                <a:latin typeface="Aptos (Body)"/>
                <a:ea typeface="Calibri" panose="020F0502020204030204" pitchFamily="34" charset="0"/>
                <a:cs typeface="Calibri" panose="020F0502020204030204" pitchFamily="34" charset="0"/>
              </a:rPr>
              <a:t>5. What role can AI and machine learning play in personalizing the user experience and improving content discovery?</a:t>
            </a:r>
            <a:endParaRPr lang="en-CA" sz="5400" b="1" dirty="0">
              <a:solidFill>
                <a:schemeClr val="bg1">
                  <a:lumMod val="95000"/>
                </a:schemeClr>
              </a:solidFill>
              <a:latin typeface="Aptos (Body)"/>
            </a:endParaRPr>
          </a:p>
        </p:txBody>
      </p:sp>
      <p:sp>
        <p:nvSpPr>
          <p:cNvPr id="13" name="TextBox 12">
            <a:extLst>
              <a:ext uri="{FF2B5EF4-FFF2-40B4-BE49-F238E27FC236}">
                <a16:creationId xmlns:a16="http://schemas.microsoft.com/office/drawing/2014/main" id="{F472934A-4FFE-DAAB-A654-B22D3140488B}"/>
              </a:ext>
            </a:extLst>
          </p:cNvPr>
          <p:cNvSpPr txBox="1"/>
          <p:nvPr/>
        </p:nvSpPr>
        <p:spPr>
          <a:xfrm>
            <a:off x="630000" y="1224000"/>
            <a:ext cx="11439525" cy="2413418"/>
          </a:xfrm>
          <a:prstGeom prst="rect">
            <a:avLst/>
          </a:prstGeom>
          <a:noFill/>
        </p:spPr>
        <p:txBody>
          <a:bodyPr wrap="square">
            <a:spAutoFit/>
          </a:bodyPr>
          <a:lstStyle/>
          <a:p>
            <a:pPr marL="342900" indent="-342900">
              <a:lnSpc>
                <a:spcPct val="150000"/>
              </a:lnSpc>
              <a:buFont typeface="+mj-lt"/>
              <a:buAutoNum type="arabicPeriod" startAt="4"/>
            </a:pPr>
            <a:r>
              <a:rPr lang="en-CA" sz="1600" b="1" dirty="0">
                <a:solidFill>
                  <a:schemeClr val="bg1">
                    <a:lumMod val="85000"/>
                  </a:schemeClr>
                </a:solidFill>
              </a:rPr>
              <a:t>Enhanced Search &amp; Discovery</a:t>
            </a:r>
          </a:p>
          <a:p>
            <a:pPr marL="800100" lvl="1" indent="-342900">
              <a:lnSpc>
                <a:spcPct val="150000"/>
              </a:lnSpc>
              <a:buFont typeface="Arial" panose="020B0604020202020204" pitchFamily="34" charset="0"/>
              <a:buChar char="•"/>
            </a:pPr>
            <a:r>
              <a:rPr lang="en-CA" sz="1400" b="1" dirty="0">
                <a:solidFill>
                  <a:schemeClr val="accent5"/>
                </a:solidFill>
              </a:rPr>
              <a:t>AI Capability: </a:t>
            </a:r>
            <a:r>
              <a:rPr lang="en-CA" sz="1400" dirty="0">
                <a:solidFill>
                  <a:schemeClr val="bg1">
                    <a:lumMod val="85000"/>
                  </a:schemeClr>
                </a:solidFill>
              </a:rPr>
              <a:t>Utilize Natural Language Processing (NLP) for smarter searches, better language detection, and content tagging.</a:t>
            </a:r>
          </a:p>
          <a:p>
            <a:pPr marL="800100" lvl="1" indent="-342900">
              <a:lnSpc>
                <a:spcPct val="150000"/>
              </a:lnSpc>
              <a:buFont typeface="Arial" panose="020B0604020202020204" pitchFamily="34" charset="0"/>
              <a:buChar char="•"/>
            </a:pPr>
            <a:r>
              <a:rPr lang="en-CA" sz="1400" b="1" dirty="0">
                <a:solidFill>
                  <a:schemeClr val="accent5"/>
                </a:solidFill>
              </a:rPr>
              <a:t>Benefit: </a:t>
            </a:r>
            <a:r>
              <a:rPr lang="en-CA" sz="1400" dirty="0">
                <a:solidFill>
                  <a:schemeClr val="bg1">
                    <a:lumMod val="85000"/>
                  </a:schemeClr>
                </a:solidFill>
              </a:rPr>
              <a:t>Users find relevant content quicker, improving satisfaction and platform usage.</a:t>
            </a:r>
          </a:p>
          <a:p>
            <a:pPr marL="342900" indent="-342900">
              <a:lnSpc>
                <a:spcPct val="150000"/>
              </a:lnSpc>
              <a:buFont typeface="+mj-lt"/>
              <a:buAutoNum type="arabicPeriod" startAt="4"/>
            </a:pPr>
            <a:endParaRPr lang="en-CA" sz="1400" dirty="0">
              <a:solidFill>
                <a:schemeClr val="bg1">
                  <a:lumMod val="85000"/>
                </a:schemeClr>
              </a:solidFill>
            </a:endParaRPr>
          </a:p>
          <a:p>
            <a:pPr marL="342900" indent="-342900">
              <a:lnSpc>
                <a:spcPct val="150000"/>
              </a:lnSpc>
              <a:buFont typeface="+mj-lt"/>
              <a:buAutoNum type="arabicPeriod" startAt="4"/>
            </a:pPr>
            <a:r>
              <a:rPr lang="en-CA" sz="1600" b="1" dirty="0">
                <a:solidFill>
                  <a:schemeClr val="bg1">
                    <a:lumMod val="85000"/>
                  </a:schemeClr>
                </a:solidFill>
              </a:rPr>
              <a:t>Content Performance Forecasting</a:t>
            </a:r>
          </a:p>
          <a:p>
            <a:pPr marL="800100" lvl="1" indent="-342900">
              <a:lnSpc>
                <a:spcPct val="150000"/>
              </a:lnSpc>
              <a:buFont typeface="Arial" panose="020B0604020202020204" pitchFamily="34" charset="0"/>
              <a:buChar char="•"/>
            </a:pPr>
            <a:r>
              <a:rPr lang="en-CA" sz="1400" b="1" dirty="0">
                <a:solidFill>
                  <a:schemeClr val="accent5"/>
                </a:solidFill>
              </a:rPr>
              <a:t>AI Capability: </a:t>
            </a:r>
            <a:r>
              <a:rPr lang="en-CA" sz="1400" dirty="0">
                <a:solidFill>
                  <a:schemeClr val="bg1">
                    <a:lumMod val="85000"/>
                  </a:schemeClr>
                </a:solidFill>
              </a:rPr>
              <a:t>Predict content performance by analyzing viewership data, user engagement, and regional preferences.</a:t>
            </a:r>
          </a:p>
          <a:p>
            <a:pPr marL="800100" lvl="1" indent="-342900">
              <a:lnSpc>
                <a:spcPct val="150000"/>
              </a:lnSpc>
              <a:buFont typeface="Arial" panose="020B0604020202020204" pitchFamily="34" charset="0"/>
              <a:buChar char="•"/>
            </a:pPr>
            <a:r>
              <a:rPr lang="en-CA" sz="1400" b="1" dirty="0">
                <a:solidFill>
                  <a:schemeClr val="accent5"/>
                </a:solidFill>
              </a:rPr>
              <a:t>Benefit: </a:t>
            </a:r>
            <a:r>
              <a:rPr lang="en-CA" sz="1400" dirty="0">
                <a:solidFill>
                  <a:schemeClr val="bg1">
                    <a:lumMod val="85000"/>
                  </a:schemeClr>
                </a:solidFill>
              </a:rPr>
              <a:t>Enables informed decisions on future content acquisition and creation, optimizing content investments.</a:t>
            </a:r>
          </a:p>
        </p:txBody>
      </p:sp>
    </p:spTree>
    <p:custDataLst>
      <p:tags r:id="rId1"/>
    </p:custDataLst>
    <p:extLst>
      <p:ext uri="{BB962C8B-B14F-4D97-AF65-F5344CB8AC3E}">
        <p14:creationId xmlns:p14="http://schemas.microsoft.com/office/powerpoint/2010/main" val="1974294854"/>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up)">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D2162-4146-1CD1-6F87-04EF153954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CA6580-D7E5-F2F4-F17C-71CB02C8591E}"/>
              </a:ext>
            </a:extLst>
          </p:cNvPr>
          <p:cNvSpPr>
            <a:spLocks noGrp="1"/>
          </p:cNvSpPr>
          <p:nvPr>
            <p:ph type="title"/>
          </p:nvPr>
        </p:nvSpPr>
        <p:spPr>
          <a:xfrm>
            <a:off x="1029970" y="313784"/>
            <a:ext cx="10087610" cy="833754"/>
          </a:xfrm>
        </p:spPr>
        <p:txBody>
          <a:bodyPr>
            <a:normAutofit/>
          </a:bodyPr>
          <a:lstStyle/>
          <a:p>
            <a:pPr algn="ctr"/>
            <a:r>
              <a:rPr lang="en-US" sz="1600" b="1" kern="100" dirty="0">
                <a:solidFill>
                  <a:schemeClr val="bg1">
                    <a:lumMod val="95000"/>
                  </a:schemeClr>
                </a:solidFill>
                <a:uFill>
                  <a:solidFill>
                    <a:srgbClr val="000000"/>
                  </a:solidFill>
                </a:uFill>
                <a:latin typeface="Aptos (Body)"/>
                <a:ea typeface="Calibri" panose="020F0502020204030204" pitchFamily="34" charset="0"/>
                <a:cs typeface="Calibri" panose="020F0502020204030204" pitchFamily="34" charset="0"/>
              </a:rPr>
              <a:t>6. Who should be the brand ambassador for the newly merged OTT platform (</a:t>
            </a:r>
            <a:r>
              <a:rPr lang="en-US" sz="1600" b="1" kern="100" dirty="0" err="1">
                <a:solidFill>
                  <a:schemeClr val="bg1">
                    <a:lumMod val="95000"/>
                  </a:schemeClr>
                </a:solidFill>
                <a:uFill>
                  <a:solidFill>
                    <a:srgbClr val="000000"/>
                  </a:solidFill>
                </a:uFill>
                <a:latin typeface="Aptos (Body)"/>
                <a:ea typeface="Calibri" panose="020F0502020204030204" pitchFamily="34" charset="0"/>
                <a:cs typeface="Calibri" panose="020F0502020204030204" pitchFamily="34" charset="0"/>
              </a:rPr>
              <a:t>LioCinema-Jotstar</a:t>
            </a:r>
            <a:r>
              <a:rPr lang="en-US" sz="1600" b="1" kern="100" dirty="0">
                <a:solidFill>
                  <a:schemeClr val="bg1">
                    <a:lumMod val="95000"/>
                  </a:schemeClr>
                </a:solidFill>
                <a:uFill>
                  <a:solidFill>
                    <a:srgbClr val="000000"/>
                  </a:solidFill>
                </a:uFill>
                <a:latin typeface="Aptos (Body)"/>
                <a:ea typeface="Calibri" panose="020F0502020204030204" pitchFamily="34" charset="0"/>
                <a:cs typeface="Calibri" panose="020F0502020204030204" pitchFamily="34" charset="0"/>
              </a:rPr>
              <a:t>) to effectively represent its identity and attract a diverse audience?</a:t>
            </a:r>
            <a:endParaRPr lang="en-CA" sz="5400" b="1" dirty="0">
              <a:solidFill>
                <a:schemeClr val="bg1">
                  <a:lumMod val="95000"/>
                </a:schemeClr>
              </a:solidFill>
              <a:latin typeface="Aptos (Body)"/>
            </a:endParaRPr>
          </a:p>
        </p:txBody>
      </p:sp>
      <p:grpSp>
        <p:nvGrpSpPr>
          <p:cNvPr id="27" name="Group 26">
            <a:extLst>
              <a:ext uri="{FF2B5EF4-FFF2-40B4-BE49-F238E27FC236}">
                <a16:creationId xmlns:a16="http://schemas.microsoft.com/office/drawing/2014/main" id="{4D5133D1-A1D7-3B75-91B6-606DB79CDDC0}"/>
              </a:ext>
            </a:extLst>
          </p:cNvPr>
          <p:cNvGrpSpPr/>
          <p:nvPr/>
        </p:nvGrpSpPr>
        <p:grpSpPr>
          <a:xfrm>
            <a:off x="2489598" y="1379022"/>
            <a:ext cx="2105025" cy="4594998"/>
            <a:chOff x="2489598" y="1379022"/>
            <a:chExt cx="2105025" cy="4594998"/>
          </a:xfrm>
        </p:grpSpPr>
        <p:sp>
          <p:nvSpPr>
            <p:cNvPr id="6" name="TextBox 5">
              <a:extLst>
                <a:ext uri="{FF2B5EF4-FFF2-40B4-BE49-F238E27FC236}">
                  <a16:creationId xmlns:a16="http://schemas.microsoft.com/office/drawing/2014/main" id="{B8D9C533-C33D-F41E-43BB-C093E8C13A57}"/>
                </a:ext>
              </a:extLst>
            </p:cNvPr>
            <p:cNvSpPr txBox="1"/>
            <p:nvPr/>
          </p:nvSpPr>
          <p:spPr>
            <a:xfrm>
              <a:off x="2489598" y="3234809"/>
              <a:ext cx="2105025" cy="2739211"/>
            </a:xfrm>
            <a:prstGeom prst="rect">
              <a:avLst/>
            </a:prstGeom>
            <a:noFill/>
          </p:spPr>
          <p:txBody>
            <a:bodyPr wrap="square">
              <a:spAutoFit/>
            </a:bodyPr>
            <a:lstStyle/>
            <a:p>
              <a:pPr algn="ctr">
                <a:buNone/>
              </a:pPr>
              <a:r>
                <a:rPr lang="en-US" b="1" dirty="0">
                  <a:solidFill>
                    <a:schemeClr val="bg1">
                      <a:lumMod val="85000"/>
                    </a:schemeClr>
                  </a:solidFill>
                </a:rPr>
                <a:t>Pankaj Tripathi</a:t>
              </a:r>
            </a:p>
            <a:p>
              <a:pPr algn="ctr">
                <a:buNone/>
              </a:pPr>
              <a:endParaRPr lang="en-US" sz="1400" b="1" dirty="0">
                <a:solidFill>
                  <a:schemeClr val="bg1">
                    <a:lumMod val="85000"/>
                  </a:schemeClr>
                </a:solidFill>
              </a:endParaRPr>
            </a:p>
            <a:p>
              <a:pPr algn="ctr"/>
              <a:r>
                <a:rPr lang="en-US" sz="1400" dirty="0">
                  <a:solidFill>
                    <a:schemeClr val="bg1">
                      <a:lumMod val="85000"/>
                    </a:schemeClr>
                  </a:solidFill>
                </a:rPr>
                <a:t>Known for authenticity, credibility, and diverse content (OTT and films), appeals strongly to mature, urban and rural audiences.</a:t>
              </a:r>
            </a:p>
            <a:p>
              <a:pPr algn="ctr"/>
              <a:endParaRPr lang="en-US" sz="1400" dirty="0">
                <a:solidFill>
                  <a:schemeClr val="bg1">
                    <a:lumMod val="85000"/>
                  </a:schemeClr>
                </a:solidFill>
              </a:endParaRPr>
            </a:p>
            <a:p>
              <a:pPr algn="ctr"/>
              <a:r>
                <a:rPr lang="en-US" sz="1400" b="1" dirty="0">
                  <a:solidFill>
                    <a:schemeClr val="accent5"/>
                  </a:solidFill>
                </a:rPr>
                <a:t>Mature viewers, Tier 2 &amp; 3 audiences, wide demographic appeal.</a:t>
              </a:r>
            </a:p>
          </p:txBody>
        </p:sp>
        <p:pic>
          <p:nvPicPr>
            <p:cNvPr id="15" name="Picture 14" descr="A person in a black suit&#10;&#10;AI-generated content may be incorrect.">
              <a:extLst>
                <a:ext uri="{FF2B5EF4-FFF2-40B4-BE49-F238E27FC236}">
                  <a16:creationId xmlns:a16="http://schemas.microsoft.com/office/drawing/2014/main" id="{8318308A-E0A0-B0CC-57F8-B31F1177AEA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39626" y="1379022"/>
              <a:ext cx="1613300" cy="1613300"/>
            </a:xfrm>
            <a:prstGeom prst="ellipse">
              <a:avLst/>
            </a:prstGeom>
            <a:ln w="28575" cap="rnd">
              <a:solidFill>
                <a:schemeClr val="bg1">
                  <a:lumMod val="65000"/>
                </a:schemeClr>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grpSp>
      <p:grpSp>
        <p:nvGrpSpPr>
          <p:cNvPr id="28" name="Group 27">
            <a:extLst>
              <a:ext uri="{FF2B5EF4-FFF2-40B4-BE49-F238E27FC236}">
                <a16:creationId xmlns:a16="http://schemas.microsoft.com/office/drawing/2014/main" id="{48F4FD9E-2577-3F04-8482-C90856EF2DCE}"/>
              </a:ext>
            </a:extLst>
          </p:cNvPr>
          <p:cNvGrpSpPr/>
          <p:nvPr/>
        </p:nvGrpSpPr>
        <p:grpSpPr>
          <a:xfrm>
            <a:off x="9413076" y="1355606"/>
            <a:ext cx="2505076" cy="5270579"/>
            <a:chOff x="9413076" y="1355606"/>
            <a:chExt cx="2505076" cy="5270579"/>
          </a:xfrm>
        </p:grpSpPr>
        <p:sp>
          <p:nvSpPr>
            <p:cNvPr id="11" name="TextBox 10">
              <a:extLst>
                <a:ext uri="{FF2B5EF4-FFF2-40B4-BE49-F238E27FC236}">
                  <a16:creationId xmlns:a16="http://schemas.microsoft.com/office/drawing/2014/main" id="{EFB3B349-A261-B01A-56D8-299544E7CC44}"/>
                </a:ext>
              </a:extLst>
            </p:cNvPr>
            <p:cNvSpPr txBox="1"/>
            <p:nvPr/>
          </p:nvSpPr>
          <p:spPr>
            <a:xfrm>
              <a:off x="9413076" y="3240643"/>
              <a:ext cx="2505076" cy="3385542"/>
            </a:xfrm>
            <a:prstGeom prst="rect">
              <a:avLst/>
            </a:prstGeom>
            <a:noFill/>
          </p:spPr>
          <p:txBody>
            <a:bodyPr wrap="square">
              <a:spAutoFit/>
            </a:bodyPr>
            <a:lstStyle/>
            <a:p>
              <a:pPr algn="ctr"/>
              <a:r>
                <a:rPr lang="en-CA" b="1" dirty="0">
                  <a:solidFill>
                    <a:schemeClr val="bg1">
                      <a:lumMod val="85000"/>
                    </a:schemeClr>
                  </a:solidFill>
                </a:rPr>
                <a:t>Rashmika </a:t>
              </a:r>
              <a:r>
                <a:rPr lang="en-CA" b="1" dirty="0" err="1">
                  <a:solidFill>
                    <a:schemeClr val="bg1">
                      <a:lumMod val="85000"/>
                    </a:schemeClr>
                  </a:solidFill>
                </a:rPr>
                <a:t>Mandanna</a:t>
              </a:r>
              <a:endParaRPr lang="en-CA" b="1" dirty="0">
                <a:solidFill>
                  <a:schemeClr val="bg1">
                    <a:lumMod val="85000"/>
                  </a:schemeClr>
                </a:solidFill>
              </a:endParaRPr>
            </a:p>
            <a:p>
              <a:pPr algn="ctr"/>
              <a:endParaRPr lang="en-CA" sz="1400" dirty="0">
                <a:solidFill>
                  <a:schemeClr val="bg1">
                    <a:lumMod val="85000"/>
                  </a:schemeClr>
                </a:solidFill>
              </a:endParaRPr>
            </a:p>
            <a:p>
              <a:pPr algn="ctr"/>
              <a:r>
                <a:rPr lang="en-CA" sz="1400" dirty="0">
                  <a:solidFill>
                    <a:schemeClr val="bg1">
                      <a:lumMod val="85000"/>
                    </a:schemeClr>
                  </a:solidFill>
                </a:rPr>
                <a:t>Widely admired for her energetic presence and versatile roles, especially appealing to younger audiences.</a:t>
              </a:r>
            </a:p>
            <a:p>
              <a:pPr algn="ctr"/>
              <a:endParaRPr lang="en-CA" sz="1400" dirty="0">
                <a:solidFill>
                  <a:schemeClr val="bg1">
                    <a:lumMod val="85000"/>
                  </a:schemeClr>
                </a:solidFill>
              </a:endParaRPr>
            </a:p>
            <a:p>
              <a:pPr algn="ctr"/>
              <a:r>
                <a:rPr lang="en-CA" sz="1400" dirty="0">
                  <a:solidFill>
                    <a:schemeClr val="bg1">
                      <a:lumMod val="85000"/>
                    </a:schemeClr>
                  </a:solidFill>
                </a:rPr>
                <a:t>Achieved significant pan-Indian popularity through blockbuster films across Telugu, Tamil, Kannada, and Hindi industries, </a:t>
              </a:r>
            </a:p>
            <a:p>
              <a:pPr algn="ctr"/>
              <a:endParaRPr lang="en-US" sz="1400" b="1" dirty="0">
                <a:solidFill>
                  <a:schemeClr val="accent5"/>
                </a:solidFill>
              </a:endParaRPr>
            </a:p>
            <a:p>
              <a:pPr algn="ctr"/>
              <a:r>
                <a:rPr lang="en-US" sz="1400" b="1" dirty="0">
                  <a:solidFill>
                    <a:schemeClr val="accent5"/>
                  </a:solidFill>
                </a:rPr>
                <a:t>Youth, Gen-Z, regional and urban viewers across all tiers</a:t>
              </a:r>
              <a:endParaRPr lang="en-CA" sz="1400" b="1" dirty="0">
                <a:solidFill>
                  <a:schemeClr val="accent5"/>
                </a:solidFill>
              </a:endParaRPr>
            </a:p>
          </p:txBody>
        </p:sp>
        <p:pic>
          <p:nvPicPr>
            <p:cNvPr id="17" name="Picture 16" descr="A person smiling at the camera&#10;&#10;AI-generated content may be incorrect.">
              <a:extLst>
                <a:ext uri="{FF2B5EF4-FFF2-40B4-BE49-F238E27FC236}">
                  <a16:creationId xmlns:a16="http://schemas.microsoft.com/office/drawing/2014/main" id="{9474D96C-7512-81EF-B113-C0BC75372D5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859214" y="1355606"/>
              <a:ext cx="1612800" cy="1612800"/>
            </a:xfrm>
            <a:prstGeom prst="ellipse">
              <a:avLst/>
            </a:prstGeom>
            <a:ln w="28575" cap="rnd">
              <a:solidFill>
                <a:schemeClr val="bg1">
                  <a:lumMod val="65000"/>
                </a:schemeClr>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grpSp>
      <p:grpSp>
        <p:nvGrpSpPr>
          <p:cNvPr id="25" name="Group 24">
            <a:extLst>
              <a:ext uri="{FF2B5EF4-FFF2-40B4-BE49-F238E27FC236}">
                <a16:creationId xmlns:a16="http://schemas.microsoft.com/office/drawing/2014/main" id="{DA3D6C39-54B2-D1C2-08AD-2ED955734424}"/>
              </a:ext>
            </a:extLst>
          </p:cNvPr>
          <p:cNvGrpSpPr/>
          <p:nvPr/>
        </p:nvGrpSpPr>
        <p:grpSpPr>
          <a:xfrm>
            <a:off x="7250816" y="1387690"/>
            <a:ext cx="2028825" cy="4863329"/>
            <a:chOff x="7168751" y="1387690"/>
            <a:chExt cx="2028825" cy="4863329"/>
          </a:xfrm>
        </p:grpSpPr>
        <p:sp>
          <p:nvSpPr>
            <p:cNvPr id="8" name="TextBox 7">
              <a:extLst>
                <a:ext uri="{FF2B5EF4-FFF2-40B4-BE49-F238E27FC236}">
                  <a16:creationId xmlns:a16="http://schemas.microsoft.com/office/drawing/2014/main" id="{7B86A2AB-873D-3956-22C7-CF6A7F8D3034}"/>
                </a:ext>
              </a:extLst>
            </p:cNvPr>
            <p:cNvSpPr txBox="1"/>
            <p:nvPr/>
          </p:nvSpPr>
          <p:spPr>
            <a:xfrm>
              <a:off x="7168751" y="3234809"/>
              <a:ext cx="2028825" cy="3016210"/>
            </a:xfrm>
            <a:prstGeom prst="rect">
              <a:avLst/>
            </a:prstGeom>
            <a:noFill/>
          </p:spPr>
          <p:txBody>
            <a:bodyPr wrap="square">
              <a:spAutoFit/>
            </a:bodyPr>
            <a:lstStyle/>
            <a:p>
              <a:pPr algn="ctr">
                <a:buNone/>
              </a:pPr>
              <a:r>
                <a:rPr lang="en-US" b="1" dirty="0">
                  <a:solidFill>
                    <a:schemeClr val="bg1">
                      <a:lumMod val="85000"/>
                    </a:schemeClr>
                  </a:solidFill>
                </a:rPr>
                <a:t>Hardik Pandya</a:t>
              </a:r>
            </a:p>
            <a:p>
              <a:pPr algn="ctr">
                <a:buNone/>
              </a:pPr>
              <a:endParaRPr lang="en-US" b="1" dirty="0">
                <a:solidFill>
                  <a:schemeClr val="bg1">
                    <a:lumMod val="85000"/>
                  </a:schemeClr>
                </a:solidFill>
              </a:endParaRPr>
            </a:p>
            <a:p>
              <a:pPr algn="ctr"/>
              <a:r>
                <a:rPr lang="en-US" sz="1400" dirty="0">
                  <a:solidFill>
                    <a:schemeClr val="bg1">
                      <a:lumMod val="85000"/>
                    </a:schemeClr>
                  </a:solidFill>
                </a:rPr>
                <a:t>Popular sports figure with nationwide recognition, youthful and aspirational, aligns well with </a:t>
              </a:r>
              <a:r>
                <a:rPr lang="en-US" sz="1400" dirty="0" err="1">
                  <a:solidFill>
                    <a:schemeClr val="bg1">
                      <a:lumMod val="85000"/>
                    </a:schemeClr>
                  </a:solidFill>
                </a:rPr>
                <a:t>Jotstar’s</a:t>
              </a:r>
              <a:r>
                <a:rPr lang="en-US" sz="1400" dirty="0">
                  <a:solidFill>
                    <a:schemeClr val="bg1">
                      <a:lumMod val="85000"/>
                    </a:schemeClr>
                  </a:solidFill>
                </a:rPr>
                <a:t> strong sports content presence.</a:t>
              </a:r>
            </a:p>
            <a:p>
              <a:pPr algn="ctr"/>
              <a:endParaRPr lang="en-US" sz="1400" dirty="0">
                <a:solidFill>
                  <a:schemeClr val="bg1">
                    <a:lumMod val="85000"/>
                  </a:schemeClr>
                </a:solidFill>
              </a:endParaRPr>
            </a:p>
            <a:p>
              <a:pPr algn="ctr"/>
              <a:r>
                <a:rPr lang="en-US" sz="1400" b="1" dirty="0">
                  <a:solidFill>
                    <a:schemeClr val="accent5"/>
                  </a:solidFill>
                </a:rPr>
                <a:t>Sports enthusiasts, younger audience, energetic urban and rural viewers.</a:t>
              </a:r>
            </a:p>
          </p:txBody>
        </p:sp>
        <p:pic>
          <p:nvPicPr>
            <p:cNvPr id="19" name="Picture 18" descr="A person smiling for a picture&#10;&#10;AI-generated content may be incorrect.">
              <a:extLst>
                <a:ext uri="{FF2B5EF4-FFF2-40B4-BE49-F238E27FC236}">
                  <a16:creationId xmlns:a16="http://schemas.microsoft.com/office/drawing/2014/main" id="{D6D5260D-68AC-77D2-A96B-2B36C7E3ADB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376763" y="1387690"/>
              <a:ext cx="1612800" cy="1612800"/>
            </a:xfrm>
            <a:prstGeom prst="ellipse">
              <a:avLst/>
            </a:prstGeom>
            <a:ln w="28575" cap="rnd">
              <a:solidFill>
                <a:schemeClr val="bg1">
                  <a:lumMod val="65000"/>
                </a:schemeClr>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grpSp>
      <p:grpSp>
        <p:nvGrpSpPr>
          <p:cNvPr id="24" name="Group 23">
            <a:extLst>
              <a:ext uri="{FF2B5EF4-FFF2-40B4-BE49-F238E27FC236}">
                <a16:creationId xmlns:a16="http://schemas.microsoft.com/office/drawing/2014/main" id="{C90BF574-0DE5-49CF-A428-633062AB3536}"/>
              </a:ext>
            </a:extLst>
          </p:cNvPr>
          <p:cNvGrpSpPr/>
          <p:nvPr/>
        </p:nvGrpSpPr>
        <p:grpSpPr>
          <a:xfrm>
            <a:off x="4667075" y="1387690"/>
            <a:ext cx="2395538" cy="5017218"/>
            <a:chOff x="4557713" y="1387690"/>
            <a:chExt cx="2395538" cy="5017218"/>
          </a:xfrm>
        </p:grpSpPr>
        <p:sp>
          <p:nvSpPr>
            <p:cNvPr id="10" name="TextBox 9">
              <a:extLst>
                <a:ext uri="{FF2B5EF4-FFF2-40B4-BE49-F238E27FC236}">
                  <a16:creationId xmlns:a16="http://schemas.microsoft.com/office/drawing/2014/main" id="{0BFFE804-E4E6-7028-21A6-47339ACA75F7}"/>
                </a:ext>
              </a:extLst>
            </p:cNvPr>
            <p:cNvSpPr txBox="1"/>
            <p:nvPr/>
          </p:nvSpPr>
          <p:spPr>
            <a:xfrm>
              <a:off x="4557713" y="3234809"/>
              <a:ext cx="2395538" cy="3170099"/>
            </a:xfrm>
            <a:prstGeom prst="rect">
              <a:avLst/>
            </a:prstGeom>
            <a:noFill/>
          </p:spPr>
          <p:txBody>
            <a:bodyPr wrap="square">
              <a:spAutoFit/>
            </a:bodyPr>
            <a:lstStyle/>
            <a:p>
              <a:pPr algn="ctr"/>
              <a:r>
                <a:rPr lang="en-CA" b="1" dirty="0">
                  <a:solidFill>
                    <a:schemeClr val="bg1">
                      <a:lumMod val="85000"/>
                    </a:schemeClr>
                  </a:solidFill>
                </a:rPr>
                <a:t>Shraddha Kapoor</a:t>
              </a:r>
            </a:p>
            <a:p>
              <a:pPr algn="ctr"/>
              <a:endParaRPr lang="en-CA" sz="1400" dirty="0">
                <a:solidFill>
                  <a:schemeClr val="bg1">
                    <a:lumMod val="85000"/>
                  </a:schemeClr>
                </a:solidFill>
              </a:endParaRPr>
            </a:p>
            <a:p>
              <a:pPr marL="285750" indent="-285750" algn="ctr">
                <a:buFont typeface="Arial" panose="020B0604020202020204" pitchFamily="34" charset="0"/>
                <a:buChar char="•"/>
              </a:pPr>
              <a:r>
                <a:rPr lang="en-CA" sz="1400" dirty="0">
                  <a:solidFill>
                    <a:schemeClr val="bg1">
                      <a:lumMod val="85000"/>
                    </a:schemeClr>
                  </a:solidFill>
                </a:rPr>
                <a:t>Broad nationwide recognition and appeal across urban, semi-urban, and rural areas.</a:t>
              </a:r>
            </a:p>
            <a:p>
              <a:pPr marL="285750" indent="-285750" algn="ctr">
                <a:buFont typeface="Arial" panose="020B0604020202020204" pitchFamily="34" charset="0"/>
                <a:buChar char="•"/>
              </a:pPr>
              <a:r>
                <a:rPr lang="en-CA" sz="1400" dirty="0">
                  <a:solidFill>
                    <a:schemeClr val="bg1">
                      <a:lumMod val="85000"/>
                    </a:schemeClr>
                  </a:solidFill>
                </a:rPr>
                <a:t>Versatile roles in Bollywood attract diverse demographics, from youth to families.</a:t>
              </a:r>
            </a:p>
            <a:p>
              <a:pPr algn="ctr"/>
              <a:endParaRPr lang="en-CA" sz="1400" dirty="0">
                <a:solidFill>
                  <a:schemeClr val="bg1">
                    <a:lumMod val="85000"/>
                  </a:schemeClr>
                </a:solidFill>
              </a:endParaRPr>
            </a:p>
            <a:p>
              <a:pPr algn="ctr"/>
              <a:r>
                <a:rPr lang="en-CA" sz="1400" b="1" dirty="0">
                  <a:solidFill>
                    <a:schemeClr val="accent5"/>
                  </a:solidFill>
                </a:rPr>
                <a:t>Young adults, urban/semi-urban women, families, and Tier 2 &amp; Tier 3 city viewers.</a:t>
              </a:r>
            </a:p>
          </p:txBody>
        </p:sp>
        <p:pic>
          <p:nvPicPr>
            <p:cNvPr id="21" name="Picture 20" descr="A person smiling at the camera&#10;&#10;AI-generated content may be incorrect.">
              <a:extLst>
                <a:ext uri="{FF2B5EF4-FFF2-40B4-BE49-F238E27FC236}">
                  <a16:creationId xmlns:a16="http://schemas.microsoft.com/office/drawing/2014/main" id="{DDA829D0-72CF-2668-6D43-7339F8D9928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949082" y="1387690"/>
              <a:ext cx="1612800" cy="1612800"/>
            </a:xfrm>
            <a:prstGeom prst="ellipse">
              <a:avLst/>
            </a:prstGeom>
            <a:ln w="28575" cap="rnd">
              <a:solidFill>
                <a:schemeClr val="bg1">
                  <a:lumMod val="65000"/>
                </a:schemeClr>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grpSp>
      <p:grpSp>
        <p:nvGrpSpPr>
          <p:cNvPr id="26" name="Group 25">
            <a:extLst>
              <a:ext uri="{FF2B5EF4-FFF2-40B4-BE49-F238E27FC236}">
                <a16:creationId xmlns:a16="http://schemas.microsoft.com/office/drawing/2014/main" id="{444BDDDD-EE1B-364C-F712-AF61EF3879C1}"/>
              </a:ext>
            </a:extLst>
          </p:cNvPr>
          <p:cNvGrpSpPr/>
          <p:nvPr/>
        </p:nvGrpSpPr>
        <p:grpSpPr>
          <a:xfrm>
            <a:off x="294085" y="1355606"/>
            <a:ext cx="2105026" cy="4402971"/>
            <a:chOff x="294085" y="1355606"/>
            <a:chExt cx="2105026" cy="4402971"/>
          </a:xfrm>
        </p:grpSpPr>
        <p:sp>
          <p:nvSpPr>
            <p:cNvPr id="4" name="TextBox 3">
              <a:extLst>
                <a:ext uri="{FF2B5EF4-FFF2-40B4-BE49-F238E27FC236}">
                  <a16:creationId xmlns:a16="http://schemas.microsoft.com/office/drawing/2014/main" id="{F5537D7F-D1FE-7663-975B-021DE2B9F59E}"/>
                </a:ext>
              </a:extLst>
            </p:cNvPr>
            <p:cNvSpPr txBox="1"/>
            <p:nvPr/>
          </p:nvSpPr>
          <p:spPr>
            <a:xfrm>
              <a:off x="294085" y="3234809"/>
              <a:ext cx="2105026" cy="2523768"/>
            </a:xfrm>
            <a:prstGeom prst="rect">
              <a:avLst/>
            </a:prstGeom>
            <a:noFill/>
          </p:spPr>
          <p:txBody>
            <a:bodyPr wrap="square">
              <a:spAutoFit/>
            </a:bodyPr>
            <a:lstStyle/>
            <a:p>
              <a:pPr algn="ctr">
                <a:buNone/>
              </a:pPr>
              <a:r>
                <a:rPr lang="en-US" b="1" dirty="0">
                  <a:solidFill>
                    <a:schemeClr val="bg1">
                      <a:lumMod val="85000"/>
                    </a:schemeClr>
                  </a:solidFill>
                </a:rPr>
                <a:t>Allu Arjun</a:t>
              </a:r>
            </a:p>
            <a:p>
              <a:pPr algn="ctr">
                <a:buNone/>
              </a:pPr>
              <a:endParaRPr lang="en-US" sz="1400" b="1" dirty="0">
                <a:solidFill>
                  <a:schemeClr val="bg1">
                    <a:lumMod val="85000"/>
                  </a:schemeClr>
                </a:solidFill>
              </a:endParaRPr>
            </a:p>
            <a:p>
              <a:pPr algn="ctr"/>
              <a:r>
                <a:rPr lang="en-US" sz="1400" dirty="0">
                  <a:solidFill>
                    <a:schemeClr val="bg1">
                      <a:lumMod val="85000"/>
                    </a:schemeClr>
                  </a:solidFill>
                </a:rPr>
                <a:t>Widely popular due to pan-India success (</a:t>
              </a:r>
              <a:r>
                <a:rPr lang="en-US" sz="1400" i="1" dirty="0">
                  <a:solidFill>
                    <a:schemeClr val="bg1">
                      <a:lumMod val="85000"/>
                    </a:schemeClr>
                  </a:solidFill>
                </a:rPr>
                <a:t>Pushpa</a:t>
              </a:r>
              <a:r>
                <a:rPr lang="en-US" sz="1400" dirty="0">
                  <a:solidFill>
                    <a:schemeClr val="bg1">
                      <a:lumMod val="85000"/>
                    </a:schemeClr>
                  </a:solidFill>
                </a:rPr>
                <a:t>), strong appeal in both South and North India, particularly Tier 2 &amp; 3 cities.</a:t>
              </a:r>
            </a:p>
            <a:p>
              <a:pPr algn="ctr"/>
              <a:endParaRPr lang="en-US" sz="1400" dirty="0">
                <a:solidFill>
                  <a:schemeClr val="bg1">
                    <a:lumMod val="85000"/>
                  </a:schemeClr>
                </a:solidFill>
              </a:endParaRPr>
            </a:p>
            <a:p>
              <a:pPr algn="ctr"/>
              <a:r>
                <a:rPr lang="en-US" sz="1400" b="1" dirty="0">
                  <a:solidFill>
                    <a:schemeClr val="accent5"/>
                  </a:solidFill>
                </a:rPr>
                <a:t>Youth, regional viewers, and mass-market appeal.</a:t>
              </a:r>
            </a:p>
          </p:txBody>
        </p:sp>
        <p:pic>
          <p:nvPicPr>
            <p:cNvPr id="23" name="Picture 22" descr="A person with a beard and mustache wearing glasses&#10;&#10;AI-generated content may be incorrect.">
              <a:extLst>
                <a:ext uri="{FF2B5EF4-FFF2-40B4-BE49-F238E27FC236}">
                  <a16:creationId xmlns:a16="http://schemas.microsoft.com/office/drawing/2014/main" id="{58DFE50B-988F-2B62-6BB9-A1C6069C9DA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40198" y="1355606"/>
              <a:ext cx="1612800" cy="1612800"/>
            </a:xfrm>
            <a:prstGeom prst="ellipse">
              <a:avLst/>
            </a:prstGeom>
            <a:ln w="28575" cap="rnd">
              <a:solidFill>
                <a:schemeClr val="bg1">
                  <a:lumMod val="65000"/>
                </a:schemeClr>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grpSp>
    </p:spTree>
    <p:custDataLst>
      <p:tags r:id="rId1"/>
    </p:custDataLst>
    <p:extLst>
      <p:ext uri="{BB962C8B-B14F-4D97-AF65-F5344CB8AC3E}">
        <p14:creationId xmlns:p14="http://schemas.microsoft.com/office/powerpoint/2010/main" val="3579263847"/>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1000"/>
                                        <p:tgtEl>
                                          <p:spTgt spid="26"/>
                                        </p:tgtEl>
                                      </p:cBhvr>
                                    </p:animEffect>
                                    <p:anim calcmode="lin" valueType="num">
                                      <p:cBhvr>
                                        <p:cTn id="8" dur="1000" fill="hold"/>
                                        <p:tgtEl>
                                          <p:spTgt spid="26"/>
                                        </p:tgtEl>
                                        <p:attrNameLst>
                                          <p:attrName>ppt_x</p:attrName>
                                        </p:attrNameLst>
                                      </p:cBhvr>
                                      <p:tavLst>
                                        <p:tav tm="0">
                                          <p:val>
                                            <p:strVal val="#ppt_x"/>
                                          </p:val>
                                        </p:tav>
                                        <p:tav tm="100000">
                                          <p:val>
                                            <p:strVal val="#ppt_x"/>
                                          </p:val>
                                        </p:tav>
                                      </p:tavLst>
                                    </p:anim>
                                    <p:anim calcmode="lin" valueType="num">
                                      <p:cBhvr>
                                        <p:cTn id="9"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7"/>
                                        </p:tgtEl>
                                        <p:attrNameLst>
                                          <p:attrName>style.visibility</p:attrName>
                                        </p:attrNameLst>
                                      </p:cBhvr>
                                      <p:to>
                                        <p:strVal val="visible"/>
                                      </p:to>
                                    </p:set>
                                    <p:animEffect transition="in" filter="fade">
                                      <p:cBhvr>
                                        <p:cTn id="14" dur="1000"/>
                                        <p:tgtEl>
                                          <p:spTgt spid="27"/>
                                        </p:tgtEl>
                                      </p:cBhvr>
                                    </p:animEffect>
                                    <p:anim calcmode="lin" valueType="num">
                                      <p:cBhvr>
                                        <p:cTn id="15" dur="1000" fill="hold"/>
                                        <p:tgtEl>
                                          <p:spTgt spid="27"/>
                                        </p:tgtEl>
                                        <p:attrNameLst>
                                          <p:attrName>ppt_x</p:attrName>
                                        </p:attrNameLst>
                                      </p:cBhvr>
                                      <p:tavLst>
                                        <p:tav tm="0">
                                          <p:val>
                                            <p:strVal val="#ppt_x"/>
                                          </p:val>
                                        </p:tav>
                                        <p:tav tm="100000">
                                          <p:val>
                                            <p:strVal val="#ppt_x"/>
                                          </p:val>
                                        </p:tav>
                                      </p:tavLst>
                                    </p:anim>
                                    <p:anim calcmode="lin" valueType="num">
                                      <p:cBhvr>
                                        <p:cTn id="16"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fade">
                                      <p:cBhvr>
                                        <p:cTn id="21" dur="1000"/>
                                        <p:tgtEl>
                                          <p:spTgt spid="24"/>
                                        </p:tgtEl>
                                      </p:cBhvr>
                                    </p:animEffect>
                                    <p:anim calcmode="lin" valueType="num">
                                      <p:cBhvr>
                                        <p:cTn id="22" dur="1000" fill="hold"/>
                                        <p:tgtEl>
                                          <p:spTgt spid="24"/>
                                        </p:tgtEl>
                                        <p:attrNameLst>
                                          <p:attrName>ppt_x</p:attrName>
                                        </p:attrNameLst>
                                      </p:cBhvr>
                                      <p:tavLst>
                                        <p:tav tm="0">
                                          <p:val>
                                            <p:strVal val="#ppt_x"/>
                                          </p:val>
                                        </p:tav>
                                        <p:tav tm="100000">
                                          <p:val>
                                            <p:strVal val="#ppt_x"/>
                                          </p:val>
                                        </p:tav>
                                      </p:tavLst>
                                    </p:anim>
                                    <p:anim calcmode="lin" valueType="num">
                                      <p:cBhvr>
                                        <p:cTn id="23"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fade">
                                      <p:cBhvr>
                                        <p:cTn id="28" dur="1000"/>
                                        <p:tgtEl>
                                          <p:spTgt spid="25"/>
                                        </p:tgtEl>
                                      </p:cBhvr>
                                    </p:animEffect>
                                    <p:anim calcmode="lin" valueType="num">
                                      <p:cBhvr>
                                        <p:cTn id="29" dur="1000" fill="hold"/>
                                        <p:tgtEl>
                                          <p:spTgt spid="25"/>
                                        </p:tgtEl>
                                        <p:attrNameLst>
                                          <p:attrName>ppt_x</p:attrName>
                                        </p:attrNameLst>
                                      </p:cBhvr>
                                      <p:tavLst>
                                        <p:tav tm="0">
                                          <p:val>
                                            <p:strVal val="#ppt_x"/>
                                          </p:val>
                                        </p:tav>
                                        <p:tav tm="100000">
                                          <p:val>
                                            <p:strVal val="#ppt_x"/>
                                          </p:val>
                                        </p:tav>
                                      </p:tavLst>
                                    </p:anim>
                                    <p:anim calcmode="lin" valueType="num">
                                      <p:cBhvr>
                                        <p:cTn id="30"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fade">
                                      <p:cBhvr>
                                        <p:cTn id="35" dur="1000"/>
                                        <p:tgtEl>
                                          <p:spTgt spid="28"/>
                                        </p:tgtEl>
                                      </p:cBhvr>
                                    </p:animEffect>
                                    <p:anim calcmode="lin" valueType="num">
                                      <p:cBhvr>
                                        <p:cTn id="36" dur="1000" fill="hold"/>
                                        <p:tgtEl>
                                          <p:spTgt spid="28"/>
                                        </p:tgtEl>
                                        <p:attrNameLst>
                                          <p:attrName>ppt_x</p:attrName>
                                        </p:attrNameLst>
                                      </p:cBhvr>
                                      <p:tavLst>
                                        <p:tav tm="0">
                                          <p:val>
                                            <p:strVal val="#ppt_x"/>
                                          </p:val>
                                        </p:tav>
                                        <p:tav tm="100000">
                                          <p:val>
                                            <p:strVal val="#ppt_x"/>
                                          </p:val>
                                        </p:tav>
                                      </p:tavLst>
                                    </p:anim>
                                    <p:anim calcmode="lin" valueType="num">
                                      <p:cBhvr>
                                        <p:cTn id="37"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07807-F9D2-E448-706B-1953CEA347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BF5228-1398-4692-D1FC-2F872E2FC6A3}"/>
              </a:ext>
            </a:extLst>
          </p:cNvPr>
          <p:cNvSpPr>
            <a:spLocks noGrp="1"/>
          </p:cNvSpPr>
          <p:nvPr>
            <p:ph type="title"/>
          </p:nvPr>
        </p:nvSpPr>
        <p:spPr>
          <a:xfrm>
            <a:off x="1029970" y="313784"/>
            <a:ext cx="10087610" cy="833754"/>
          </a:xfrm>
        </p:spPr>
        <p:txBody>
          <a:bodyPr>
            <a:normAutofit/>
          </a:bodyPr>
          <a:lstStyle/>
          <a:p>
            <a:pPr algn="ctr"/>
            <a:r>
              <a:rPr lang="en-US" sz="2400" b="1" kern="100" dirty="0">
                <a:highlight>
                  <a:srgbClr val="C0C0C0"/>
                </a:highlight>
                <a:uFill>
                  <a:solidFill>
                    <a:srgbClr val="000000"/>
                  </a:solidFill>
                </a:uFill>
                <a:latin typeface="Aptos (Body)"/>
                <a:ea typeface="Calibri" panose="020F0502020204030204" pitchFamily="34" charset="0"/>
                <a:cs typeface="Calibri" panose="020F0502020204030204" pitchFamily="34" charset="0"/>
              </a:rPr>
              <a:t> Strategic Recommendations for Lio-</a:t>
            </a:r>
            <a:r>
              <a:rPr lang="en-US" sz="2400" b="1" kern="100" dirty="0" err="1">
                <a:highlight>
                  <a:srgbClr val="C0C0C0"/>
                </a:highlight>
                <a:uFill>
                  <a:solidFill>
                    <a:srgbClr val="000000"/>
                  </a:solidFill>
                </a:uFill>
                <a:latin typeface="Aptos (Body)"/>
                <a:ea typeface="Calibri" panose="020F0502020204030204" pitchFamily="34" charset="0"/>
                <a:cs typeface="Calibri" panose="020F0502020204030204" pitchFamily="34" charset="0"/>
              </a:rPr>
              <a:t>Jotstar</a:t>
            </a:r>
            <a:r>
              <a:rPr lang="en-US" sz="2400" b="1" kern="100" dirty="0">
                <a:highlight>
                  <a:srgbClr val="C0C0C0"/>
                </a:highlight>
                <a:uFill>
                  <a:solidFill>
                    <a:srgbClr val="000000"/>
                  </a:solidFill>
                </a:uFill>
                <a:latin typeface="Aptos (Body)"/>
                <a:ea typeface="Calibri" panose="020F0502020204030204" pitchFamily="34" charset="0"/>
                <a:cs typeface="Calibri" panose="020F0502020204030204" pitchFamily="34" charset="0"/>
              </a:rPr>
              <a:t> Merger</a:t>
            </a:r>
            <a:endParaRPr lang="en-CA" sz="7200" b="1" dirty="0">
              <a:highlight>
                <a:srgbClr val="C0C0C0"/>
              </a:highlight>
              <a:latin typeface="Aptos (Body)"/>
            </a:endParaRPr>
          </a:p>
        </p:txBody>
      </p:sp>
      <p:sp>
        <p:nvSpPr>
          <p:cNvPr id="13" name="TextBox 12">
            <a:extLst>
              <a:ext uri="{FF2B5EF4-FFF2-40B4-BE49-F238E27FC236}">
                <a16:creationId xmlns:a16="http://schemas.microsoft.com/office/drawing/2014/main" id="{89B14CA4-CA9F-AF1A-0229-4117ACC864EB}"/>
              </a:ext>
            </a:extLst>
          </p:cNvPr>
          <p:cNvSpPr txBox="1"/>
          <p:nvPr/>
        </p:nvSpPr>
        <p:spPr>
          <a:xfrm>
            <a:off x="630001" y="1224000"/>
            <a:ext cx="11085750" cy="5414239"/>
          </a:xfrm>
          <a:prstGeom prst="rect">
            <a:avLst/>
          </a:prstGeom>
          <a:noFill/>
        </p:spPr>
        <p:txBody>
          <a:bodyPr wrap="square">
            <a:spAutoFit/>
          </a:bodyPr>
          <a:lstStyle/>
          <a:p>
            <a:pPr marL="342900" indent="-342900">
              <a:lnSpc>
                <a:spcPct val="150000"/>
              </a:lnSpc>
              <a:buFont typeface="+mj-lt"/>
              <a:buAutoNum type="arabicPeriod"/>
            </a:pPr>
            <a:r>
              <a:rPr lang="en-CA" sz="1600" b="1" dirty="0">
                <a:solidFill>
                  <a:schemeClr val="bg1">
                    <a:lumMod val="85000"/>
                  </a:schemeClr>
                </a:solidFill>
              </a:rPr>
              <a:t>Content Strategy Optimization:</a:t>
            </a:r>
          </a:p>
          <a:p>
            <a:pPr marL="800100" lvl="1" indent="-342900">
              <a:lnSpc>
                <a:spcPct val="150000"/>
              </a:lnSpc>
              <a:buFont typeface="Arial" panose="020B0604020202020204" pitchFamily="34" charset="0"/>
              <a:buChar char="•"/>
            </a:pPr>
            <a:r>
              <a:rPr lang="en-CA" sz="1400" dirty="0">
                <a:solidFill>
                  <a:schemeClr val="bg1">
                    <a:lumMod val="85000"/>
                  </a:schemeClr>
                </a:solidFill>
              </a:rPr>
              <a:t>Expand </a:t>
            </a:r>
            <a:r>
              <a:rPr lang="en-CA" sz="1400" dirty="0" err="1">
                <a:solidFill>
                  <a:schemeClr val="bg1">
                    <a:lumMod val="85000"/>
                  </a:schemeClr>
                </a:solidFill>
              </a:rPr>
              <a:t>LioCinema’s</a:t>
            </a:r>
            <a:r>
              <a:rPr lang="en-CA" sz="1400" dirty="0">
                <a:solidFill>
                  <a:schemeClr val="bg1">
                    <a:lumMod val="85000"/>
                  </a:schemeClr>
                </a:solidFill>
              </a:rPr>
              <a:t> content library by acquiring regional language content (e.g., Bengali, Gujarati, Punjabi) from </a:t>
            </a:r>
            <a:r>
              <a:rPr lang="en-CA" sz="1400" dirty="0" err="1">
                <a:solidFill>
                  <a:schemeClr val="bg1">
                    <a:lumMod val="85000"/>
                  </a:schemeClr>
                </a:solidFill>
              </a:rPr>
              <a:t>Jotstar</a:t>
            </a:r>
            <a:r>
              <a:rPr lang="en-CA" sz="1400" dirty="0">
                <a:solidFill>
                  <a:schemeClr val="bg1">
                    <a:lumMod val="85000"/>
                  </a:schemeClr>
                </a:solidFill>
              </a:rPr>
              <a:t> to enhance appeal across diverse audiences.</a:t>
            </a:r>
          </a:p>
          <a:p>
            <a:pPr marL="800100" lvl="1" indent="-342900">
              <a:lnSpc>
                <a:spcPct val="150000"/>
              </a:lnSpc>
              <a:buFont typeface="Arial" panose="020B0604020202020204" pitchFamily="34" charset="0"/>
              <a:buChar char="•"/>
            </a:pPr>
            <a:r>
              <a:rPr lang="en-CA" sz="1400" dirty="0">
                <a:solidFill>
                  <a:schemeClr val="bg1">
                    <a:lumMod val="85000"/>
                  </a:schemeClr>
                </a:solidFill>
              </a:rPr>
              <a:t>Prioritize content in popular languages (Hindi, English, Tamil) and diversify content types, particularly focusing on movies and regional sports.</a:t>
            </a:r>
          </a:p>
          <a:p>
            <a:pPr marL="342900" indent="-342900">
              <a:lnSpc>
                <a:spcPct val="150000"/>
              </a:lnSpc>
              <a:buFont typeface="+mj-lt"/>
              <a:buAutoNum type="arabicPeriod"/>
            </a:pPr>
            <a:r>
              <a:rPr lang="en-CA" sz="1600" b="1" dirty="0">
                <a:solidFill>
                  <a:schemeClr val="bg1">
                    <a:lumMod val="85000"/>
                  </a:schemeClr>
                </a:solidFill>
              </a:rPr>
              <a:t>Subscriber Growth &amp; Retention:</a:t>
            </a:r>
          </a:p>
          <a:p>
            <a:pPr marL="800100" lvl="1" indent="-342900">
              <a:lnSpc>
                <a:spcPct val="150000"/>
              </a:lnSpc>
              <a:buFont typeface="Arial" panose="020B0604020202020204" pitchFamily="34" charset="0"/>
              <a:buChar char="•"/>
            </a:pPr>
            <a:r>
              <a:rPr lang="en-CA" sz="1400" dirty="0">
                <a:solidFill>
                  <a:schemeClr val="bg1">
                    <a:lumMod val="85000"/>
                  </a:schemeClr>
                </a:solidFill>
              </a:rPr>
              <a:t>Leverage </a:t>
            </a:r>
            <a:r>
              <a:rPr lang="en-CA" sz="1400" dirty="0" err="1">
                <a:solidFill>
                  <a:schemeClr val="bg1">
                    <a:lumMod val="85000"/>
                  </a:schemeClr>
                </a:solidFill>
              </a:rPr>
              <a:t>LioCinema’s</a:t>
            </a:r>
            <a:r>
              <a:rPr lang="en-CA" sz="1400" dirty="0">
                <a:solidFill>
                  <a:schemeClr val="bg1">
                    <a:lumMod val="85000"/>
                  </a:schemeClr>
                </a:solidFill>
              </a:rPr>
              <a:t> superior growth rate (25.3%) by integrating </a:t>
            </a:r>
            <a:r>
              <a:rPr lang="en-CA" sz="1400" dirty="0" err="1">
                <a:solidFill>
                  <a:schemeClr val="bg1">
                    <a:lumMod val="85000"/>
                  </a:schemeClr>
                </a:solidFill>
              </a:rPr>
              <a:t>Jotstar’s</a:t>
            </a:r>
            <a:r>
              <a:rPr lang="en-CA" sz="1400" dirty="0">
                <a:solidFill>
                  <a:schemeClr val="bg1">
                    <a:lumMod val="85000"/>
                  </a:schemeClr>
                </a:solidFill>
              </a:rPr>
              <a:t> premium user base for cross-promotion.</a:t>
            </a:r>
          </a:p>
          <a:p>
            <a:pPr marL="800100" lvl="1" indent="-342900">
              <a:lnSpc>
                <a:spcPct val="150000"/>
              </a:lnSpc>
              <a:buFont typeface="Arial" panose="020B0604020202020204" pitchFamily="34" charset="0"/>
              <a:buChar char="•"/>
            </a:pPr>
            <a:r>
              <a:rPr lang="en-CA" sz="1400" dirty="0">
                <a:solidFill>
                  <a:schemeClr val="bg1">
                    <a:lumMod val="85000"/>
                  </a:schemeClr>
                </a:solidFill>
              </a:rPr>
              <a:t>Develop targeted marketing campaigns to retain </a:t>
            </a:r>
            <a:r>
              <a:rPr lang="en-CA" sz="1400" dirty="0" err="1">
                <a:solidFill>
                  <a:schemeClr val="bg1">
                    <a:lumMod val="85000"/>
                  </a:schemeClr>
                </a:solidFill>
              </a:rPr>
              <a:t>Jotstar’s</a:t>
            </a:r>
            <a:r>
              <a:rPr lang="en-CA" sz="1400" dirty="0">
                <a:solidFill>
                  <a:schemeClr val="bg1">
                    <a:lumMod val="85000"/>
                  </a:schemeClr>
                </a:solidFill>
              </a:rPr>
              <a:t> high-engagement users (25-34 age group) and </a:t>
            </a:r>
            <a:r>
              <a:rPr lang="en-CA" sz="1400" dirty="0" err="1">
                <a:solidFill>
                  <a:schemeClr val="bg1">
                    <a:lumMod val="85000"/>
                  </a:schemeClr>
                </a:solidFill>
              </a:rPr>
              <a:t>LioCinema’s</a:t>
            </a:r>
            <a:r>
              <a:rPr lang="en-CA" sz="1400" dirty="0">
                <a:solidFill>
                  <a:schemeClr val="bg1">
                    <a:lumMod val="85000"/>
                  </a:schemeClr>
                </a:solidFill>
              </a:rPr>
              <a:t> dominant segment (18-24).</a:t>
            </a:r>
          </a:p>
          <a:p>
            <a:pPr marL="342900" indent="-342900">
              <a:lnSpc>
                <a:spcPct val="150000"/>
              </a:lnSpc>
              <a:buFont typeface="+mj-lt"/>
              <a:buAutoNum type="arabicPeriod"/>
            </a:pPr>
            <a:r>
              <a:rPr lang="en-CA" sz="1600" b="1" dirty="0">
                <a:solidFill>
                  <a:schemeClr val="bg1">
                    <a:lumMod val="85000"/>
                  </a:schemeClr>
                </a:solidFill>
              </a:rPr>
              <a:t>Inactivity Reduction &amp; User Engagement:</a:t>
            </a:r>
          </a:p>
          <a:p>
            <a:pPr marL="800100" lvl="1" indent="-342900">
              <a:lnSpc>
                <a:spcPct val="150000"/>
              </a:lnSpc>
              <a:buFont typeface="Arial" panose="020B0604020202020204" pitchFamily="34" charset="0"/>
              <a:buChar char="•"/>
            </a:pPr>
            <a:r>
              <a:rPr lang="en-CA" sz="1400" dirty="0">
                <a:solidFill>
                  <a:schemeClr val="bg1">
                    <a:lumMod val="85000"/>
                  </a:schemeClr>
                </a:solidFill>
              </a:rPr>
              <a:t>Implement targeted reactivation strategies for inactive users, especially </a:t>
            </a:r>
            <a:r>
              <a:rPr lang="en-CA" sz="1400" dirty="0" err="1">
                <a:solidFill>
                  <a:schemeClr val="bg1">
                    <a:lumMod val="85000"/>
                  </a:schemeClr>
                </a:solidFill>
              </a:rPr>
              <a:t>Jotstar’s</a:t>
            </a:r>
            <a:r>
              <a:rPr lang="en-CA" sz="1400" dirty="0">
                <a:solidFill>
                  <a:schemeClr val="bg1">
                    <a:lumMod val="85000"/>
                  </a:schemeClr>
                </a:solidFill>
              </a:rPr>
              <a:t> 35-44 age group and </a:t>
            </a:r>
            <a:r>
              <a:rPr lang="en-CA" sz="1400" dirty="0" err="1">
                <a:solidFill>
                  <a:schemeClr val="bg1">
                    <a:lumMod val="85000"/>
                  </a:schemeClr>
                </a:solidFill>
              </a:rPr>
              <a:t>LioCinema’s</a:t>
            </a:r>
            <a:r>
              <a:rPr lang="en-CA" sz="1400" dirty="0">
                <a:solidFill>
                  <a:schemeClr val="bg1">
                    <a:lumMod val="85000"/>
                  </a:schemeClr>
                </a:solidFill>
              </a:rPr>
              <a:t> low-engagement users.</a:t>
            </a:r>
          </a:p>
          <a:p>
            <a:pPr marL="800100" lvl="1" indent="-342900">
              <a:lnSpc>
                <a:spcPct val="150000"/>
              </a:lnSpc>
              <a:buFont typeface="Arial" panose="020B0604020202020204" pitchFamily="34" charset="0"/>
              <a:buChar char="•"/>
            </a:pPr>
            <a:r>
              <a:rPr lang="en-CA" sz="1400" dirty="0">
                <a:solidFill>
                  <a:schemeClr val="bg1">
                    <a:lumMod val="85000"/>
                  </a:schemeClr>
                </a:solidFill>
              </a:rPr>
              <a:t>Focus on personalized content recommendations and discounts to encourage activity among Tier 1 city users.</a:t>
            </a:r>
          </a:p>
          <a:p>
            <a:pPr marL="342900" indent="-342900">
              <a:lnSpc>
                <a:spcPct val="150000"/>
              </a:lnSpc>
              <a:buFont typeface="+mj-lt"/>
              <a:buAutoNum type="arabicPeriod"/>
            </a:pPr>
            <a:r>
              <a:rPr lang="en-CA" sz="1600" b="1" dirty="0">
                <a:solidFill>
                  <a:schemeClr val="bg1">
                    <a:lumMod val="85000"/>
                  </a:schemeClr>
                </a:solidFill>
              </a:rPr>
              <a:t>Upgrade &amp; Downgrade Management:</a:t>
            </a:r>
          </a:p>
          <a:p>
            <a:pPr marL="800100" lvl="1" indent="-342900">
              <a:lnSpc>
                <a:spcPct val="150000"/>
              </a:lnSpc>
              <a:buFont typeface="Arial" panose="020B0604020202020204" pitchFamily="34" charset="0"/>
              <a:buChar char="•"/>
            </a:pPr>
            <a:r>
              <a:rPr lang="en-CA" sz="1400" dirty="0">
                <a:solidFill>
                  <a:schemeClr val="bg1">
                    <a:lumMod val="85000"/>
                  </a:schemeClr>
                </a:solidFill>
              </a:rPr>
              <a:t>Promote seamless upgrade pathways by incentivizing VIP-to-Premium transitions on </a:t>
            </a:r>
            <a:r>
              <a:rPr lang="en-CA" sz="1400" dirty="0" err="1">
                <a:solidFill>
                  <a:schemeClr val="bg1">
                    <a:lumMod val="85000"/>
                  </a:schemeClr>
                </a:solidFill>
              </a:rPr>
              <a:t>Jotstar</a:t>
            </a:r>
            <a:r>
              <a:rPr lang="en-CA" sz="1400" dirty="0">
                <a:solidFill>
                  <a:schemeClr val="bg1">
                    <a:lumMod val="85000"/>
                  </a:schemeClr>
                </a:solidFill>
              </a:rPr>
              <a:t> and Basic-to-Premium on </a:t>
            </a:r>
            <a:r>
              <a:rPr lang="en-CA" sz="1400" dirty="0" err="1">
                <a:solidFill>
                  <a:schemeClr val="bg1">
                    <a:lumMod val="85000"/>
                  </a:schemeClr>
                </a:solidFill>
              </a:rPr>
              <a:t>LioCinema</a:t>
            </a:r>
            <a:r>
              <a:rPr lang="en-CA" sz="1400" dirty="0">
                <a:solidFill>
                  <a:schemeClr val="bg1">
                    <a:lumMod val="85000"/>
                  </a:schemeClr>
                </a:solidFill>
              </a:rPr>
              <a:t>.</a:t>
            </a:r>
          </a:p>
          <a:p>
            <a:pPr marL="800100" lvl="1" indent="-342900">
              <a:lnSpc>
                <a:spcPct val="150000"/>
              </a:lnSpc>
              <a:buFont typeface="Arial" panose="020B0604020202020204" pitchFamily="34" charset="0"/>
              <a:buChar char="•"/>
            </a:pPr>
            <a:r>
              <a:rPr lang="en-CA" sz="1400" dirty="0">
                <a:solidFill>
                  <a:schemeClr val="bg1">
                    <a:lumMod val="85000"/>
                  </a:schemeClr>
                </a:solidFill>
              </a:rPr>
              <a:t>Address abrupt downgrades on </a:t>
            </a:r>
            <a:r>
              <a:rPr lang="en-CA" sz="1400" dirty="0" err="1">
                <a:solidFill>
                  <a:schemeClr val="bg1">
                    <a:lumMod val="85000"/>
                  </a:schemeClr>
                </a:solidFill>
              </a:rPr>
              <a:t>LioCinema</a:t>
            </a:r>
            <a:r>
              <a:rPr lang="en-CA" sz="1400" dirty="0">
                <a:solidFill>
                  <a:schemeClr val="bg1">
                    <a:lumMod val="85000"/>
                  </a:schemeClr>
                </a:solidFill>
              </a:rPr>
              <a:t> by offering intermediate plans or customized retention offers.</a:t>
            </a:r>
          </a:p>
          <a:p>
            <a:pPr marL="342900" indent="-342900">
              <a:lnSpc>
                <a:spcPct val="150000"/>
              </a:lnSpc>
              <a:buFont typeface="+mj-lt"/>
              <a:buAutoNum type="arabicPeriod"/>
            </a:pPr>
            <a:endParaRPr lang="en-CA" sz="1400" dirty="0">
              <a:solidFill>
                <a:schemeClr val="bg1">
                  <a:lumMod val="85000"/>
                </a:schemeClr>
              </a:solidFill>
            </a:endParaRPr>
          </a:p>
        </p:txBody>
      </p:sp>
    </p:spTree>
    <p:custDataLst>
      <p:tags r:id="rId1"/>
    </p:custDataLst>
    <p:extLst>
      <p:ext uri="{BB962C8B-B14F-4D97-AF65-F5344CB8AC3E}">
        <p14:creationId xmlns:p14="http://schemas.microsoft.com/office/powerpoint/2010/main" val="1344645826"/>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up)">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C46F4-A361-7A07-F8A4-257CE7BBECDB}"/>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D1CC14A6-21DA-40EE-9F6B-16F90D81679B}"/>
              </a:ext>
            </a:extLst>
          </p:cNvPr>
          <p:cNvSpPr txBox="1"/>
          <p:nvPr/>
        </p:nvSpPr>
        <p:spPr>
          <a:xfrm>
            <a:off x="630001" y="1224000"/>
            <a:ext cx="11085750" cy="3429080"/>
          </a:xfrm>
          <a:prstGeom prst="rect">
            <a:avLst/>
          </a:prstGeom>
          <a:noFill/>
        </p:spPr>
        <p:txBody>
          <a:bodyPr wrap="square">
            <a:spAutoFit/>
          </a:bodyPr>
          <a:lstStyle/>
          <a:p>
            <a:pPr marL="342900" indent="-342900">
              <a:lnSpc>
                <a:spcPct val="150000"/>
              </a:lnSpc>
              <a:buFont typeface="+mj-lt"/>
              <a:buAutoNum type="arabicPeriod" startAt="5"/>
            </a:pPr>
            <a:r>
              <a:rPr lang="en-CA" sz="1600" b="1" dirty="0">
                <a:solidFill>
                  <a:schemeClr val="bg1">
                    <a:lumMod val="85000"/>
                  </a:schemeClr>
                </a:solidFill>
              </a:rPr>
              <a:t>Revenue Maximization:</a:t>
            </a:r>
          </a:p>
          <a:p>
            <a:pPr marL="800100" lvl="1" indent="-342900">
              <a:lnSpc>
                <a:spcPct val="150000"/>
              </a:lnSpc>
              <a:buFont typeface="Arial" panose="020B0604020202020204" pitchFamily="34" charset="0"/>
              <a:buChar char="•"/>
            </a:pPr>
            <a:r>
              <a:rPr lang="en-CA" sz="1400" dirty="0">
                <a:solidFill>
                  <a:schemeClr val="bg1">
                    <a:lumMod val="85000"/>
                  </a:schemeClr>
                </a:solidFill>
              </a:rPr>
              <a:t>Improve retention strategies for Premium users on </a:t>
            </a:r>
            <a:r>
              <a:rPr lang="en-CA" sz="1400" dirty="0" err="1">
                <a:solidFill>
                  <a:schemeClr val="bg1">
                    <a:lumMod val="85000"/>
                  </a:schemeClr>
                </a:solidFill>
              </a:rPr>
              <a:t>LioCinema</a:t>
            </a:r>
            <a:r>
              <a:rPr lang="en-CA" sz="1400" dirty="0">
                <a:solidFill>
                  <a:schemeClr val="bg1">
                    <a:lumMod val="85000"/>
                  </a:schemeClr>
                </a:solidFill>
              </a:rPr>
              <a:t> to mitigate revenue losses from downgrades.</a:t>
            </a:r>
          </a:p>
          <a:p>
            <a:pPr marL="800100" lvl="1" indent="-342900">
              <a:lnSpc>
                <a:spcPct val="150000"/>
              </a:lnSpc>
              <a:buFont typeface="Arial" panose="020B0604020202020204" pitchFamily="34" charset="0"/>
              <a:buChar char="•"/>
            </a:pPr>
            <a:r>
              <a:rPr lang="en-CA" sz="1400" dirty="0">
                <a:solidFill>
                  <a:schemeClr val="bg1">
                    <a:lumMod val="85000"/>
                  </a:schemeClr>
                </a:solidFill>
              </a:rPr>
              <a:t>Focus on converting </a:t>
            </a:r>
            <a:r>
              <a:rPr lang="en-CA" sz="1400" dirty="0" err="1">
                <a:solidFill>
                  <a:schemeClr val="bg1">
                    <a:lumMod val="85000"/>
                  </a:schemeClr>
                </a:solidFill>
              </a:rPr>
              <a:t>Jotstar’s</a:t>
            </a:r>
            <a:r>
              <a:rPr lang="en-CA" sz="1400" dirty="0">
                <a:solidFill>
                  <a:schemeClr val="bg1">
                    <a:lumMod val="85000"/>
                  </a:schemeClr>
                </a:solidFill>
              </a:rPr>
              <a:t> VIP users to Premium plans through value-add services or exclusive content.</a:t>
            </a:r>
          </a:p>
          <a:p>
            <a:pPr marL="342900" indent="-342900">
              <a:lnSpc>
                <a:spcPct val="150000"/>
              </a:lnSpc>
              <a:buFont typeface="+mj-lt"/>
              <a:buAutoNum type="arabicPeriod" startAt="5"/>
            </a:pPr>
            <a:r>
              <a:rPr lang="en-CA" sz="1600" b="1" dirty="0">
                <a:solidFill>
                  <a:schemeClr val="bg1">
                    <a:lumMod val="85000"/>
                  </a:schemeClr>
                </a:solidFill>
              </a:rPr>
              <a:t>Platform Consolidation &amp; Synergy:</a:t>
            </a:r>
          </a:p>
          <a:p>
            <a:pPr marL="800100" lvl="1" indent="-342900">
              <a:lnSpc>
                <a:spcPct val="150000"/>
              </a:lnSpc>
              <a:buFont typeface="Arial" panose="020B0604020202020204" pitchFamily="34" charset="0"/>
              <a:buChar char="•"/>
            </a:pPr>
            <a:r>
              <a:rPr lang="en-CA" sz="1400" dirty="0">
                <a:solidFill>
                  <a:schemeClr val="bg1">
                    <a:lumMod val="85000"/>
                  </a:schemeClr>
                </a:solidFill>
              </a:rPr>
              <a:t>Utilize </a:t>
            </a:r>
            <a:r>
              <a:rPr lang="en-CA" sz="1400" dirty="0" err="1">
                <a:solidFill>
                  <a:schemeClr val="bg1">
                    <a:lumMod val="85000"/>
                  </a:schemeClr>
                </a:solidFill>
              </a:rPr>
              <a:t>LioCinema’s</a:t>
            </a:r>
            <a:r>
              <a:rPr lang="en-CA" sz="1400" dirty="0">
                <a:solidFill>
                  <a:schemeClr val="bg1">
                    <a:lumMod val="85000"/>
                  </a:schemeClr>
                </a:solidFill>
              </a:rPr>
              <a:t> extensive reach across Tier 3 cities and </a:t>
            </a:r>
            <a:r>
              <a:rPr lang="en-CA" sz="1400" dirty="0" err="1">
                <a:solidFill>
                  <a:schemeClr val="bg1">
                    <a:lumMod val="85000"/>
                  </a:schemeClr>
                </a:solidFill>
              </a:rPr>
              <a:t>Jotstar’s</a:t>
            </a:r>
            <a:r>
              <a:rPr lang="en-CA" sz="1400" dirty="0">
                <a:solidFill>
                  <a:schemeClr val="bg1">
                    <a:lumMod val="85000"/>
                  </a:schemeClr>
                </a:solidFill>
              </a:rPr>
              <a:t> paid user base in Tier 1 cities to create a unified and inclusive OTT platform.</a:t>
            </a:r>
          </a:p>
          <a:p>
            <a:pPr marL="800100" lvl="1" indent="-342900">
              <a:lnSpc>
                <a:spcPct val="150000"/>
              </a:lnSpc>
              <a:buFont typeface="Arial" panose="020B0604020202020204" pitchFamily="34" charset="0"/>
              <a:buChar char="•"/>
            </a:pPr>
            <a:r>
              <a:rPr lang="en-CA" sz="1400" dirty="0">
                <a:solidFill>
                  <a:schemeClr val="bg1">
                    <a:lumMod val="85000"/>
                  </a:schemeClr>
                </a:solidFill>
              </a:rPr>
              <a:t>Develop an integrated platform offering tailored subscription plans, considering city tiers, age groups, and content preferences.</a:t>
            </a:r>
          </a:p>
          <a:p>
            <a:pPr marL="342900" indent="-342900">
              <a:lnSpc>
                <a:spcPct val="150000"/>
              </a:lnSpc>
              <a:buFont typeface="+mj-lt"/>
              <a:buAutoNum type="arabicPeriod" startAt="5"/>
            </a:pPr>
            <a:r>
              <a:rPr lang="en-CA" sz="1600" b="1" dirty="0">
                <a:solidFill>
                  <a:schemeClr val="bg1">
                    <a:lumMod val="85000"/>
                  </a:schemeClr>
                </a:solidFill>
              </a:rPr>
              <a:t>Performance Tracking &amp; Continuous Improvement:</a:t>
            </a:r>
          </a:p>
          <a:p>
            <a:pPr marL="800100" lvl="1" indent="-342900">
              <a:lnSpc>
                <a:spcPct val="150000"/>
              </a:lnSpc>
              <a:buFont typeface="Arial" panose="020B0604020202020204" pitchFamily="34" charset="0"/>
              <a:buChar char="•"/>
            </a:pPr>
            <a:r>
              <a:rPr lang="en-CA" sz="1400" dirty="0">
                <a:solidFill>
                  <a:schemeClr val="bg1">
                    <a:lumMod val="85000"/>
                  </a:schemeClr>
                </a:solidFill>
              </a:rPr>
              <a:t>Regularly monitor engagement metrics and inactivity patterns to enhance retention strategies.</a:t>
            </a:r>
          </a:p>
          <a:p>
            <a:pPr marL="800100" lvl="1" indent="-342900">
              <a:lnSpc>
                <a:spcPct val="150000"/>
              </a:lnSpc>
              <a:buFont typeface="Arial" panose="020B0604020202020204" pitchFamily="34" charset="0"/>
              <a:buChar char="•"/>
            </a:pPr>
            <a:r>
              <a:rPr lang="en-CA" sz="1400" dirty="0">
                <a:solidFill>
                  <a:schemeClr val="bg1">
                    <a:lumMod val="85000"/>
                  </a:schemeClr>
                </a:solidFill>
              </a:rPr>
              <a:t>Continuously analyze content consumption trends to optimize the content library for broader audience appeal.</a:t>
            </a:r>
            <a:endParaRPr lang="en-CA" sz="1200" dirty="0">
              <a:solidFill>
                <a:schemeClr val="bg1">
                  <a:lumMod val="85000"/>
                </a:schemeClr>
              </a:solidFill>
            </a:endParaRPr>
          </a:p>
        </p:txBody>
      </p:sp>
      <p:sp>
        <p:nvSpPr>
          <p:cNvPr id="5" name="Title 1">
            <a:extLst>
              <a:ext uri="{FF2B5EF4-FFF2-40B4-BE49-F238E27FC236}">
                <a16:creationId xmlns:a16="http://schemas.microsoft.com/office/drawing/2014/main" id="{E9C0F7EC-20E4-278B-EAC8-94C97A92B6EA}"/>
              </a:ext>
            </a:extLst>
          </p:cNvPr>
          <p:cNvSpPr>
            <a:spLocks noGrp="1"/>
          </p:cNvSpPr>
          <p:nvPr>
            <p:ph type="title"/>
          </p:nvPr>
        </p:nvSpPr>
        <p:spPr>
          <a:xfrm>
            <a:off x="1029970" y="313784"/>
            <a:ext cx="10087610" cy="833754"/>
          </a:xfrm>
        </p:spPr>
        <p:txBody>
          <a:bodyPr>
            <a:normAutofit/>
          </a:bodyPr>
          <a:lstStyle/>
          <a:p>
            <a:pPr algn="ctr"/>
            <a:r>
              <a:rPr lang="en-US" sz="2400" b="1" kern="100" dirty="0">
                <a:highlight>
                  <a:srgbClr val="C0C0C0"/>
                </a:highlight>
                <a:uFill>
                  <a:solidFill>
                    <a:srgbClr val="000000"/>
                  </a:solidFill>
                </a:uFill>
                <a:latin typeface="Aptos (Body)"/>
                <a:ea typeface="Calibri" panose="020F0502020204030204" pitchFamily="34" charset="0"/>
                <a:cs typeface="Calibri" panose="020F0502020204030204" pitchFamily="34" charset="0"/>
              </a:rPr>
              <a:t> Strategic Recommendations for Lio-</a:t>
            </a:r>
            <a:r>
              <a:rPr lang="en-US" sz="2400" b="1" kern="100" dirty="0" err="1">
                <a:highlight>
                  <a:srgbClr val="C0C0C0"/>
                </a:highlight>
                <a:uFill>
                  <a:solidFill>
                    <a:srgbClr val="000000"/>
                  </a:solidFill>
                </a:uFill>
                <a:latin typeface="Aptos (Body)"/>
                <a:ea typeface="Calibri" panose="020F0502020204030204" pitchFamily="34" charset="0"/>
                <a:cs typeface="Calibri" panose="020F0502020204030204" pitchFamily="34" charset="0"/>
              </a:rPr>
              <a:t>Jotstar</a:t>
            </a:r>
            <a:r>
              <a:rPr lang="en-US" sz="2400" b="1" kern="100" dirty="0">
                <a:highlight>
                  <a:srgbClr val="C0C0C0"/>
                </a:highlight>
                <a:uFill>
                  <a:solidFill>
                    <a:srgbClr val="000000"/>
                  </a:solidFill>
                </a:uFill>
                <a:latin typeface="Aptos (Body)"/>
                <a:ea typeface="Calibri" panose="020F0502020204030204" pitchFamily="34" charset="0"/>
                <a:cs typeface="Calibri" panose="020F0502020204030204" pitchFamily="34" charset="0"/>
              </a:rPr>
              <a:t> Merger</a:t>
            </a:r>
            <a:endParaRPr lang="en-CA" sz="7200" b="1" dirty="0">
              <a:highlight>
                <a:srgbClr val="C0C0C0"/>
              </a:highlight>
              <a:latin typeface="Aptos (Body)"/>
            </a:endParaRPr>
          </a:p>
        </p:txBody>
      </p:sp>
    </p:spTree>
    <p:custDataLst>
      <p:tags r:id="rId1"/>
    </p:custDataLst>
    <p:extLst>
      <p:ext uri="{BB962C8B-B14F-4D97-AF65-F5344CB8AC3E}">
        <p14:creationId xmlns:p14="http://schemas.microsoft.com/office/powerpoint/2010/main" val="73013530"/>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up)">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C902148-7EF9-3D3E-E34F-2CB9DBC56D34}"/>
              </a:ext>
            </a:extLst>
          </p:cNvPr>
          <p:cNvSpPr txBox="1"/>
          <p:nvPr/>
        </p:nvSpPr>
        <p:spPr>
          <a:xfrm>
            <a:off x="4157905" y="334329"/>
            <a:ext cx="3876189" cy="584775"/>
          </a:xfrm>
          <a:prstGeom prst="rect">
            <a:avLst/>
          </a:prstGeom>
          <a:noFill/>
        </p:spPr>
        <p:txBody>
          <a:bodyPr wrap="none" rtlCol="0">
            <a:spAutoFit/>
          </a:bodyPr>
          <a:lstStyle/>
          <a:p>
            <a:pPr algn="ctr"/>
            <a:r>
              <a:rPr lang="en-CA" sz="3200" b="1" dirty="0">
                <a:solidFill>
                  <a:schemeClr val="bg1"/>
                </a:solidFill>
              </a:rPr>
              <a:t>Special Thanks to . .</a:t>
            </a:r>
          </a:p>
        </p:txBody>
      </p:sp>
      <p:grpSp>
        <p:nvGrpSpPr>
          <p:cNvPr id="14" name="Group 13">
            <a:extLst>
              <a:ext uri="{FF2B5EF4-FFF2-40B4-BE49-F238E27FC236}">
                <a16:creationId xmlns:a16="http://schemas.microsoft.com/office/drawing/2014/main" id="{4A8C7066-778D-FF4D-3E44-4C6154BD5247}"/>
              </a:ext>
            </a:extLst>
          </p:cNvPr>
          <p:cNvGrpSpPr/>
          <p:nvPr/>
        </p:nvGrpSpPr>
        <p:grpSpPr>
          <a:xfrm>
            <a:off x="6126988" y="1693441"/>
            <a:ext cx="2289817" cy="2339819"/>
            <a:chOff x="6214872" y="1666451"/>
            <a:chExt cx="2197608" cy="2339819"/>
          </a:xfrm>
        </p:grpSpPr>
        <p:pic>
          <p:nvPicPr>
            <p:cNvPr id="13316" name="Picture 4" descr="Hemanand Vadivel - Atliq">
              <a:extLst>
                <a:ext uri="{FF2B5EF4-FFF2-40B4-BE49-F238E27FC236}">
                  <a16:creationId xmlns:a16="http://schemas.microsoft.com/office/drawing/2014/main" id="{1C3BBA22-BBBD-F124-F69A-6E1B707E7C0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481" t="9935" r="2990" b="10040"/>
            <a:stretch/>
          </p:blipFill>
          <p:spPr bwMode="auto">
            <a:xfrm>
              <a:off x="6332033" y="1666451"/>
              <a:ext cx="1740616" cy="1793367"/>
            </a:xfrm>
            <a:prstGeom prst="ellipse">
              <a:avLst/>
            </a:prstGeom>
            <a:ln w="63500" cap="rnd">
              <a:solidFill>
                <a:srgbClr val="A9A2CE"/>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02FD592A-B520-7628-4D9D-2D15751D6ACD}"/>
                </a:ext>
              </a:extLst>
            </p:cNvPr>
            <p:cNvSpPr txBox="1"/>
            <p:nvPr/>
          </p:nvSpPr>
          <p:spPr>
            <a:xfrm>
              <a:off x="6214872" y="3636938"/>
              <a:ext cx="2197608" cy="369332"/>
            </a:xfrm>
            <a:prstGeom prst="rect">
              <a:avLst/>
            </a:prstGeom>
            <a:noFill/>
            <a:ln>
              <a:noFill/>
            </a:ln>
          </p:spPr>
          <p:txBody>
            <a:bodyPr wrap="square">
              <a:spAutoFit/>
            </a:bodyPr>
            <a:lstStyle/>
            <a:p>
              <a:pPr algn="ctr"/>
              <a:r>
                <a:rPr lang="en-CA" b="1" dirty="0" err="1">
                  <a:solidFill>
                    <a:schemeClr val="bg1"/>
                  </a:solidFill>
                </a:rPr>
                <a:t>Hemanand</a:t>
              </a:r>
              <a:r>
                <a:rPr lang="en-CA" b="1" dirty="0">
                  <a:solidFill>
                    <a:schemeClr val="bg1"/>
                  </a:solidFill>
                </a:rPr>
                <a:t> Vadivel</a:t>
              </a:r>
            </a:p>
          </p:txBody>
        </p:sp>
      </p:grpSp>
      <p:grpSp>
        <p:nvGrpSpPr>
          <p:cNvPr id="16" name="Group 15">
            <a:extLst>
              <a:ext uri="{FF2B5EF4-FFF2-40B4-BE49-F238E27FC236}">
                <a16:creationId xmlns:a16="http://schemas.microsoft.com/office/drawing/2014/main" id="{6563B569-CA8D-1E09-897A-D591F66A8B19}"/>
              </a:ext>
            </a:extLst>
          </p:cNvPr>
          <p:cNvGrpSpPr/>
          <p:nvPr/>
        </p:nvGrpSpPr>
        <p:grpSpPr>
          <a:xfrm>
            <a:off x="4011049" y="1698080"/>
            <a:ext cx="1813374" cy="2335180"/>
            <a:chOff x="3855850" y="1666452"/>
            <a:chExt cx="1813374" cy="2335180"/>
          </a:xfrm>
        </p:grpSpPr>
        <p:pic>
          <p:nvPicPr>
            <p:cNvPr id="17" name="Picture 6">
              <a:extLst>
                <a:ext uri="{FF2B5EF4-FFF2-40B4-BE49-F238E27FC236}">
                  <a16:creationId xmlns:a16="http://schemas.microsoft.com/office/drawing/2014/main" id="{4E887CCB-A929-6569-DC65-D48EDDFCD4F6}"/>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7270" r="18436"/>
            <a:stretch/>
          </p:blipFill>
          <p:spPr bwMode="auto">
            <a:xfrm>
              <a:off x="3875857" y="1666452"/>
              <a:ext cx="1793367" cy="1793367"/>
            </a:xfrm>
            <a:prstGeom prst="ellipse">
              <a:avLst/>
            </a:prstGeom>
            <a:ln w="63500" cap="rnd">
              <a:solidFill>
                <a:srgbClr val="A9A2CE"/>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77848364-0CC3-DD94-226A-A2636FD9BFFA}"/>
                </a:ext>
              </a:extLst>
            </p:cNvPr>
            <p:cNvSpPr txBox="1"/>
            <p:nvPr/>
          </p:nvSpPr>
          <p:spPr>
            <a:xfrm>
              <a:off x="3855850" y="3632300"/>
              <a:ext cx="1813374" cy="369332"/>
            </a:xfrm>
            <a:prstGeom prst="rect">
              <a:avLst/>
            </a:prstGeom>
            <a:noFill/>
          </p:spPr>
          <p:txBody>
            <a:bodyPr wrap="square">
              <a:spAutoFit/>
            </a:bodyPr>
            <a:lstStyle/>
            <a:p>
              <a:pPr algn="ctr"/>
              <a:r>
                <a:rPr lang="en-CA" b="1" dirty="0">
                  <a:solidFill>
                    <a:schemeClr val="bg1"/>
                  </a:solidFill>
                </a:rPr>
                <a:t>Dhaval Patel</a:t>
              </a:r>
            </a:p>
          </p:txBody>
        </p:sp>
      </p:grpSp>
      <p:grpSp>
        <p:nvGrpSpPr>
          <p:cNvPr id="20" name="Group 19">
            <a:extLst>
              <a:ext uri="{FF2B5EF4-FFF2-40B4-BE49-F238E27FC236}">
                <a16:creationId xmlns:a16="http://schemas.microsoft.com/office/drawing/2014/main" id="{E61F6E93-AD08-4D3D-77D8-D54A61CCFA9A}"/>
              </a:ext>
            </a:extLst>
          </p:cNvPr>
          <p:cNvGrpSpPr/>
          <p:nvPr/>
        </p:nvGrpSpPr>
        <p:grpSpPr>
          <a:xfrm>
            <a:off x="5014259" y="4920035"/>
            <a:ext cx="2031672" cy="1260036"/>
            <a:chOff x="4888415" y="4370833"/>
            <a:chExt cx="2415166" cy="1447395"/>
          </a:xfrm>
        </p:grpSpPr>
        <p:pic>
          <p:nvPicPr>
            <p:cNvPr id="15" name="Picture 14" descr="A white text on a black background&#10;&#10;Description automatically generated">
              <a:extLst>
                <a:ext uri="{FF2B5EF4-FFF2-40B4-BE49-F238E27FC236}">
                  <a16:creationId xmlns:a16="http://schemas.microsoft.com/office/drawing/2014/main" id="{796528C4-80CC-9B82-7D63-C7822580666A}"/>
                </a:ext>
              </a:extLst>
            </p:cNvPr>
            <p:cNvPicPr>
              <a:picLocks noChangeAspect="1"/>
            </p:cNvPicPr>
            <p:nvPr/>
          </p:nvPicPr>
          <p:blipFill rotWithShape="1">
            <a:blip r:embed="rId6">
              <a:extLst>
                <a:ext uri="{28A0092B-C50C-407E-A947-70E740481C1C}">
                  <a14:useLocalDpi xmlns:a14="http://schemas.microsoft.com/office/drawing/2010/main" val="0"/>
                </a:ext>
              </a:extLst>
            </a:blip>
            <a:srcRect l="12849" t="32365" r="10272" b="30986"/>
            <a:stretch/>
          </p:blipFill>
          <p:spPr>
            <a:xfrm>
              <a:off x="5034031" y="4370833"/>
              <a:ext cx="2197609" cy="1047598"/>
            </a:xfrm>
            <a:prstGeom prst="rect">
              <a:avLst/>
            </a:prstGeom>
          </p:spPr>
        </p:pic>
        <p:sp>
          <p:nvSpPr>
            <p:cNvPr id="19" name="TextBox 18">
              <a:extLst>
                <a:ext uri="{FF2B5EF4-FFF2-40B4-BE49-F238E27FC236}">
                  <a16:creationId xmlns:a16="http://schemas.microsoft.com/office/drawing/2014/main" id="{3336390F-4237-1522-1B5A-6D04BB93DE68}"/>
                </a:ext>
              </a:extLst>
            </p:cNvPr>
            <p:cNvSpPr txBox="1"/>
            <p:nvPr/>
          </p:nvSpPr>
          <p:spPr>
            <a:xfrm>
              <a:off x="4888415" y="5448896"/>
              <a:ext cx="2415166" cy="369332"/>
            </a:xfrm>
            <a:prstGeom prst="rect">
              <a:avLst/>
            </a:prstGeom>
            <a:noFill/>
          </p:spPr>
          <p:txBody>
            <a:bodyPr wrap="square" rtlCol="0">
              <a:spAutoFit/>
            </a:bodyPr>
            <a:lstStyle/>
            <a:p>
              <a:pPr algn="ctr"/>
              <a:r>
                <a:rPr lang="en-CA" b="1" dirty="0">
                  <a:solidFill>
                    <a:schemeClr val="bg1"/>
                  </a:solidFill>
                </a:rPr>
                <a:t>T  E  A  M</a:t>
              </a:r>
            </a:p>
          </p:txBody>
        </p:sp>
      </p:grpSp>
      <p:sp>
        <p:nvSpPr>
          <p:cNvPr id="2" name="TextBox 1">
            <a:extLst>
              <a:ext uri="{FF2B5EF4-FFF2-40B4-BE49-F238E27FC236}">
                <a16:creationId xmlns:a16="http://schemas.microsoft.com/office/drawing/2014/main" id="{7C498728-8EB9-290B-93C9-B2C4648CE513}"/>
              </a:ext>
            </a:extLst>
          </p:cNvPr>
          <p:cNvSpPr txBox="1"/>
          <p:nvPr/>
        </p:nvSpPr>
        <p:spPr>
          <a:xfrm>
            <a:off x="5811125" y="4111554"/>
            <a:ext cx="437940" cy="523220"/>
          </a:xfrm>
          <a:prstGeom prst="rect">
            <a:avLst/>
          </a:prstGeom>
          <a:noFill/>
        </p:spPr>
        <p:txBody>
          <a:bodyPr wrap="none" rtlCol="0">
            <a:spAutoFit/>
          </a:bodyPr>
          <a:lstStyle/>
          <a:p>
            <a:r>
              <a:rPr lang="en-CA" sz="2800" b="1" dirty="0">
                <a:solidFill>
                  <a:schemeClr val="bg2"/>
                </a:solidFill>
              </a:rPr>
              <a:t>&amp;</a:t>
            </a:r>
          </a:p>
        </p:txBody>
      </p:sp>
    </p:spTree>
    <p:custDataLst>
      <p:tags r:id="rId1"/>
    </p:custDataLst>
    <p:extLst>
      <p:ext uri="{BB962C8B-B14F-4D97-AF65-F5344CB8AC3E}">
        <p14:creationId xmlns:p14="http://schemas.microsoft.com/office/powerpoint/2010/main" val="1635783044"/>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up)">
                                      <p:cBhvr>
                                        <p:cTn id="7" dur="500"/>
                                        <p:tgtEl>
                                          <p:spTgt spid="14"/>
                                        </p:tgtEl>
                                      </p:cBhvr>
                                    </p:animEffect>
                                  </p:childTnLst>
                                </p:cTn>
                              </p:par>
                              <p:par>
                                <p:cTn id="8" presetID="22" presetClass="entr" presetSubtype="1"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wipe(up)">
                                      <p:cBhvr>
                                        <p:cTn id="10" dur="5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1000"/>
                                        <p:tgtEl>
                                          <p:spTgt spid="20"/>
                                        </p:tgtEl>
                                      </p:cBhvr>
                                    </p:animEffect>
                                    <p:anim calcmode="lin" valueType="num">
                                      <p:cBhvr>
                                        <p:cTn id="16" dur="1000" fill="hold"/>
                                        <p:tgtEl>
                                          <p:spTgt spid="20"/>
                                        </p:tgtEl>
                                        <p:attrNameLst>
                                          <p:attrName>ppt_x</p:attrName>
                                        </p:attrNameLst>
                                      </p:cBhvr>
                                      <p:tavLst>
                                        <p:tav tm="0">
                                          <p:val>
                                            <p:strVal val="#ppt_x"/>
                                          </p:val>
                                        </p:tav>
                                        <p:tav tm="100000">
                                          <p:val>
                                            <p:strVal val="#ppt_x"/>
                                          </p:val>
                                        </p:tav>
                                      </p:tavLst>
                                    </p:anim>
                                    <p:anim calcmode="lin" valueType="num">
                                      <p:cBhvr>
                                        <p:cTn id="17"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BC4A6C6-D42F-1155-CD76-5F3F603B00E3}"/>
              </a:ext>
            </a:extLst>
          </p:cNvPr>
          <p:cNvSpPr txBox="1"/>
          <p:nvPr/>
        </p:nvSpPr>
        <p:spPr>
          <a:xfrm>
            <a:off x="4224750" y="2921168"/>
            <a:ext cx="3742499" cy="1015663"/>
          </a:xfrm>
          <a:prstGeom prst="rect">
            <a:avLst/>
          </a:prstGeom>
          <a:noFill/>
        </p:spPr>
        <p:txBody>
          <a:bodyPr wrap="none" rtlCol="0">
            <a:spAutoFit/>
          </a:bodyPr>
          <a:lstStyle/>
          <a:p>
            <a:pPr algn="ctr"/>
            <a:r>
              <a:rPr lang="en-CA" sz="6000" b="1" dirty="0">
                <a:solidFill>
                  <a:schemeClr val="bg1"/>
                </a:solidFill>
              </a:rPr>
              <a:t>Thank You</a:t>
            </a:r>
          </a:p>
        </p:txBody>
      </p:sp>
      <p:pic>
        <p:nvPicPr>
          <p:cNvPr id="10" name="Picture 9" descr="A blue circle with a white and black logo&#10;&#10;AI-generated content may be incorrect.">
            <a:extLst>
              <a:ext uri="{FF2B5EF4-FFF2-40B4-BE49-F238E27FC236}">
                <a16:creationId xmlns:a16="http://schemas.microsoft.com/office/drawing/2014/main" id="{C76B3BF0-6CA1-5F62-E026-4AD822F9D62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67249" y="2780961"/>
            <a:ext cx="1902251" cy="1295736"/>
          </a:xfrm>
          <a:prstGeom prst="rect">
            <a:avLst/>
          </a:prstGeom>
        </p:spPr>
      </p:pic>
      <p:pic>
        <p:nvPicPr>
          <p:cNvPr id="12" name="Picture 11" descr="A red star with lines in the middle&#10;&#10;AI-generated content may be incorrect.">
            <a:extLst>
              <a:ext uri="{FF2B5EF4-FFF2-40B4-BE49-F238E27FC236}">
                <a16:creationId xmlns:a16="http://schemas.microsoft.com/office/drawing/2014/main" id="{F88B9855-2F74-F7F8-EDBA-6D26BBE3578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89921" y="2781131"/>
            <a:ext cx="1360008" cy="1295735"/>
          </a:xfrm>
          <a:prstGeom prst="rect">
            <a:avLst/>
          </a:prstGeom>
        </p:spPr>
      </p:pic>
    </p:spTree>
    <p:extLst>
      <p:ext uri="{BB962C8B-B14F-4D97-AF65-F5344CB8AC3E}">
        <p14:creationId xmlns:p14="http://schemas.microsoft.com/office/powerpoint/2010/main" val="847222839"/>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0.3|1.4"/>
</p:tagLst>
</file>

<file path=ppt/tags/tag2.xml><?xml version="1.0" encoding="utf-8"?>
<p:tagLst xmlns:a="http://schemas.openxmlformats.org/drawingml/2006/main" xmlns:r="http://schemas.openxmlformats.org/officeDocument/2006/relationships" xmlns:p="http://schemas.openxmlformats.org/presentationml/2006/main">
  <p:tag name="TIMING" val="|2.4|2.7|3.7|3.5|4.4|4.7"/>
</p:tagLst>
</file>

<file path=ppt/tags/tag3.xml><?xml version="1.0" encoding="utf-8"?>
<p:tagLst xmlns:a="http://schemas.openxmlformats.org/drawingml/2006/main" xmlns:r="http://schemas.openxmlformats.org/officeDocument/2006/relationships" xmlns:p="http://schemas.openxmlformats.org/presentationml/2006/main">
  <p:tag name="TIMING" val="|1.4|5.2|0.7|2.2|0.7|15|1.9|2.4|9.2|2.6|2.4"/>
</p:tagLst>
</file>

<file path=ppt/tags/tag4.xml><?xml version="1.0" encoding="utf-8"?>
<p:tagLst xmlns:a="http://schemas.openxmlformats.org/drawingml/2006/main" xmlns:r="http://schemas.openxmlformats.org/officeDocument/2006/relationships" xmlns:p="http://schemas.openxmlformats.org/presentationml/2006/main">
  <p:tag name="TIMING" val="|3.3|6.3|1.1"/>
</p:tagLst>
</file>

<file path=ppt/tags/tag5.xml><?xml version="1.0" encoding="utf-8"?>
<p:tagLst xmlns:a="http://schemas.openxmlformats.org/drawingml/2006/main" xmlns:r="http://schemas.openxmlformats.org/officeDocument/2006/relationships" xmlns:p="http://schemas.openxmlformats.org/presentationml/2006/main">
  <p:tag name="TIMING" val="|4|0.6|6|1|5.7"/>
</p:tagLst>
</file>

<file path=ppt/tags/tag6.xml><?xml version="1.0" encoding="utf-8"?>
<p:tagLst xmlns:a="http://schemas.openxmlformats.org/drawingml/2006/main" xmlns:r="http://schemas.openxmlformats.org/officeDocument/2006/relationships" xmlns:p="http://schemas.openxmlformats.org/presentationml/2006/main">
  <p:tag name="TIMING" val="|4|0.6|6|1|5.7"/>
</p:tagLst>
</file>

<file path=ppt/tags/tag7.xml><?xml version="1.0" encoding="utf-8"?>
<p:tagLst xmlns:a="http://schemas.openxmlformats.org/drawingml/2006/main" xmlns:r="http://schemas.openxmlformats.org/officeDocument/2006/relationships" xmlns:p="http://schemas.openxmlformats.org/presentationml/2006/main">
  <p:tag name="TIMING" val="|2.7|1.1|2.7|1.7|8|2.2"/>
</p:tagLst>
</file>

<file path=ppt/tags/tag8.xml><?xml version="1.0" encoding="utf-8"?>
<p:tagLst xmlns:a="http://schemas.openxmlformats.org/drawingml/2006/main" xmlns:r="http://schemas.openxmlformats.org/officeDocument/2006/relationships" xmlns:p="http://schemas.openxmlformats.org/presentationml/2006/main">
  <p:tag name="TIMING" val="|4.3|1|5.8|6.1"/>
</p:tagLst>
</file>

<file path=ppt/tags/tag9.xml><?xml version="1.0" encoding="utf-8"?>
<p:tagLst xmlns:a="http://schemas.openxmlformats.org/drawingml/2006/main" xmlns:r="http://schemas.openxmlformats.org/officeDocument/2006/relationships" xmlns:p="http://schemas.openxmlformats.org/presentationml/2006/main">
  <p:tag name="TIMING" val="|4.3|1|5.8|6.1"/>
</p:tagLst>
</file>

<file path=ppt/tags/tag10.xml><?xml version="1.0" encoding="utf-8"?>
<p:tagLst xmlns:a="http://schemas.openxmlformats.org/drawingml/2006/main" xmlns:r="http://schemas.openxmlformats.org/officeDocument/2006/relationships" xmlns:p="http://schemas.openxmlformats.org/presentationml/2006/main">
  <p:tag name="TIMING" val="|4.3|1.1"/>
</p:tagLst>
</file>

<file path=ppt/tags/tag11.xml><?xml version="1.0" encoding="utf-8"?>
<p:tagLst xmlns:a="http://schemas.openxmlformats.org/drawingml/2006/main" xmlns:r="http://schemas.openxmlformats.org/officeDocument/2006/relationships" xmlns:p="http://schemas.openxmlformats.org/presentationml/2006/main">
  <p:tag name="TIMING" val="|3.7|1.4|3.2|1.3|1.2|8.4|2.7|9.9"/>
</p:tagLst>
</file>

<file path=ppt/tags/tag12.xml><?xml version="1.0" encoding="utf-8"?>
<p:tagLst xmlns:a="http://schemas.openxmlformats.org/drawingml/2006/main" xmlns:r="http://schemas.openxmlformats.org/officeDocument/2006/relationships" xmlns:p="http://schemas.openxmlformats.org/presentationml/2006/main">
  <p:tag name="TIMING" val="|4.5|1.1|9.1"/>
</p:tagLst>
</file>

<file path=ppt/tags/tag13.xml><?xml version="1.0" encoding="utf-8"?>
<p:tagLst xmlns:a="http://schemas.openxmlformats.org/drawingml/2006/main" xmlns:r="http://schemas.openxmlformats.org/officeDocument/2006/relationships" xmlns:p="http://schemas.openxmlformats.org/presentationml/2006/main">
  <p:tag name="TIMING" val="|4.5|1.1|9.1"/>
</p:tagLst>
</file>

<file path=ppt/tags/tag14.xml><?xml version="1.0" encoding="utf-8"?>
<p:tagLst xmlns:a="http://schemas.openxmlformats.org/drawingml/2006/main" xmlns:r="http://schemas.openxmlformats.org/officeDocument/2006/relationships" xmlns:p="http://schemas.openxmlformats.org/presentationml/2006/main">
  <p:tag name="TIMING" val="|4.1|0.8|8.3|5.4|7.3|2.8|6"/>
</p:tagLst>
</file>

<file path=ppt/tags/tag15.xml><?xml version="1.0" encoding="utf-8"?>
<p:tagLst xmlns:a="http://schemas.openxmlformats.org/drawingml/2006/main" xmlns:r="http://schemas.openxmlformats.org/officeDocument/2006/relationships" xmlns:p="http://schemas.openxmlformats.org/presentationml/2006/main">
  <p:tag name="TIMING" val="|4.1|0.8|8.3|5.4|7.3|2.8|6"/>
</p:tagLst>
</file>

<file path=ppt/tags/tag16.xml><?xml version="1.0" encoding="utf-8"?>
<p:tagLst xmlns:a="http://schemas.openxmlformats.org/drawingml/2006/main" xmlns:r="http://schemas.openxmlformats.org/officeDocument/2006/relationships" xmlns:p="http://schemas.openxmlformats.org/presentationml/2006/main">
  <p:tag name="TIMING" val="|4.1|0.8|8.3|5.4|7.3|2.8|6"/>
</p:tagLst>
</file>

<file path=ppt/tags/tag17.xml><?xml version="1.0" encoding="utf-8"?>
<p:tagLst xmlns:a="http://schemas.openxmlformats.org/drawingml/2006/main" xmlns:r="http://schemas.openxmlformats.org/officeDocument/2006/relationships" xmlns:p="http://schemas.openxmlformats.org/presentationml/2006/main">
  <p:tag name="TIMING" val="|4.8|1|10.9"/>
</p:tagLst>
</file>

<file path=ppt/tags/tag18.xml><?xml version="1.0" encoding="utf-8"?>
<p:tagLst xmlns:a="http://schemas.openxmlformats.org/drawingml/2006/main" xmlns:r="http://schemas.openxmlformats.org/officeDocument/2006/relationships" xmlns:p="http://schemas.openxmlformats.org/presentationml/2006/main">
  <p:tag name="TIMING" val="|4.8|1|10.9"/>
</p:tagLst>
</file>

<file path=ppt/tags/tag19.xml><?xml version="1.0" encoding="utf-8"?>
<p:tagLst xmlns:a="http://schemas.openxmlformats.org/drawingml/2006/main" xmlns:r="http://schemas.openxmlformats.org/officeDocument/2006/relationships" xmlns:p="http://schemas.openxmlformats.org/presentationml/2006/main">
  <p:tag name="TIMING" val="|4.8|1|10.9"/>
</p:tagLst>
</file>

<file path=ppt/tags/tag20.xml><?xml version="1.0" encoding="utf-8"?>
<p:tagLst xmlns:a="http://schemas.openxmlformats.org/drawingml/2006/main" xmlns:r="http://schemas.openxmlformats.org/officeDocument/2006/relationships" xmlns:p="http://schemas.openxmlformats.org/presentationml/2006/main">
  <p:tag name="TIMING" val="|4.8|1|10.9"/>
</p:tagLst>
</file>

<file path=ppt/tags/tag21.xml><?xml version="1.0" encoding="utf-8"?>
<p:tagLst xmlns:a="http://schemas.openxmlformats.org/drawingml/2006/main" xmlns:r="http://schemas.openxmlformats.org/officeDocument/2006/relationships" xmlns:p="http://schemas.openxmlformats.org/presentationml/2006/main">
  <p:tag name="TIMING" val="|4.8|1|10.9"/>
</p:tagLst>
</file>

<file path=ppt/tags/tag22.xml><?xml version="1.0" encoding="utf-8"?>
<p:tagLst xmlns:a="http://schemas.openxmlformats.org/drawingml/2006/main" xmlns:r="http://schemas.openxmlformats.org/officeDocument/2006/relationships" xmlns:p="http://schemas.openxmlformats.org/presentationml/2006/main">
  <p:tag name="TIMING" val="|4.8|1|10.9"/>
</p:tagLst>
</file>

<file path=ppt/tags/tag23.xml><?xml version="1.0" encoding="utf-8"?>
<p:tagLst xmlns:a="http://schemas.openxmlformats.org/drawingml/2006/main" xmlns:r="http://schemas.openxmlformats.org/officeDocument/2006/relationships" xmlns:p="http://schemas.openxmlformats.org/presentationml/2006/main">
  <p:tag name="TIMING" val="|4.8|1|10.9"/>
</p:tagLst>
</file>

<file path=ppt/tags/tag24.xml><?xml version="1.0" encoding="utf-8"?>
<p:tagLst xmlns:a="http://schemas.openxmlformats.org/drawingml/2006/main" xmlns:r="http://schemas.openxmlformats.org/officeDocument/2006/relationships" xmlns:p="http://schemas.openxmlformats.org/presentationml/2006/main">
  <p:tag name="TIMING" val="|4.8|1|10.9"/>
</p:tagLst>
</file>

<file path=ppt/tags/tag25.xml><?xml version="1.0" encoding="utf-8"?>
<p:tagLst xmlns:a="http://schemas.openxmlformats.org/drawingml/2006/main" xmlns:r="http://schemas.openxmlformats.org/officeDocument/2006/relationships" xmlns:p="http://schemas.openxmlformats.org/presentationml/2006/main">
  <p:tag name="TIMING" val="|4.8|1|10.9"/>
</p:tagLst>
</file>

<file path=ppt/tags/tag26.xml><?xml version="1.0" encoding="utf-8"?>
<p:tagLst xmlns:a="http://schemas.openxmlformats.org/drawingml/2006/main" xmlns:r="http://schemas.openxmlformats.org/officeDocument/2006/relationships" xmlns:p="http://schemas.openxmlformats.org/presentationml/2006/main">
  <p:tag name="TIMING" val="|4.8|1|10.9"/>
</p:tagLst>
</file>

<file path=ppt/tags/tag27.xml><?xml version="1.0" encoding="utf-8"?>
<p:tagLst xmlns:a="http://schemas.openxmlformats.org/drawingml/2006/main" xmlns:r="http://schemas.openxmlformats.org/officeDocument/2006/relationships" xmlns:p="http://schemas.openxmlformats.org/presentationml/2006/main">
  <p:tag name="TIMING" val="|4.8|1|10.9"/>
</p:tagLst>
</file>

<file path=ppt/tags/tag28.xml><?xml version="1.0" encoding="utf-8"?>
<p:tagLst xmlns:a="http://schemas.openxmlformats.org/drawingml/2006/main" xmlns:r="http://schemas.openxmlformats.org/officeDocument/2006/relationships" xmlns:p="http://schemas.openxmlformats.org/presentationml/2006/main">
  <p:tag name="TIMING" val="|4.8|1|10.9"/>
</p:tagLst>
</file>

<file path=ppt/tags/tag29.xml><?xml version="1.0" encoding="utf-8"?>
<p:tagLst xmlns:a="http://schemas.openxmlformats.org/drawingml/2006/main" xmlns:r="http://schemas.openxmlformats.org/officeDocument/2006/relationships" xmlns:p="http://schemas.openxmlformats.org/presentationml/2006/main">
  <p:tag name="TIMING" val="|4.8|1|10.9"/>
</p:tagLst>
</file>

<file path=ppt/tags/tag30.xml><?xml version="1.0" encoding="utf-8"?>
<p:tagLst xmlns:a="http://schemas.openxmlformats.org/drawingml/2006/main" xmlns:r="http://schemas.openxmlformats.org/officeDocument/2006/relationships" xmlns:p="http://schemas.openxmlformats.org/presentationml/2006/main">
  <p:tag name="TIMING" val="|4.9|1.7"/>
</p:tagLst>
</file>

<file path=ppt/theme/theme1.xml><?xml version="1.0" encoding="utf-8"?>
<a:theme xmlns:a="http://schemas.openxmlformats.org/drawingml/2006/main" name="Theme1">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op Shadow">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3975" dist="41275" dir="14700000" algn="t" rotWithShape="0">
              <a:srgbClr val="000000">
                <a:alpha val="60000"/>
              </a:srgbClr>
            </a:outerShdw>
          </a:effectLst>
          <a:scene3d>
            <a:camera prst="orthographicFront">
              <a:rot lat="0" lon="0" rev="0"/>
            </a:camera>
            <a:lightRig rig="contrasting" dir="t">
              <a:rot lat="0" lon="0" rev="3600000"/>
            </a:lightRig>
          </a:scene3d>
          <a:sp3d prstMaterial="plastic">
            <a:bevelT w="127000" h="38200" prst="relaxedInse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1" id="{DB648E0B-3023-42DF-A212-A506B1C737A5}" vid="{25457BA3-3DD7-4547-835A-472AF48275F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Default Theme</Template>
  <TotalTime>14089</TotalTime>
  <Words>3691</Words>
  <Application>Microsoft Office PowerPoint</Application>
  <PresentationFormat>Widescreen</PresentationFormat>
  <Paragraphs>328</Paragraphs>
  <Slides>34</Slides>
  <Notes>32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34</vt:i4>
      </vt:variant>
    </vt:vector>
  </HeadingPairs>
  <TitlesOfParts>
    <vt:vector size="41" baseType="lpstr">
      <vt:lpstr>Aptos</vt:lpstr>
      <vt:lpstr>Aptos (Body)</vt:lpstr>
      <vt:lpstr>Arial</vt:lpstr>
      <vt:lpstr>Calibri</vt:lpstr>
      <vt:lpstr>Calibri Light</vt:lpstr>
      <vt:lpstr>Manrope</vt:lpstr>
      <vt:lpstr>Theme1</vt:lpstr>
      <vt:lpstr>PowerPoint Presentation</vt:lpstr>
      <vt:lpstr>PowerPoint Presentation</vt:lpstr>
      <vt:lpstr>PowerPoint Presentation</vt:lpstr>
      <vt:lpstr>PowerPoint Presentation</vt:lpstr>
      <vt:lpstr>PowerPoint Presentation</vt:lpstr>
      <vt:lpstr>Total Users &amp; Growth Trends</vt:lpstr>
      <vt:lpstr>Content Library Comparison</vt:lpstr>
      <vt:lpstr>Content Library Comparison</vt:lpstr>
      <vt:lpstr>User Demographics</vt:lpstr>
      <vt:lpstr>Active Users</vt:lpstr>
      <vt:lpstr>Inactive Users</vt:lpstr>
      <vt:lpstr>Watch Time Analysis</vt:lpstr>
      <vt:lpstr>Inactivity Correlation</vt:lpstr>
      <vt:lpstr>Downgrade Trends</vt:lpstr>
      <vt:lpstr>Upgrade Patterns</vt:lpstr>
      <vt:lpstr>Paid Users Distribution</vt:lpstr>
      <vt:lpstr>Revenue Analysis</vt:lpstr>
      <vt:lpstr>Revenue Analysis</vt:lpstr>
      <vt:lpstr>PowerPoint Presentation</vt:lpstr>
      <vt:lpstr>PowerPoint Presentation</vt:lpstr>
      <vt:lpstr>1. What strategies can the merged platform implement to increase engagement among inactive users and convert them into active users?</vt:lpstr>
      <vt:lpstr>2. What type of brand campaigns should the merged platform launch to establish itself as the go-to OTT platform in India?</vt:lpstr>
      <vt:lpstr>2. What type of brand campaigns should the merged platform launch to establish itself as the go-to OTT platform in India?</vt:lpstr>
      <vt:lpstr>3. How should the merged platform price its subscription plans to compete effectively while maintaining profitability?</vt:lpstr>
      <vt:lpstr>3. How should the merged platform price its subscription plans to compete effectively while maintaining profitability?</vt:lpstr>
      <vt:lpstr>4. How can the platform leverage partnerships with telecom companies to expand its subscriber base?</vt:lpstr>
      <vt:lpstr>4. How can the platform leverage partnerships with telecom companies to expand its subscriber base?</vt:lpstr>
      <vt:lpstr>5. What role can AI and machine learning play in personalizing the user experience and improving content discovery?</vt:lpstr>
      <vt:lpstr>5. What role can AI and machine learning play in personalizing the user experience and improving content discovery?</vt:lpstr>
      <vt:lpstr>6. Who should be the brand ambassador for the newly merged OTT platform (LioCinema-Jotstar) to effectively represent its identity and attract a diverse audience?</vt:lpstr>
      <vt:lpstr> Strategic Recommendations for Lio-Jotstar Merger</vt:lpstr>
      <vt:lpstr> Strategic Recommendations for Lio-Jotstar Merger</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Smit Hareshkumar Rana</dc:creator>
  <cp:lastModifiedBy>Smit Hareshkumar Rana</cp:lastModifiedBy>
  <cp:revision>153</cp:revision>
  <dcterms:created xsi:type="dcterms:W3CDTF">2024-12-24T16:34:24Z</dcterms:created>
  <dcterms:modified xsi:type="dcterms:W3CDTF">2025-03-31T06:00:37Z</dcterms:modified>
</cp:coreProperties>
</file>